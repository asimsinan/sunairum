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家好。今天我想和你聊一个关于城市的题目，叫主动再生。这个词来自一篇文章，说的是香港那场震动两岸三地的高层火灾之后，老旧的超高层建筑该何去何从。我们会从一场火出发，看看悉尼的范本，巡览一圈全球的功能再造案例，最后落到我们自己生活的中国城市。</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场分享分为四个部分。第一部分是警钟，从香港火灾说起，看高层老龄化背后的系统性风险。第二部分是范本，看悉尼那座被誉为"再生革命"的摩天大楼。第三部分是巡览，走一圈深圳、上海、纽约的功能再造案例。第四部分回到中国，谈一谈老旧高层住宅这块真正的硬骨头。</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二零二五年十一月二十六日，香港大埔宏福苑发生大火。起火的七栋大楼都超过三十层，将近一百米高，楼龄已经达到四十二年。这场火不仅震动了香港本地，对正在做城市更新的内地城市同样是一记警钟。央广网的数据更让人心惊：仅二零二五年前八个月，全国高层建筑火灾就达到三万六千起，已经超过了二零二三年全年的总量。而地面消防救援的高度通常只能到五十到八十米，再往上就只能靠建筑自身的消防设施。</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视线拉远一点，你会发现这其实是一场结构性的老去。当年象征城市化繁荣的高层住宅楼，建成十余年甚至更久之后，结构、消防、电梯、外墙的风险开始密集显现。维修的负担也变得越来越沉重。一个明显的信号是：现在愿意住高层的人，正在变少。"高层住宅是未来的贫民窟"这个说法，在西方一些发达国家已经变成了真实的经验教训。</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经典的前车之鉴，是美国的普鲁特·艾格住宅区。这是个由三十三栋高层组成的样板社区，建成的时候还拿过建筑奖项。但随着公共空间长期失养、设施年久失修，富裕的居民陆续迁出，社区逐渐变成中低收入和外来人口的聚居地，犯罪率持续走高。一九七二年，这三十三栋高层全部被爆破拆除。从样板到爆破，只用了十八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那么问题来了，老旧的高层，难道只有"被爆破"这一条路吗？这正是第二部分要回答的。让我们把视线投向悉尼的那座摩天大楼，它给出的答案叫做"主动再生"。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这就是 Quay Quarter Tower，前身是建于一九七六年的 AMP 中心。原本它面临的是被淘汰的命运，但开发者启动了一个叫做"升级再造"的计划，让它成为世界上第一座全面升级改造的摩天大楼。改造的核心原则只有八个字：最大化保留、高质量升级。最终保留了百分之六十五的主体结构、百分之九十五的核心筒。设计公司 3XN 说得很直接：二十世纪中后期建造的那批摩天楼，正在逐渐到达设计寿命的终点，我们必须延长它们的寿命，释放潜在价值，这才是建筑可持续性最根本的定义。</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这场再生的真正分量在哪里？三个数字。建筑垃圾减少百分之八十，碳排放比推倒重建降低百分之四十，能源消耗下降超过百分之三十。正因为这三组数据，二零二五年十月，它入围了由英国威廉王子发起的"为地球奋斗奖"决赛，成为有史以来第一座获得该奖项提名的建筑。这告诉我们：老旧的超高层并不是包袱，通过科学改造完全可以重获新生，甚至成为新的城市地标。</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把视线拉回国内。这是深圳妇儿大厦，原建筑始建于一九九四年，由 MVRDV 主导改造。最有意思的设计是给它套了一件"彩色网格外衣"——立面增加了将近一米的进深，既起到遮阳作用，内侧又设置了可打开的面板，有效促进自然通风，明显降低了对空调的依赖。改造后的大厦集酒店、餐饮、儿童探索馆、图画书博物馆、婴幼儿托育馆、妇儿剧场为一体，是"适应性再利用"模式在城市更新领域的典范之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是上海。南京东路二零一号大楼，建于一九八八年，原是华东电力大楼，高一百二十六米，是新中国成立后南京路上的第一栋高层。它的故事跨越了三十五年：一九八八年建成；二零一八年和隔壁一八一号一起被改扩建为艾迪逊酒店；二零二三年又完成了节能改造，成为全国首家城市更新领域实现碳中和的酒店。改造引入了高性能外窗、空气源热泵热回收、节能电梯、节水器具等一整套绿色系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第三个案例跳到纽约。这是 One Wall Street，曼哈顿金融区一座装饰艺术风格的摩天楼，一九三一年由著名建筑师 Ralph Walker 设计，五十层。如今它从办公楼变成了五百六十六套公寓，户型涵盖单间到四居室。我们巡览这一圈不难发现：成功改造的高层，绝大多数是办公或商业建筑改作其他用途。原因很现实——这类建筑的结构和强度都优于住宅，灵活性更高，便于引进新业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这就引出我们要面对的真正难题。资金雄厚、产权清晰的商业项目相对好办；老旧的高层住宅改造，才是真正的硬骨头。第四部分，回到我们自己。</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国内已经有一些值得关注的尝试。第一个是北京天通苑的"办公环橙"，把高层住宅改造成办公楼，希望解决天通苑长期以来的"职住分离"。改造时对原有的梁柱进行了局部加固，把住宅户型拓展为办公户型，以满足中小企业的需求。第二个是杭州的浙工新村，这是国内首个真正实现"原拆原建"的老旧小区。拆除原有十三幢，新建了七幢十一层小高层。重建总费用约五点三亿，居民自筹了四点七亿，每户出资在十万到一百万之间。</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但是要把"原拆原建"复制到普通高层住宅项目里，注定极其复杂。原因很朴素——高层小区户数更多，全体业主达成共识的难度极大。"让每家掏钱"这件事，把不少改造项目卡在了停滞状态。学者提出，可能的出路在于治理模式的创新——比如给高层住宅设立"养老金"，比如借鉴国外经验建立类似"居委会"的组织，让居民对高层住宅进行自我管理，从微更新做起。技术方案当然重要，但解锁困局的密码，可能就藏在治理之中。</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留一个相对乐观的尾声。今年我国正在大力推行"先体检、后更新"的城市更新理念。截至二零二五年十一月，全国已经有二百九十七个地级以上城市和一百五十多个县级市启动了城市体检，重点检验住宅结构安全隐患、违规建筑和承重墙拆改等问题。从体检到设计，从协调到再生，超高层建筑的未来，在于精耕细作式的改造。从追求高度，到沉淀厚度——这正是城市发展回归理性、追求高质量的缩影。谢谢大家。</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e74a7f88e21d56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b0f0ac1d774e531.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44dfec58cd6640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1d6631f477688b1.png"/>
  <Relationship Id="rId3" Type="http://schemas.openxmlformats.org/officeDocument/2006/relationships/image" Target="../media/image_a3bf5e8b40d8bf7b.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afa58ae12291aad.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f26147e0f795b45.png"/>
  <Relationship Id="rId3" Type="http://schemas.openxmlformats.org/officeDocument/2006/relationships/image" Target="../media/image_08039c439f15e622.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5b6cc81bdf398ae.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ad6b3fe86cb3d3c.png"/>
  <Relationship Id="rId3" Type="http://schemas.openxmlformats.org/officeDocument/2006/relationships/image" Target="../media/image_c11e7335611aa2e1.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959ae42e51dfb2a.png"/>
  <Relationship Id="rId3" Type="http://schemas.openxmlformats.org/officeDocument/2006/relationships/image" Target="../media/image_9b3ee2033f314f27.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9adcc169e5d54f7.png"/>
  <Relationship Id="rId3" Type="http://schemas.openxmlformats.org/officeDocument/2006/relationships/image" Target="../media/image_fe30aee521cb58df.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074cbcdee569d3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8d47ed6febb0dc6.png"/>
  <Relationship Id="rId3" Type="http://schemas.openxmlformats.org/officeDocument/2006/relationships/image" Target="../media/image_0e90d9f640dcd2c9.png"/>
  <Relationship Id="rId4" Type="http://schemas.openxmlformats.org/officeDocument/2006/relationships/image" Target="../media/image_8464b316f2bce68e.png"/>
  <Relationship Id="rId5"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cc4cc8c21a4a9b5.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db1c63268321905.png"/>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A2530"/>
            </a:solidFill>
            <a:ln>
              <a:noFill/>
            </a:ln>
          </p:spPr>
        </p:sp>
        <p:pic>
          <p:nvPicPr>
            <p:cNvPr id="3" name="Image 3"/>
            <p:cNvPicPr>
              <a:picLocks noChangeAspect="1"/>
            </p:cNvPicPr>
            <p:nvPr/>
          </p:nvPicPr>
          <p:blipFill>
            <a:blip r:embed="rId2"/>
            <a:srcRect l="0" t="32801" r="0" b="32801"/>
            <a:stretch>
              <a:fillRect/>
            </a:stretch>
          </p:blipFill>
          <p:spPr>
            <a:xfrm>
              <a:off x="0" y="0"/>
              <a:ext cx="12192000" cy="6858000"/>
            </a:xfrm>
            <a:prstGeom prst="rect">
              <a:avLst/>
            </a:prstGeom>
          </p:spPr>
        </p:pic>
        <p:sp>
          <p:nvSpPr>
            <p:cNvPr id="4" name="Rectangle 4"/>
            <p:cNvSpPr/>
            <p:nvPr/>
          </p:nvSpPr>
          <p:spPr>
            <a:xfrm>
              <a:off x="0" y="0"/>
              <a:ext cx="6096000" cy="6858000"/>
            </a:xfrm>
            <a:prstGeom prst="rect">
              <a:avLst/>
            </a:prstGeom>
            <a:gradFill>
              <a:gsLst>
                <a:gs pos="0">
                  <a:srgbClr val="1A2530">
                    <a:alpha val="85000"/>
                  </a:srgbClr>
                </a:gs>
                <a:gs pos="100000">
                  <a:srgbClr val="1A2530">
                    <a:alpha val="0"/>
                  </a:srgbClr>
                </a:gs>
              </a:gsLst>
              <a:lin ang="0" scaled="1"/>
            </a:gradFill>
            <a:ln>
              <a:noFill/>
            </a:ln>
          </p:spPr>
        </p:sp>
        <p:sp>
          <p:nvSpPr>
            <p:cNvPr id="5" name="Rectangle 5"/>
            <p:cNvSpPr/>
            <p:nvPr/>
          </p:nvSpPr>
          <p:spPr>
            <a:xfrm>
              <a:off x="0" y="0"/>
              <a:ext cx="12192000" cy="6858000"/>
            </a:xfrm>
            <a:prstGeom prst="rect">
              <a:avLst/>
            </a:prstGeom>
            <a:gradFill>
              <a:gsLst>
                <a:gs pos="0">
                  <a:srgbClr val="1A2530">
                    <a:alpha val="20000"/>
                  </a:srgbClr>
                </a:gs>
                <a:gs pos="55000">
                  <a:srgbClr val="1A2530">
                    <a:alpha val="55000"/>
                  </a:srgbClr>
                </a:gs>
                <a:gs pos="100000">
                  <a:srgbClr val="1A2530">
                    <a:alpha val="92000"/>
                  </a:srgbClr>
                </a:gs>
              </a:gsLst>
              <a:lin ang="5400000" scaled="1"/>
            </a:gradFill>
            <a:ln>
              <a:noFill/>
            </a:ln>
          </p:spPr>
        </p:sp>
      </p:grpSp>
      <p:grpSp>
        <p:nvGrpSpPr>
          <p:cNvPr id="9" name="Group 9"/>
          <p:cNvGrpSpPr/>
          <p:nvPr/>
        </p:nvGrpSpPr>
        <p:grpSpPr>
          <a:xfrm>
            <a:off x="762000" y="762000"/>
            <a:ext cx="2404362" cy="214312"/>
            <a:chOff x="762000" y="762000"/>
            <a:chExt cx="2404362" cy="214312"/>
          </a:xfrm>
        </p:grpSpPr>
        <p:sp>
          <p:nvSpPr>
            <p:cNvPr id="7" name="Rectangle 7"/>
            <p:cNvSpPr/>
            <p:nvPr/>
          </p:nvSpPr>
          <p:spPr>
            <a:xfrm>
              <a:off x="762000" y="762000"/>
              <a:ext cx="457200" cy="28575"/>
            </a:xfrm>
            <a:prstGeom prst="rect">
              <a:avLst/>
            </a:prstGeom>
            <a:solidFill>
              <a:srgbClr val="C2410C"/>
            </a:solidFill>
            <a:ln>
              <a:noFill/>
            </a:ln>
          </p:spPr>
        </p:sp>
        <p:sp>
          <p:nvSpPr>
            <p:cNvPr id="8" name="TextBox 8"/>
            <p:cNvSpPr txBox="1"/>
            <p:nvPr/>
          </p:nvSpPr>
          <p:spPr>
            <a:xfrm>
              <a:off x="1320165" y="762952"/>
              <a:ext cx="1846197" cy="213360"/>
            </a:xfrm>
            <a:prstGeom prst="rect">
              <a:avLst/>
            </a:prstGeom>
            <a:noFill/>
            <a:ln>
              <a:noFill/>
            </a:ln>
          </p:spPr>
          <p:txBody>
            <a:bodyPr wrap="none" lIns="0" tIns="0" rIns="0" bIns="0" anchor="t" anchorCtr="0">
              <a:spAutoFit/>
            </a:bodyPr>
            <a:lstStyle/>
            <a:p>
              <a:pPr algn="l"/>
              <a:r>
                <a:rPr lang="zh-CN" sz="1050" b="1" dirty="0">
                  <a:solidFill>
                    <a:srgbClr val="F5F2EC"/>
                  </a:solidFill>
                  <a:latin typeface="Georgia"/>
                  <a:ea typeface="KaiTi"/>
                  <a:cs typeface="Georgia"/>
                </a:rPr>
                <a:t>URBAN · RENEWAL · 2026</a:t>
              </a:r>
            </a:p>
          </p:txBody>
        </p:sp>
      </p:grpSp>
      <p:grpSp>
        <p:nvGrpSpPr>
          <p:cNvPr id="12" name="Group 12"/>
          <p:cNvGrpSpPr/>
          <p:nvPr/>
        </p:nvGrpSpPr>
        <p:grpSpPr>
          <a:xfrm>
            <a:off x="681990" y="3415665"/>
            <a:ext cx="4024503" cy="1456373"/>
            <a:chOff x="681990" y="3415665"/>
            <a:chExt cx="4024503" cy="1456373"/>
          </a:xfrm>
        </p:grpSpPr>
        <p:sp>
          <p:nvSpPr>
            <p:cNvPr id="10" name="TextBox 10"/>
            <p:cNvSpPr txBox="1"/>
            <p:nvPr/>
          </p:nvSpPr>
          <p:spPr>
            <a:xfrm>
              <a:off x="681990" y="3415665"/>
              <a:ext cx="4024503" cy="1280160"/>
            </a:xfrm>
            <a:prstGeom prst="rect">
              <a:avLst/>
            </a:prstGeom>
            <a:noFill/>
            <a:ln>
              <a:noFill/>
            </a:ln>
          </p:spPr>
          <p:txBody>
            <a:bodyPr wrap="none" lIns="0" tIns="0" rIns="0" bIns="0" anchor="t" anchorCtr="0">
              <a:spAutoFit/>
            </a:bodyPr>
            <a:lstStyle/>
            <a:p>
              <a:pPr algn="l"/>
              <a:r>
                <a:rPr lang="zh-CN" sz="6300" b="1" dirty="0">
                  <a:solidFill>
                    <a:srgbClr val="F5F2EC"/>
                  </a:solidFill>
                  <a:latin typeface="Georgia"/>
                  <a:ea typeface="KaiTi"/>
                  <a:cs typeface="Georgia"/>
                </a:rPr>
                <a:t>主动再生</a:t>
              </a:r>
            </a:p>
          </p:txBody>
        </p:sp>
        <p:sp>
          <p:nvSpPr>
            <p:cNvPr id="11" name="TextBox 11"/>
            <p:cNvSpPr txBox="1"/>
            <p:nvPr/>
          </p:nvSpPr>
          <p:spPr>
            <a:xfrm>
              <a:off x="741045" y="4536758"/>
              <a:ext cx="2427637" cy="335280"/>
            </a:xfrm>
            <a:prstGeom prst="rect">
              <a:avLst/>
            </a:prstGeom>
            <a:noFill/>
            <a:ln>
              <a:noFill/>
            </a:ln>
          </p:spPr>
          <p:txBody>
            <a:bodyPr wrap="none" lIns="0" tIns="0" rIns="0" bIns="0" anchor="t" anchorCtr="0">
              <a:spAutoFit/>
            </a:bodyPr>
            <a:lstStyle/>
            <a:p>
              <a:pPr algn="l"/>
              <a:r>
                <a:rPr lang="zh-CN" sz="1650" dirty="0">
                  <a:solidFill>
                    <a:srgbClr val="D6CFC0"/>
                  </a:solidFill>
                  <a:latin typeface="Georgia"/>
                  <a:ea typeface="KaiTi"/>
                  <a:cs typeface="Georgia"/>
                </a:rPr>
                <a:t>ACTIVE REGENERATION</a:t>
              </a:r>
            </a:p>
          </p:txBody>
        </p:sp>
      </p:grpSp>
      <p:grpSp>
        <p:nvGrpSpPr>
          <p:cNvPr id="16" name="Group 16"/>
          <p:cNvGrpSpPr/>
          <p:nvPr/>
        </p:nvGrpSpPr>
        <p:grpSpPr>
          <a:xfrm>
            <a:off x="731520" y="5143500"/>
            <a:ext cx="5318760" cy="857250"/>
            <a:chOff x="731520" y="5143500"/>
            <a:chExt cx="5318760" cy="857250"/>
          </a:xfrm>
        </p:grpSpPr>
        <p:sp>
          <p:nvSpPr>
            <p:cNvPr id="13" name="Line 13"/>
            <p:cNvSpPr/>
            <p:nvPr/>
          </p:nvSpPr>
          <p:spPr>
            <a:xfrm>
              <a:off x="762000" y="5143500"/>
              <a:ext cx="952500" cy="9525"/>
            </a:xfrm>
            <a:custGeom>
              <a:avLst/>
              <a:gdLst/>
              <a:ahLst/>
              <a:cxnLst/>
              <a:rect l="l" t="t" r="r" b="b"/>
              <a:pathLst>
                <a:path w="952500" h="9525">
                  <a:moveTo>
                    <a:pt x="0" y="0"/>
                  </a:moveTo>
                  <a:lnTo>
                    <a:pt x="952500" y="0"/>
                  </a:lnTo>
                </a:path>
              </a:pathLst>
            </a:custGeom>
            <a:noFill/>
            <a:ln w="19050">
              <a:solidFill>
                <a:srgbClr val="C2410C"/>
              </a:solidFill>
            </a:ln>
          </p:spPr>
        </p:sp>
        <p:sp>
          <p:nvSpPr>
            <p:cNvPr id="14" name="TextBox 14"/>
            <p:cNvSpPr txBox="1"/>
            <p:nvPr/>
          </p:nvSpPr>
          <p:spPr>
            <a:xfrm>
              <a:off x="731520" y="5313045"/>
              <a:ext cx="5318760" cy="487680"/>
            </a:xfrm>
            <a:prstGeom prst="rect">
              <a:avLst/>
            </a:prstGeom>
            <a:noFill/>
            <a:ln>
              <a:noFill/>
            </a:ln>
          </p:spPr>
          <p:txBody>
            <a:bodyPr wrap="none" lIns="0" tIns="0" rIns="0" bIns="0" anchor="t" anchorCtr="0">
              <a:spAutoFit/>
            </a:bodyPr>
            <a:lstStyle/>
            <a:p>
              <a:pPr algn="l"/>
              <a:r>
                <a:rPr lang="zh-CN" sz="2400" dirty="0">
                  <a:solidFill>
                    <a:srgbClr val="F5F2EC"/>
                  </a:solidFill>
                  <a:latin typeface="Georgia"/>
                  <a:ea typeface="KaiTi"/>
                  <a:cs typeface="Georgia"/>
                </a:rPr>
                <a:t>香港火灾之后，老旧高层何去何从</a:t>
              </a:r>
            </a:p>
          </p:txBody>
        </p:sp>
        <p:sp>
          <p:nvSpPr>
            <p:cNvPr id="15" name="TextBox 15"/>
            <p:cNvSpPr txBox="1"/>
            <p:nvPr/>
          </p:nvSpPr>
          <p:spPr>
            <a:xfrm>
              <a:off x="746760" y="5756910"/>
              <a:ext cx="4631055" cy="243840"/>
            </a:xfrm>
            <a:prstGeom prst="rect">
              <a:avLst/>
            </a:prstGeom>
            <a:noFill/>
            <a:ln>
              <a:noFill/>
            </a:ln>
          </p:spPr>
          <p:txBody>
            <a:bodyPr wrap="none" lIns="0" tIns="0" rIns="0" bIns="0" anchor="t" anchorCtr="0">
              <a:spAutoFit/>
            </a:bodyPr>
            <a:lstStyle/>
            <a:p>
              <a:pPr algn="l"/>
              <a:r>
                <a:rPr lang="zh-CN" sz="1200" dirty="0">
                  <a:solidFill>
                    <a:srgbClr val="A8B0B8"/>
                  </a:solidFill>
                  <a:latin typeface="Arial"/>
                  <a:ea typeface="Microsoft YaHei"/>
                  <a:cs typeface="Arial"/>
                </a:rPr>
                <a:t>从悉尼范本到中国困局 — 一份关于"超高层第二人生"的观察</a:t>
              </a:r>
            </a:p>
          </p:txBody>
        </p:sp>
      </p:grpSp>
      <p:grpSp>
        <p:nvGrpSpPr>
          <p:cNvPr id="20" name="Group 20"/>
          <p:cNvGrpSpPr/>
          <p:nvPr/>
        </p:nvGrpSpPr>
        <p:grpSpPr>
          <a:xfrm>
            <a:off x="749618" y="6381750"/>
            <a:ext cx="10692764" cy="330994"/>
            <a:chOff x="749618" y="6381750"/>
            <a:chExt cx="10692764" cy="330994"/>
          </a:xfrm>
        </p:grpSpPr>
        <p:sp>
          <p:nvSpPr>
            <p:cNvPr id="17" name="Line 17"/>
            <p:cNvSpPr/>
            <p:nvPr/>
          </p:nvSpPr>
          <p:spPr>
            <a:xfrm>
              <a:off x="762000" y="6381750"/>
              <a:ext cx="10668000" cy="9525"/>
            </a:xfrm>
            <a:custGeom>
              <a:avLst/>
              <a:gdLst/>
              <a:ahLst/>
              <a:cxnLst/>
              <a:rect l="l" t="t" r="r" b="b"/>
              <a:pathLst>
                <a:path w="10668000" h="9525">
                  <a:moveTo>
                    <a:pt x="0" y="0"/>
                  </a:moveTo>
                  <a:lnTo>
                    <a:pt x="10668000" y="0"/>
                  </a:lnTo>
                </a:path>
              </a:pathLst>
            </a:custGeom>
            <a:noFill/>
            <a:ln w="9525">
              <a:solidFill>
                <a:srgbClr val="5A6B7A">
                  <a:alpha val="50000"/>
                </a:srgbClr>
              </a:solidFill>
            </a:ln>
          </p:spPr>
        </p:sp>
        <p:sp>
          <p:nvSpPr>
            <p:cNvPr id="18" name="TextBox 18"/>
            <p:cNvSpPr txBox="1"/>
            <p:nvPr/>
          </p:nvSpPr>
          <p:spPr>
            <a:xfrm>
              <a:off x="749618" y="6514624"/>
              <a:ext cx="2730341" cy="198120"/>
            </a:xfrm>
            <a:prstGeom prst="rect">
              <a:avLst/>
            </a:prstGeom>
            <a:noFill/>
            <a:ln>
              <a:noFill/>
            </a:ln>
          </p:spPr>
          <p:txBody>
            <a:bodyPr wrap="none" lIns="0" tIns="0" rIns="0" bIns="0" anchor="t" anchorCtr="0">
              <a:spAutoFit/>
            </a:bodyPr>
            <a:lstStyle/>
            <a:p>
              <a:pPr algn="l"/>
              <a:r>
                <a:rPr lang="zh-CN" sz="975" dirty="0">
                  <a:solidFill>
                    <a:srgbClr val="A8B0B8"/>
                  </a:solidFill>
                  <a:latin typeface="Arial"/>
                  <a:ea typeface="Microsoft YaHei"/>
                  <a:cs typeface="Arial"/>
                </a:rPr>
                <a:t>基于公众号《孙琬童》原文整编 · 2026.05</a:t>
              </a:r>
            </a:p>
          </p:txBody>
        </p:sp>
        <p:sp>
          <p:nvSpPr>
            <p:cNvPr id="19" name="TextBox 19"/>
            <p:cNvSpPr txBox="1"/>
            <p:nvPr/>
          </p:nvSpPr>
          <p:spPr>
            <a:xfrm>
              <a:off x="11011781" y="6514624"/>
              <a:ext cx="430601" cy="198120"/>
            </a:xfrm>
            <a:prstGeom prst="rect">
              <a:avLst/>
            </a:prstGeom>
            <a:noFill/>
            <a:ln>
              <a:noFill/>
            </a:ln>
          </p:spPr>
          <p:txBody>
            <a:bodyPr wrap="none" lIns="0" tIns="0" rIns="0" bIns="0" anchor="t" anchorCtr="0">
              <a:spAutoFit/>
            </a:bodyPr>
            <a:lstStyle/>
            <a:p>
              <a:pPr algn="r"/>
              <a:r>
                <a:rPr lang="zh-CN" sz="975" dirty="0">
                  <a:solidFill>
                    <a:srgbClr val="A8B0B8"/>
                  </a:solidFill>
                  <a:latin typeface="Georgia"/>
                  <a:ea typeface="SimSun"/>
                  <a:cs typeface="Georgia"/>
                </a:rPr>
                <a:t>01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400"/>
                                        <p:tgtEl>
                                          <p:spTgt spid="12"/>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heckerboard(across)">
                                      <p:cBhvr>
                                        <p:cTn id="1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7" name="Group 7"/>
          <p:cNvGrpSpPr/>
          <p:nvPr/>
        </p:nvGrpSpPr>
        <p:grpSpPr>
          <a:xfrm>
            <a:off x="762000" y="647700"/>
            <a:ext cx="10680382" cy="626269"/>
            <a:chOff x="762000" y="647700"/>
            <a:chExt cx="10680382" cy="626269"/>
          </a:xfrm>
        </p:grpSpPr>
        <p:sp>
          <p:nvSpPr>
            <p:cNvPr id="3" name="Rectangle 3"/>
            <p:cNvSpPr/>
            <p:nvPr/>
          </p:nvSpPr>
          <p:spPr>
            <a:xfrm>
              <a:off x="762000" y="647700"/>
              <a:ext cx="38100" cy="609600"/>
            </a:xfrm>
            <a:prstGeom prst="rect">
              <a:avLst/>
            </a:prstGeom>
            <a:solidFill>
              <a:srgbClr val="C2410C"/>
            </a:solidFill>
            <a:ln>
              <a:noFill/>
            </a:ln>
          </p:spPr>
        </p:sp>
        <p:sp>
          <p:nvSpPr>
            <p:cNvPr id="4" name="TextBox 4"/>
            <p:cNvSpPr txBox="1"/>
            <p:nvPr/>
          </p:nvSpPr>
          <p:spPr>
            <a:xfrm>
              <a:off x="956310" y="661035"/>
              <a:ext cx="1724787"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本次议程</a:t>
              </a:r>
            </a:p>
          </p:txBody>
        </p:sp>
        <p:sp>
          <p:nvSpPr>
            <p:cNvPr id="5" name="TextBox 5"/>
            <p:cNvSpPr txBox="1"/>
            <p:nvPr/>
          </p:nvSpPr>
          <p:spPr>
            <a:xfrm>
              <a:off x="978218" y="1075849"/>
              <a:ext cx="3104850"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FOUR PARTS · FROM A FIRE TO A FRAMEWORK</a:t>
              </a:r>
            </a:p>
          </p:txBody>
        </p:sp>
        <p:sp>
          <p:nvSpPr>
            <p:cNvPr id="6" name="TextBox 6"/>
            <p:cNvSpPr txBox="1"/>
            <p:nvPr/>
          </p:nvSpPr>
          <p:spPr>
            <a:xfrm>
              <a:off x="10762583" y="847249"/>
              <a:ext cx="679799"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CONTENTS</a:t>
              </a:r>
            </a:p>
          </p:txBody>
        </p:sp>
      </p:grpSp>
      <p:sp>
        <p:nvSpPr>
          <p:cNvPr id="8" name="Line 8"/>
          <p:cNvSpPr/>
          <p:nvPr/>
        </p:nvSpPr>
        <p:spPr>
          <a:xfrm>
            <a:off x="762000" y="1504950"/>
            <a:ext cx="10668000" cy="9525"/>
          </a:xfrm>
          <a:custGeom>
            <a:avLst/>
            <a:gdLst/>
            <a:ahLst/>
            <a:cxnLst/>
            <a:rect l="l" t="t" r="r" b="b"/>
            <a:pathLst>
              <a:path w="10668000" h="9525">
                <a:moveTo>
                  <a:pt x="0" y="0"/>
                </a:moveTo>
                <a:lnTo>
                  <a:pt x="10668000" y="0"/>
                </a:lnTo>
              </a:path>
            </a:pathLst>
          </a:custGeom>
          <a:noFill/>
          <a:ln w="14288">
            <a:solidFill>
              <a:srgbClr val="D6CFC0"/>
            </a:solidFill>
          </a:ln>
        </p:spPr>
      </p:sp>
      <p:sp>
        <p:nvSpPr>
          <p:cNvPr id="9" name="Line 9"/>
          <p:cNvSpPr/>
          <p:nvPr/>
        </p:nvSpPr>
        <p:spPr>
          <a:xfrm>
            <a:off x="1524000" y="2095500"/>
            <a:ext cx="9525" cy="4000500"/>
          </a:xfrm>
          <a:custGeom>
            <a:avLst/>
            <a:gdLst/>
            <a:ahLst/>
            <a:cxnLst/>
            <a:rect l="l" t="t" r="r" b="b"/>
            <a:pathLst>
              <a:path w="9525" h="4000500">
                <a:moveTo>
                  <a:pt x="0" y="0"/>
                </a:moveTo>
                <a:lnTo>
                  <a:pt x="0" y="4000500"/>
                </a:lnTo>
              </a:path>
            </a:pathLst>
          </a:custGeom>
          <a:noFill/>
          <a:ln w="28575" cap="rnd">
            <a:gradFill>
              <a:gsLst>
                <a:gs pos="0">
                  <a:srgbClr val="C2410C"/>
                </a:gs>
                <a:gs pos="50000">
                  <a:srgbClr val="8B7355"/>
                </a:gs>
                <a:gs pos="100000">
                  <a:srgbClr val="6B7A4F"/>
                </a:gs>
              </a:gsLst>
              <a:lin ang="5400000" scaled="1"/>
            </a:gradFill>
          </a:ln>
        </p:spPr>
      </p:sp>
      <p:grpSp>
        <p:nvGrpSpPr>
          <p:cNvPr id="17" name="Group 17"/>
          <p:cNvGrpSpPr/>
          <p:nvPr/>
        </p:nvGrpSpPr>
        <p:grpSpPr>
          <a:xfrm>
            <a:off x="1276350" y="1999298"/>
            <a:ext cx="9963150" cy="596264"/>
            <a:chOff x="1276350" y="1999298"/>
            <a:chExt cx="9963150" cy="596264"/>
          </a:xfrm>
        </p:grpSpPr>
        <p:sp>
          <p:nvSpPr>
            <p:cNvPr id="10" name="Ellipse 10"/>
            <p:cNvSpPr/>
            <p:nvPr/>
          </p:nvSpPr>
          <p:spPr>
            <a:xfrm>
              <a:off x="1276350" y="2000250"/>
              <a:ext cx="495300" cy="495300"/>
            </a:xfrm>
            <a:prstGeom prst="ellipse">
              <a:avLst/>
            </a:prstGeom>
            <a:solidFill>
              <a:srgbClr val="F5F2EC"/>
            </a:solidFill>
            <a:ln w="28575">
              <a:solidFill>
                <a:srgbClr val="C2410C"/>
              </a:solidFill>
            </a:ln>
          </p:spPr>
        </p:sp>
        <p:sp>
          <p:nvSpPr>
            <p:cNvPr id="11" name="TextBox 11"/>
            <p:cNvSpPr txBox="1"/>
            <p:nvPr/>
          </p:nvSpPr>
          <p:spPr>
            <a:xfrm>
              <a:off x="1481157" y="2194560"/>
              <a:ext cx="85687" cy="243840"/>
            </a:xfrm>
            <a:prstGeom prst="rect">
              <a:avLst/>
            </a:prstGeom>
            <a:noFill/>
            <a:ln>
              <a:noFill/>
            </a:ln>
          </p:spPr>
          <p:txBody>
            <a:bodyPr wrap="none" lIns="0" tIns="0" rIns="0" bIns="0" anchor="t" anchorCtr="0">
              <a:spAutoFit/>
            </a:bodyPr>
            <a:lstStyle/>
            <a:p>
              <a:pPr algn="ctr"/>
              <a:r>
                <a:rPr lang="zh-CN" sz="1200" b="1" dirty="0">
                  <a:solidFill>
                    <a:srgbClr val="C2410C"/>
                  </a:solidFill>
                  <a:latin typeface="Georgia"/>
                  <a:ea typeface="SimSun"/>
                  <a:cs typeface="Georgia"/>
                </a:rPr>
                <a:t>I</a:t>
              </a:r>
            </a:p>
          </p:txBody>
        </p:sp>
        <p:sp>
          <p:nvSpPr>
            <p:cNvPr id="12" name="TextBox 12"/>
            <p:cNvSpPr txBox="1"/>
            <p:nvPr/>
          </p:nvSpPr>
          <p:spPr>
            <a:xfrm>
              <a:off x="2070735" y="1999298"/>
              <a:ext cx="647605" cy="396240"/>
            </a:xfrm>
            <a:prstGeom prst="rect">
              <a:avLst/>
            </a:prstGeom>
            <a:noFill/>
            <a:ln>
              <a:noFill/>
            </a:ln>
          </p:spPr>
          <p:txBody>
            <a:bodyPr wrap="none" lIns="0" tIns="0" rIns="0" bIns="0" anchor="t" anchorCtr="0">
              <a:spAutoFit/>
            </a:bodyPr>
            <a:lstStyle/>
            <a:p>
              <a:pPr algn="l"/>
              <a:r>
                <a:rPr lang="zh-CN" sz="1950" b="1" dirty="0">
                  <a:solidFill>
                    <a:srgbClr val="2B3A4A"/>
                  </a:solidFill>
                  <a:latin typeface="Georgia"/>
                  <a:ea typeface="KaiTi"/>
                  <a:cs typeface="Georgia"/>
                </a:rPr>
                <a:t>警钟</a:t>
              </a:r>
            </a:p>
          </p:txBody>
        </p:sp>
        <p:sp>
          <p:nvSpPr>
            <p:cNvPr id="13" name="TextBox 13"/>
            <p:cNvSpPr txBox="1"/>
            <p:nvPr/>
          </p:nvSpPr>
          <p:spPr>
            <a:xfrm>
              <a:off x="2741295" y="2031682"/>
              <a:ext cx="2451735" cy="335280"/>
            </a:xfrm>
            <a:prstGeom prst="rect">
              <a:avLst/>
            </a:prstGeom>
            <a:noFill/>
            <a:ln>
              <a:noFill/>
            </a:ln>
          </p:spPr>
          <p:txBody>
            <a:bodyPr wrap="none" lIns="0" tIns="0" rIns="0" bIns="0" anchor="t" anchorCtr="0">
              <a:spAutoFit/>
            </a:bodyPr>
            <a:lstStyle/>
            <a:p>
              <a:pPr algn="l"/>
              <a:r>
                <a:rPr lang="zh-CN" sz="1650" dirty="0">
                  <a:solidFill>
                    <a:srgbClr val="2B3A4A"/>
                  </a:solidFill>
                  <a:latin typeface="Arial"/>
                  <a:ea typeface="Microsoft YaHei"/>
                  <a:cs typeface="Arial"/>
                </a:rPr>
                <a:t>高层老龄化与消防困局</a:t>
              </a:r>
            </a:p>
          </p:txBody>
        </p:sp>
        <p:sp>
          <p:nvSpPr>
            <p:cNvPr id="14" name="TextBox 14"/>
            <p:cNvSpPr txBox="1"/>
            <p:nvPr/>
          </p:nvSpPr>
          <p:spPr>
            <a:xfrm>
              <a:off x="2082165" y="2382202"/>
              <a:ext cx="4013835"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从香港宏福苑火灾切入，看高层建筑老化背后的系统性风险</a:t>
              </a:r>
            </a:p>
          </p:txBody>
        </p:sp>
        <p:sp>
          <p:nvSpPr>
            <p:cNvPr id="15" name="Rectangle 15"/>
            <p:cNvSpPr/>
            <p:nvPr/>
          </p:nvSpPr>
          <p:spPr>
            <a:xfrm>
              <a:off x="10001250" y="2038350"/>
              <a:ext cx="1238250" cy="342900"/>
            </a:xfrm>
            <a:prstGeom prst="roundRect">
              <a:avLst>
                <a:gd name="adj" fmla="val 11111"/>
              </a:avLst>
            </a:prstGeom>
            <a:solidFill>
              <a:srgbClr val="FFFFFF"/>
            </a:solidFill>
            <a:ln w="9525">
              <a:solidFill>
                <a:srgbClr val="C2410C"/>
              </a:solidFill>
            </a:ln>
          </p:spPr>
        </p:sp>
        <p:sp>
          <p:nvSpPr>
            <p:cNvPr id="16" name="TextBox 16"/>
            <p:cNvSpPr txBox="1"/>
            <p:nvPr/>
          </p:nvSpPr>
          <p:spPr>
            <a:xfrm>
              <a:off x="10301857" y="2169795"/>
              <a:ext cx="637037" cy="182880"/>
            </a:xfrm>
            <a:prstGeom prst="rect">
              <a:avLst/>
            </a:prstGeom>
            <a:noFill/>
            <a:ln>
              <a:noFill/>
            </a:ln>
          </p:spPr>
          <p:txBody>
            <a:bodyPr wrap="none" lIns="0" tIns="0" rIns="0" bIns="0" anchor="t" anchorCtr="0">
              <a:spAutoFit/>
            </a:bodyPr>
            <a:lstStyle/>
            <a:p>
              <a:pPr algn="ctr"/>
              <a:r>
                <a:rPr lang="zh-CN" sz="900" b="1" dirty="0">
                  <a:solidFill>
                    <a:srgbClr val="C2410C"/>
                  </a:solidFill>
                  <a:latin typeface="Georgia"/>
                  <a:ea typeface="SimSun"/>
                  <a:cs typeface="Georgia"/>
                </a:rPr>
                <a:t>P03 — P05</a:t>
              </a:r>
            </a:p>
          </p:txBody>
        </p:sp>
      </p:grpSp>
      <p:grpSp>
        <p:nvGrpSpPr>
          <p:cNvPr id="25" name="Group 25"/>
          <p:cNvGrpSpPr/>
          <p:nvPr/>
        </p:nvGrpSpPr>
        <p:grpSpPr>
          <a:xfrm>
            <a:off x="1276350" y="2951798"/>
            <a:ext cx="9963150" cy="596264"/>
            <a:chOff x="1276350" y="2951798"/>
            <a:chExt cx="9963150" cy="596264"/>
          </a:xfrm>
        </p:grpSpPr>
        <p:sp>
          <p:nvSpPr>
            <p:cNvPr id="18" name="Ellipse 18"/>
            <p:cNvSpPr/>
            <p:nvPr/>
          </p:nvSpPr>
          <p:spPr>
            <a:xfrm>
              <a:off x="1276350" y="2952750"/>
              <a:ext cx="495300" cy="495300"/>
            </a:xfrm>
            <a:prstGeom prst="ellipse">
              <a:avLst/>
            </a:prstGeom>
            <a:solidFill>
              <a:srgbClr val="F5F2EC"/>
            </a:solidFill>
            <a:ln w="28575">
              <a:solidFill>
                <a:srgbClr val="8B7355"/>
              </a:solidFill>
            </a:ln>
          </p:spPr>
        </p:sp>
        <p:sp>
          <p:nvSpPr>
            <p:cNvPr id="19" name="TextBox 19"/>
            <p:cNvSpPr txBox="1"/>
            <p:nvPr/>
          </p:nvSpPr>
          <p:spPr>
            <a:xfrm>
              <a:off x="1453553" y="3147060"/>
              <a:ext cx="140894" cy="243840"/>
            </a:xfrm>
            <a:prstGeom prst="rect">
              <a:avLst/>
            </a:prstGeom>
            <a:noFill/>
            <a:ln>
              <a:noFill/>
            </a:ln>
          </p:spPr>
          <p:txBody>
            <a:bodyPr wrap="none" lIns="0" tIns="0" rIns="0" bIns="0" anchor="t" anchorCtr="0">
              <a:spAutoFit/>
            </a:bodyPr>
            <a:lstStyle/>
            <a:p>
              <a:pPr algn="ctr"/>
              <a:r>
                <a:rPr lang="zh-CN" sz="1200" b="1" dirty="0">
                  <a:solidFill>
                    <a:srgbClr val="8B7355"/>
                  </a:solidFill>
                  <a:latin typeface="Georgia"/>
                  <a:ea typeface="SimSun"/>
                  <a:cs typeface="Georgia"/>
                </a:rPr>
                <a:t>II</a:t>
              </a:r>
            </a:p>
          </p:txBody>
        </p:sp>
        <p:sp>
          <p:nvSpPr>
            <p:cNvPr id="20" name="TextBox 20"/>
            <p:cNvSpPr txBox="1"/>
            <p:nvPr/>
          </p:nvSpPr>
          <p:spPr>
            <a:xfrm>
              <a:off x="2070735" y="2951798"/>
              <a:ext cx="647605" cy="396240"/>
            </a:xfrm>
            <a:prstGeom prst="rect">
              <a:avLst/>
            </a:prstGeom>
            <a:noFill/>
            <a:ln>
              <a:noFill/>
            </a:ln>
          </p:spPr>
          <p:txBody>
            <a:bodyPr wrap="none" lIns="0" tIns="0" rIns="0" bIns="0" anchor="t" anchorCtr="0">
              <a:spAutoFit/>
            </a:bodyPr>
            <a:lstStyle/>
            <a:p>
              <a:pPr algn="l"/>
              <a:r>
                <a:rPr lang="zh-CN" sz="1950" b="1" dirty="0">
                  <a:solidFill>
                    <a:srgbClr val="2B3A4A"/>
                  </a:solidFill>
                  <a:latin typeface="Georgia"/>
                  <a:ea typeface="KaiTi"/>
                  <a:cs typeface="Georgia"/>
                </a:rPr>
                <a:t>范本</a:t>
              </a:r>
            </a:p>
          </p:txBody>
        </p:sp>
        <p:sp>
          <p:nvSpPr>
            <p:cNvPr id="21" name="TextBox 21"/>
            <p:cNvSpPr txBox="1"/>
            <p:nvPr/>
          </p:nvSpPr>
          <p:spPr>
            <a:xfrm>
              <a:off x="2741295" y="2984182"/>
              <a:ext cx="2716816" cy="335280"/>
            </a:xfrm>
            <a:prstGeom prst="rect">
              <a:avLst/>
            </a:prstGeom>
            <a:noFill/>
            <a:ln>
              <a:noFill/>
            </a:ln>
          </p:spPr>
          <p:txBody>
            <a:bodyPr wrap="none" lIns="0" tIns="0" rIns="0" bIns="0" anchor="t" anchorCtr="0">
              <a:spAutoFit/>
            </a:bodyPr>
            <a:lstStyle/>
            <a:p>
              <a:pPr algn="l"/>
              <a:r>
                <a:rPr lang="zh-CN" sz="1650" dirty="0">
                  <a:solidFill>
                    <a:srgbClr val="2B3A4A"/>
                  </a:solidFill>
                  <a:latin typeface="Arial"/>
                  <a:ea typeface="Microsoft YaHei"/>
                  <a:cs typeface="Arial"/>
                </a:rPr>
                <a:t>悉尼摩天楼的"再生革命"</a:t>
              </a:r>
            </a:p>
          </p:txBody>
        </p:sp>
        <p:sp>
          <p:nvSpPr>
            <p:cNvPr id="22" name="TextBox 22"/>
            <p:cNvSpPr txBox="1"/>
            <p:nvPr/>
          </p:nvSpPr>
          <p:spPr>
            <a:xfrm>
              <a:off x="2082165" y="3334702"/>
              <a:ext cx="4167188"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Quay Quarter Tower：世界第一座全面升级改造的摩天大楼</a:t>
              </a:r>
            </a:p>
          </p:txBody>
        </p:sp>
        <p:sp>
          <p:nvSpPr>
            <p:cNvPr id="23" name="Rectangle 23"/>
            <p:cNvSpPr/>
            <p:nvPr/>
          </p:nvSpPr>
          <p:spPr>
            <a:xfrm>
              <a:off x="10001250" y="2990850"/>
              <a:ext cx="1238250" cy="342900"/>
            </a:xfrm>
            <a:prstGeom prst="roundRect">
              <a:avLst>
                <a:gd name="adj" fmla="val 11111"/>
              </a:avLst>
            </a:prstGeom>
            <a:solidFill>
              <a:srgbClr val="FFFFFF"/>
            </a:solidFill>
            <a:ln w="9525">
              <a:solidFill>
                <a:srgbClr val="8B7355"/>
              </a:solidFill>
            </a:ln>
          </p:spPr>
        </p:sp>
        <p:sp>
          <p:nvSpPr>
            <p:cNvPr id="24" name="TextBox 24"/>
            <p:cNvSpPr txBox="1"/>
            <p:nvPr/>
          </p:nvSpPr>
          <p:spPr>
            <a:xfrm>
              <a:off x="10301857" y="3122295"/>
              <a:ext cx="637037" cy="182880"/>
            </a:xfrm>
            <a:prstGeom prst="rect">
              <a:avLst/>
            </a:prstGeom>
            <a:noFill/>
            <a:ln>
              <a:noFill/>
            </a:ln>
          </p:spPr>
          <p:txBody>
            <a:bodyPr wrap="none" lIns="0" tIns="0" rIns="0" bIns="0" anchor="t" anchorCtr="0">
              <a:spAutoFit/>
            </a:bodyPr>
            <a:lstStyle/>
            <a:p>
              <a:pPr algn="ctr"/>
              <a:r>
                <a:rPr lang="zh-CN" sz="900" b="1" dirty="0">
                  <a:solidFill>
                    <a:srgbClr val="8B7355"/>
                  </a:solidFill>
                  <a:latin typeface="Georgia"/>
                  <a:ea typeface="SimSun"/>
                  <a:cs typeface="Georgia"/>
                </a:rPr>
                <a:t>P06 — P08</a:t>
              </a:r>
            </a:p>
          </p:txBody>
        </p:sp>
      </p:grpSp>
      <p:grpSp>
        <p:nvGrpSpPr>
          <p:cNvPr id="33" name="Group 33"/>
          <p:cNvGrpSpPr/>
          <p:nvPr/>
        </p:nvGrpSpPr>
        <p:grpSpPr>
          <a:xfrm>
            <a:off x="1276350" y="3904298"/>
            <a:ext cx="9963150" cy="596264"/>
            <a:chOff x="1276350" y="3904298"/>
            <a:chExt cx="9963150" cy="596264"/>
          </a:xfrm>
        </p:grpSpPr>
        <p:sp>
          <p:nvSpPr>
            <p:cNvPr id="26" name="Ellipse 26"/>
            <p:cNvSpPr/>
            <p:nvPr/>
          </p:nvSpPr>
          <p:spPr>
            <a:xfrm>
              <a:off x="1276350" y="3905250"/>
              <a:ext cx="495300" cy="495300"/>
            </a:xfrm>
            <a:prstGeom prst="ellipse">
              <a:avLst/>
            </a:prstGeom>
            <a:solidFill>
              <a:srgbClr val="F5F2EC"/>
            </a:solidFill>
            <a:ln w="28575">
              <a:solidFill>
                <a:srgbClr val="6B7A4F"/>
              </a:solidFill>
            </a:ln>
          </p:spPr>
        </p:sp>
        <p:sp>
          <p:nvSpPr>
            <p:cNvPr id="27" name="TextBox 27"/>
            <p:cNvSpPr txBox="1"/>
            <p:nvPr/>
          </p:nvSpPr>
          <p:spPr>
            <a:xfrm>
              <a:off x="1425950" y="4099560"/>
              <a:ext cx="196101" cy="243840"/>
            </a:xfrm>
            <a:prstGeom prst="rect">
              <a:avLst/>
            </a:prstGeom>
            <a:noFill/>
            <a:ln>
              <a:noFill/>
            </a:ln>
          </p:spPr>
          <p:txBody>
            <a:bodyPr wrap="none" lIns="0" tIns="0" rIns="0" bIns="0" anchor="t" anchorCtr="0">
              <a:spAutoFit/>
            </a:bodyPr>
            <a:lstStyle/>
            <a:p>
              <a:pPr algn="ctr"/>
              <a:r>
                <a:rPr lang="zh-CN" sz="1200" b="1" dirty="0">
                  <a:solidFill>
                    <a:srgbClr val="6B7A4F"/>
                  </a:solidFill>
                  <a:latin typeface="Georgia"/>
                  <a:ea typeface="SimSun"/>
                  <a:cs typeface="Georgia"/>
                </a:rPr>
                <a:t>III</a:t>
              </a:r>
            </a:p>
          </p:txBody>
        </p:sp>
        <p:sp>
          <p:nvSpPr>
            <p:cNvPr id="28" name="TextBox 28"/>
            <p:cNvSpPr txBox="1"/>
            <p:nvPr/>
          </p:nvSpPr>
          <p:spPr>
            <a:xfrm>
              <a:off x="2070735" y="3904298"/>
              <a:ext cx="647605" cy="396240"/>
            </a:xfrm>
            <a:prstGeom prst="rect">
              <a:avLst/>
            </a:prstGeom>
            <a:noFill/>
            <a:ln>
              <a:noFill/>
            </a:ln>
          </p:spPr>
          <p:txBody>
            <a:bodyPr wrap="none" lIns="0" tIns="0" rIns="0" bIns="0" anchor="t" anchorCtr="0">
              <a:spAutoFit/>
            </a:bodyPr>
            <a:lstStyle/>
            <a:p>
              <a:pPr algn="l"/>
              <a:r>
                <a:rPr lang="zh-CN" sz="1950" b="1" dirty="0">
                  <a:solidFill>
                    <a:srgbClr val="2B3A4A"/>
                  </a:solidFill>
                  <a:latin typeface="Georgia"/>
                  <a:ea typeface="KaiTi"/>
                  <a:cs typeface="Georgia"/>
                </a:rPr>
                <a:t>巡览</a:t>
              </a:r>
            </a:p>
          </p:txBody>
        </p:sp>
        <p:sp>
          <p:nvSpPr>
            <p:cNvPr id="29" name="TextBox 29"/>
            <p:cNvSpPr txBox="1"/>
            <p:nvPr/>
          </p:nvSpPr>
          <p:spPr>
            <a:xfrm>
              <a:off x="2741295" y="3936682"/>
              <a:ext cx="1969770" cy="335280"/>
            </a:xfrm>
            <a:prstGeom prst="rect">
              <a:avLst/>
            </a:prstGeom>
            <a:noFill/>
            <a:ln>
              <a:noFill/>
            </a:ln>
          </p:spPr>
          <p:txBody>
            <a:bodyPr wrap="none" lIns="0" tIns="0" rIns="0" bIns="0" anchor="t" anchorCtr="0">
              <a:spAutoFit/>
            </a:bodyPr>
            <a:lstStyle/>
            <a:p>
              <a:pPr algn="l"/>
              <a:r>
                <a:rPr lang="zh-CN" sz="1650" dirty="0">
                  <a:solidFill>
                    <a:srgbClr val="2B3A4A"/>
                  </a:solidFill>
                  <a:latin typeface="Arial"/>
                  <a:ea typeface="Microsoft YaHei"/>
                  <a:cs typeface="Arial"/>
                </a:rPr>
                <a:t>全球功能再造案例</a:t>
              </a:r>
            </a:p>
          </p:txBody>
        </p:sp>
        <p:sp>
          <p:nvSpPr>
            <p:cNvPr id="30" name="TextBox 30"/>
            <p:cNvSpPr txBox="1"/>
            <p:nvPr/>
          </p:nvSpPr>
          <p:spPr>
            <a:xfrm>
              <a:off x="2082165" y="4287202"/>
              <a:ext cx="3898821"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深圳妇儿大厦 · 上海艾迪逊酒店 · 纽约 One Wall Street</a:t>
              </a:r>
            </a:p>
          </p:txBody>
        </p:sp>
        <p:sp>
          <p:nvSpPr>
            <p:cNvPr id="31" name="Rectangle 31"/>
            <p:cNvSpPr/>
            <p:nvPr/>
          </p:nvSpPr>
          <p:spPr>
            <a:xfrm>
              <a:off x="10001250" y="3943350"/>
              <a:ext cx="1238250" cy="342900"/>
            </a:xfrm>
            <a:prstGeom prst="roundRect">
              <a:avLst>
                <a:gd name="adj" fmla="val 11111"/>
              </a:avLst>
            </a:prstGeom>
            <a:solidFill>
              <a:srgbClr val="FFFFFF"/>
            </a:solidFill>
            <a:ln w="9525">
              <a:solidFill>
                <a:srgbClr val="6B7A4F"/>
              </a:solidFill>
            </a:ln>
          </p:spPr>
        </p:sp>
        <p:sp>
          <p:nvSpPr>
            <p:cNvPr id="32" name="TextBox 32"/>
            <p:cNvSpPr txBox="1"/>
            <p:nvPr/>
          </p:nvSpPr>
          <p:spPr>
            <a:xfrm>
              <a:off x="10336361" y="4074795"/>
              <a:ext cx="568028" cy="182880"/>
            </a:xfrm>
            <a:prstGeom prst="rect">
              <a:avLst/>
            </a:prstGeom>
            <a:noFill/>
            <a:ln>
              <a:noFill/>
            </a:ln>
          </p:spPr>
          <p:txBody>
            <a:bodyPr wrap="none" lIns="0" tIns="0" rIns="0" bIns="0" anchor="t" anchorCtr="0">
              <a:spAutoFit/>
            </a:bodyPr>
            <a:lstStyle/>
            <a:p>
              <a:pPr algn="ctr"/>
              <a:r>
                <a:rPr lang="zh-CN" sz="900" b="1" dirty="0">
                  <a:solidFill>
                    <a:srgbClr val="6B7A4F"/>
                  </a:solidFill>
                  <a:latin typeface="Georgia"/>
                  <a:ea typeface="SimSun"/>
                  <a:cs typeface="Georgia"/>
                </a:rPr>
                <a:t>P09 — P11</a:t>
              </a:r>
            </a:p>
          </p:txBody>
        </p:sp>
      </p:grpSp>
      <p:grpSp>
        <p:nvGrpSpPr>
          <p:cNvPr id="41" name="Group 41"/>
          <p:cNvGrpSpPr/>
          <p:nvPr/>
        </p:nvGrpSpPr>
        <p:grpSpPr>
          <a:xfrm>
            <a:off x="1257300" y="4838700"/>
            <a:ext cx="9982200" cy="614362"/>
            <a:chOff x="1257300" y="4838700"/>
            <a:chExt cx="9982200" cy="614362"/>
          </a:xfrm>
        </p:grpSpPr>
        <p:sp>
          <p:nvSpPr>
            <p:cNvPr id="34" name="Ellipse 34"/>
            <p:cNvSpPr/>
            <p:nvPr/>
          </p:nvSpPr>
          <p:spPr>
            <a:xfrm>
              <a:off x="1257300" y="4838700"/>
              <a:ext cx="533400" cy="533400"/>
            </a:xfrm>
            <a:prstGeom prst="ellipse">
              <a:avLst/>
            </a:prstGeom>
            <a:solidFill>
              <a:srgbClr val="2B3A4A"/>
            </a:solidFill>
            <a:ln>
              <a:noFill/>
            </a:ln>
          </p:spPr>
        </p:sp>
        <p:sp>
          <p:nvSpPr>
            <p:cNvPr id="35" name="TextBox 35"/>
            <p:cNvSpPr txBox="1"/>
            <p:nvPr/>
          </p:nvSpPr>
          <p:spPr>
            <a:xfrm>
              <a:off x="1430550" y="5052060"/>
              <a:ext cx="186900" cy="243840"/>
            </a:xfrm>
            <a:prstGeom prst="rect">
              <a:avLst/>
            </a:prstGeom>
            <a:noFill/>
            <a:ln>
              <a:noFill/>
            </a:ln>
          </p:spPr>
          <p:txBody>
            <a:bodyPr wrap="none" lIns="0" tIns="0" rIns="0" bIns="0" anchor="t" anchorCtr="0">
              <a:spAutoFit/>
            </a:bodyPr>
            <a:lstStyle/>
            <a:p>
              <a:pPr algn="ctr"/>
              <a:r>
                <a:rPr lang="zh-CN" sz="1200" b="1" dirty="0">
                  <a:solidFill>
                    <a:srgbClr val="F5F2EC"/>
                  </a:solidFill>
                  <a:latin typeface="Georgia"/>
                  <a:ea typeface="SimSun"/>
                  <a:cs typeface="Georgia"/>
                </a:rPr>
                <a:t>IV</a:t>
              </a:r>
            </a:p>
          </p:txBody>
        </p:sp>
        <p:sp>
          <p:nvSpPr>
            <p:cNvPr id="36" name="TextBox 36"/>
            <p:cNvSpPr txBox="1"/>
            <p:nvPr/>
          </p:nvSpPr>
          <p:spPr>
            <a:xfrm>
              <a:off x="2070735" y="4856798"/>
              <a:ext cx="647605" cy="396240"/>
            </a:xfrm>
            <a:prstGeom prst="rect">
              <a:avLst/>
            </a:prstGeom>
            <a:noFill/>
            <a:ln>
              <a:noFill/>
            </a:ln>
          </p:spPr>
          <p:txBody>
            <a:bodyPr wrap="none" lIns="0" tIns="0" rIns="0" bIns="0" anchor="t" anchorCtr="0">
              <a:spAutoFit/>
            </a:bodyPr>
            <a:lstStyle/>
            <a:p>
              <a:pPr algn="l"/>
              <a:r>
                <a:rPr lang="zh-CN" sz="1950" b="1" dirty="0">
                  <a:solidFill>
                    <a:srgbClr val="2B3A4A"/>
                  </a:solidFill>
                  <a:latin typeface="Georgia"/>
                  <a:ea typeface="KaiTi"/>
                  <a:cs typeface="Georgia"/>
                </a:rPr>
                <a:t>困局</a:t>
              </a:r>
            </a:p>
          </p:txBody>
        </p:sp>
        <p:sp>
          <p:nvSpPr>
            <p:cNvPr id="37" name="TextBox 37"/>
            <p:cNvSpPr txBox="1"/>
            <p:nvPr/>
          </p:nvSpPr>
          <p:spPr>
            <a:xfrm>
              <a:off x="2741295" y="4889182"/>
              <a:ext cx="2933700" cy="335280"/>
            </a:xfrm>
            <a:prstGeom prst="rect">
              <a:avLst/>
            </a:prstGeom>
            <a:noFill/>
            <a:ln>
              <a:noFill/>
            </a:ln>
          </p:spPr>
          <p:txBody>
            <a:bodyPr wrap="none" lIns="0" tIns="0" rIns="0" bIns="0" anchor="t" anchorCtr="0">
              <a:spAutoFit/>
            </a:bodyPr>
            <a:lstStyle/>
            <a:p>
              <a:pPr algn="l"/>
              <a:r>
                <a:rPr lang="zh-CN" sz="1650" dirty="0">
                  <a:solidFill>
                    <a:srgbClr val="2B3A4A"/>
                  </a:solidFill>
                  <a:latin typeface="Arial"/>
                  <a:ea typeface="Microsoft YaHei"/>
                  <a:cs typeface="Arial"/>
                </a:rPr>
                <a:t>中国老旧高层住宅的硬骨头</a:t>
              </a:r>
            </a:p>
          </p:txBody>
        </p:sp>
        <p:sp>
          <p:nvSpPr>
            <p:cNvPr id="38" name="TextBox 38"/>
            <p:cNvSpPr txBox="1"/>
            <p:nvPr/>
          </p:nvSpPr>
          <p:spPr>
            <a:xfrm>
              <a:off x="2082165" y="5239702"/>
              <a:ext cx="4243864"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浙工新村 · 北京"办公环橙" · 治理机制创新与"先体检后更新"</a:t>
              </a:r>
            </a:p>
          </p:txBody>
        </p:sp>
        <p:sp>
          <p:nvSpPr>
            <p:cNvPr id="39" name="Rectangle 39"/>
            <p:cNvSpPr/>
            <p:nvPr/>
          </p:nvSpPr>
          <p:spPr>
            <a:xfrm>
              <a:off x="10001250" y="4895850"/>
              <a:ext cx="1238250" cy="342900"/>
            </a:xfrm>
            <a:prstGeom prst="roundRect">
              <a:avLst>
                <a:gd name="adj" fmla="val 11111"/>
              </a:avLst>
            </a:prstGeom>
            <a:solidFill>
              <a:srgbClr val="2B3A4A"/>
            </a:solidFill>
            <a:ln>
              <a:noFill/>
            </a:ln>
          </p:spPr>
        </p:sp>
        <p:sp>
          <p:nvSpPr>
            <p:cNvPr id="40" name="TextBox 40"/>
            <p:cNvSpPr txBox="1"/>
            <p:nvPr/>
          </p:nvSpPr>
          <p:spPr>
            <a:xfrm>
              <a:off x="10336361" y="5027295"/>
              <a:ext cx="568028" cy="182880"/>
            </a:xfrm>
            <a:prstGeom prst="rect">
              <a:avLst/>
            </a:prstGeom>
            <a:noFill/>
            <a:ln>
              <a:noFill/>
            </a:ln>
          </p:spPr>
          <p:txBody>
            <a:bodyPr wrap="none" lIns="0" tIns="0" rIns="0" bIns="0" anchor="t" anchorCtr="0">
              <a:spAutoFit/>
            </a:bodyPr>
            <a:lstStyle/>
            <a:p>
              <a:pPr algn="ctr"/>
              <a:r>
                <a:rPr lang="zh-CN" sz="900" b="1" dirty="0">
                  <a:solidFill>
                    <a:srgbClr val="F5F2EC"/>
                  </a:solidFill>
                  <a:latin typeface="Georgia"/>
                  <a:ea typeface="SimSun"/>
                  <a:cs typeface="Georgia"/>
                </a:rPr>
                <a:t>P12 — P15</a:t>
              </a:r>
            </a:p>
          </p:txBody>
        </p:sp>
      </p:grpSp>
      <p:grpSp>
        <p:nvGrpSpPr>
          <p:cNvPr id="45" name="Group 45"/>
          <p:cNvGrpSpPr/>
          <p:nvPr/>
        </p:nvGrpSpPr>
        <p:grpSpPr>
          <a:xfrm>
            <a:off x="750570" y="6286500"/>
            <a:ext cx="10690860" cy="419100"/>
            <a:chOff x="750570" y="6286500"/>
            <a:chExt cx="10690860" cy="419100"/>
          </a:xfrm>
        </p:grpSpPr>
        <p:sp>
          <p:nvSpPr>
            <p:cNvPr id="42" name="Line 42"/>
            <p:cNvSpPr/>
            <p:nvPr/>
          </p:nvSpPr>
          <p:spPr>
            <a:xfrm>
              <a:off x="762000" y="6286500"/>
              <a:ext cx="10668000" cy="9525"/>
            </a:xfrm>
            <a:custGeom>
              <a:avLst/>
              <a:gdLst/>
              <a:ahLst/>
              <a:cxnLst/>
              <a:rect l="l" t="t" r="r" b="b"/>
              <a:pathLst>
                <a:path w="10668000" h="9525">
                  <a:moveTo>
                    <a:pt x="0" y="0"/>
                  </a:moveTo>
                  <a:lnTo>
                    <a:pt x="10668000" y="0"/>
                  </a:lnTo>
                </a:path>
              </a:pathLst>
            </a:custGeom>
            <a:noFill/>
            <a:ln w="9525">
              <a:solidFill>
                <a:srgbClr val="D6CFC0"/>
              </a:solidFill>
            </a:ln>
          </p:spPr>
        </p:sp>
        <p:sp>
          <p:nvSpPr>
            <p:cNvPr id="43" name="TextBox 43"/>
            <p:cNvSpPr txBox="1"/>
            <p:nvPr/>
          </p:nvSpPr>
          <p:spPr>
            <a:xfrm>
              <a:off x="750570" y="6522720"/>
              <a:ext cx="2001107" cy="182880"/>
            </a:xfrm>
            <a:prstGeom prst="rect">
              <a:avLst/>
            </a:prstGeom>
            <a:noFill/>
            <a:ln>
              <a:noFill/>
            </a:ln>
          </p:spPr>
          <p:txBody>
            <a:bodyPr wrap="none" lIns="0" tIns="0" rIns="0" bIns="0" anchor="t" anchorCtr="0">
              <a:spAutoFit/>
            </a:bodyPr>
            <a:lstStyle/>
            <a:p>
              <a:pPr algn="l"/>
              <a:r>
                <a:rPr lang="zh-CN" sz="900" dirty="0">
                  <a:solidFill>
                    <a:srgbClr val="8A8275"/>
                  </a:solidFill>
                  <a:latin typeface="Segoe UI"/>
                  <a:ea typeface="Microsoft YaHei"/>
                  <a:cs typeface="Segoe UI"/>
                </a:rPr>
                <a:t>主动再生 · ACTIVE REGENERATION</a:t>
              </a:r>
            </a:p>
          </p:txBody>
        </p:sp>
        <p:sp>
          <p:nvSpPr>
            <p:cNvPr id="44" name="TextBox 44"/>
            <p:cNvSpPr txBox="1"/>
            <p:nvPr/>
          </p:nvSpPr>
          <p:spPr>
            <a:xfrm>
              <a:off x="11011090" y="6522720"/>
              <a:ext cx="430340"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Bottom)">
                                      <p:cBhvr>
                                        <p:cTn id="15" dur="400"/>
                                        <p:tgtEl>
                                          <p:spTgt spid="33"/>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Left)">
                                      <p:cBhvr>
                                        <p:cTn id="1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A1A1A"/>
            </a:solidFill>
            <a:ln>
              <a:noFill/>
            </a:ln>
          </p:spPr>
        </p:sp>
        <p:pic>
          <p:nvPicPr>
            <p:cNvPr id="3" name="Image 3"/>
            <p:cNvPicPr>
              <a:picLocks noChangeAspect="1"/>
            </p:cNvPicPr>
            <p:nvPr/>
          </p:nvPicPr>
          <p:blipFill>
            <a:blip r:embed="rId2"/>
            <a:srcRect l="0" t="16876" r="0" b="16876"/>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A1A1A">
                    <a:alpha val="92000"/>
                  </a:srgbClr>
                </a:gs>
                <a:gs pos="55000">
                  <a:srgbClr val="1A1A1A">
                    <a:alpha val="55000"/>
                  </a:srgbClr>
                </a:gs>
                <a:gs pos="100000">
                  <a:srgbClr val="1A1A1A">
                    <a:alpha val="20000"/>
                  </a:srgbClr>
                </a:gs>
              </a:gsLst>
              <a:lin ang="0" scaled="1"/>
            </a:gradFill>
            <a:ln>
              <a:noFill/>
            </a:ln>
          </p:spPr>
        </p:sp>
      </p:grpSp>
      <p:grpSp>
        <p:nvGrpSpPr>
          <p:cNvPr id="8" name="Group 8"/>
          <p:cNvGrpSpPr/>
          <p:nvPr/>
        </p:nvGrpSpPr>
        <p:grpSpPr>
          <a:xfrm>
            <a:off x="571500" y="571500"/>
            <a:ext cx="1420740" cy="321469"/>
            <a:chOff x="571500" y="571500"/>
            <a:chExt cx="1420740" cy="321469"/>
          </a:xfrm>
        </p:grpSpPr>
        <p:sp>
          <p:nvSpPr>
            <p:cNvPr id="6" name="Rectangle 6"/>
            <p:cNvSpPr/>
            <p:nvPr/>
          </p:nvSpPr>
          <p:spPr>
            <a:xfrm>
              <a:off x="571500" y="571500"/>
              <a:ext cx="28575" cy="304800"/>
            </a:xfrm>
            <a:prstGeom prst="rect">
              <a:avLst/>
            </a:prstGeom>
            <a:solidFill>
              <a:srgbClr val="C2410C"/>
            </a:solidFill>
            <a:ln>
              <a:noFill/>
            </a:ln>
          </p:spPr>
        </p:sp>
        <p:sp>
          <p:nvSpPr>
            <p:cNvPr id="7" name="TextBox 7"/>
            <p:cNvSpPr txBox="1"/>
            <p:nvPr/>
          </p:nvSpPr>
          <p:spPr>
            <a:xfrm>
              <a:off x="711518" y="694849"/>
              <a:ext cx="1280722" cy="198120"/>
            </a:xfrm>
            <a:prstGeom prst="rect">
              <a:avLst/>
            </a:prstGeom>
            <a:noFill/>
            <a:ln>
              <a:noFill/>
            </a:ln>
          </p:spPr>
          <p:txBody>
            <a:bodyPr wrap="none" lIns="0" tIns="0" rIns="0" bIns="0" anchor="t" anchorCtr="0">
              <a:spAutoFit/>
            </a:bodyPr>
            <a:lstStyle/>
            <a:p>
              <a:pPr algn="l"/>
              <a:r>
                <a:rPr lang="zh-CN" sz="975" b="1" dirty="0">
                  <a:solidFill>
                    <a:srgbClr val="F5F2EC"/>
                  </a:solidFill>
                  <a:latin typeface="Georgia"/>
                  <a:ea typeface="SimSun"/>
                  <a:cs typeface="Georgia"/>
                </a:rPr>
                <a:t>I · 警钟 · WARNING</a:t>
              </a:r>
            </a:p>
          </p:txBody>
        </p:sp>
      </p:grpSp>
      <p:grpSp>
        <p:nvGrpSpPr>
          <p:cNvPr id="13" name="Group 13"/>
          <p:cNvGrpSpPr/>
          <p:nvPr/>
        </p:nvGrpSpPr>
        <p:grpSpPr>
          <a:xfrm>
            <a:off x="529590" y="1358265"/>
            <a:ext cx="5144452" cy="1549241"/>
            <a:chOff x="529590" y="1358265"/>
            <a:chExt cx="5144452" cy="1549241"/>
          </a:xfrm>
        </p:grpSpPr>
        <p:sp>
          <p:nvSpPr>
            <p:cNvPr id="9" name="TextBox 9"/>
            <p:cNvSpPr txBox="1"/>
            <p:nvPr/>
          </p:nvSpPr>
          <p:spPr>
            <a:xfrm>
              <a:off x="529590" y="1358265"/>
              <a:ext cx="2108073" cy="670560"/>
            </a:xfrm>
            <a:prstGeom prst="rect">
              <a:avLst/>
            </a:prstGeom>
            <a:noFill/>
            <a:ln>
              <a:noFill/>
            </a:ln>
          </p:spPr>
          <p:txBody>
            <a:bodyPr wrap="none" lIns="0" tIns="0" rIns="0" bIns="0" anchor="t" anchorCtr="0">
              <a:spAutoFit/>
            </a:bodyPr>
            <a:lstStyle/>
            <a:p>
              <a:pPr algn="l"/>
              <a:r>
                <a:rPr lang="zh-CN" sz="3300" b="1" dirty="0">
                  <a:solidFill>
                    <a:srgbClr val="F5F2EC"/>
                  </a:solidFill>
                  <a:latin typeface="Georgia"/>
                  <a:ea typeface="KaiTi"/>
                  <a:cs typeface="Georgia"/>
                </a:rPr>
                <a:t>一场火灾</a:t>
              </a:r>
            </a:p>
          </p:txBody>
        </p:sp>
        <p:sp>
          <p:nvSpPr>
            <p:cNvPr id="10" name="TextBox 10"/>
            <p:cNvSpPr txBox="1"/>
            <p:nvPr/>
          </p:nvSpPr>
          <p:spPr>
            <a:xfrm>
              <a:off x="529590" y="1853565"/>
              <a:ext cx="5144452" cy="670560"/>
            </a:xfrm>
            <a:prstGeom prst="rect">
              <a:avLst/>
            </a:prstGeom>
            <a:noFill/>
            <a:ln>
              <a:noFill/>
            </a:ln>
          </p:spPr>
          <p:txBody>
            <a:bodyPr wrap="none" lIns="0" tIns="0" rIns="0" bIns="0" anchor="t" anchorCtr="0">
              <a:spAutoFit/>
            </a:bodyPr>
            <a:lstStyle/>
            <a:p>
              <a:pPr algn="l"/>
              <a:r>
                <a:rPr lang="zh-CN" sz="3300" b="1" dirty="0">
                  <a:solidFill>
                    <a:srgbClr val="F5F2EC"/>
                  </a:solidFill>
                  <a:latin typeface="Georgia"/>
                  <a:ea typeface="KaiTi"/>
                  <a:cs typeface="Georgia"/>
                </a:rPr>
                <a:t>暴露的不只是</a:t>
              </a:r>
              <a:r>
                <a:rPr lang="zh-CN" sz="3300" b="1" dirty="0">
                  <a:solidFill>
                    <a:srgbClr val="C2410C"/>
                  </a:solidFill>
                  <a:latin typeface="Georgia"/>
                  <a:ea typeface="KaiTi"/>
                  <a:cs typeface="Georgia"/>
                </a:rPr>
                <a:t>消防隐患</a:t>
              </a:r>
            </a:p>
          </p:txBody>
        </p:sp>
        <p:sp>
          <p:nvSpPr>
            <p:cNvPr id="11" name="Line 11"/>
            <p:cNvSpPr/>
            <p:nvPr/>
          </p:nvSpPr>
          <p:spPr>
            <a:xfrm>
              <a:off x="571500" y="2476500"/>
              <a:ext cx="952500" cy="9525"/>
            </a:xfrm>
            <a:custGeom>
              <a:avLst/>
              <a:gdLst/>
              <a:ahLst/>
              <a:cxnLst/>
              <a:rect l="l" t="t" r="r" b="b"/>
              <a:pathLst>
                <a:path w="952500" h="9525">
                  <a:moveTo>
                    <a:pt x="0" y="0"/>
                  </a:moveTo>
                  <a:lnTo>
                    <a:pt x="952500" y="0"/>
                  </a:lnTo>
                </a:path>
              </a:pathLst>
            </a:custGeom>
            <a:noFill/>
            <a:ln w="19050">
              <a:solidFill>
                <a:srgbClr val="C2410C"/>
              </a:solidFill>
            </a:ln>
          </p:spPr>
        </p:sp>
        <p:sp>
          <p:nvSpPr>
            <p:cNvPr id="12" name="TextBox 12"/>
            <p:cNvSpPr txBox="1"/>
            <p:nvPr/>
          </p:nvSpPr>
          <p:spPr>
            <a:xfrm>
              <a:off x="557212" y="2678906"/>
              <a:ext cx="2189202" cy="228600"/>
            </a:xfrm>
            <a:prstGeom prst="rect">
              <a:avLst/>
            </a:prstGeom>
            <a:noFill/>
            <a:ln>
              <a:noFill/>
            </a:ln>
          </p:spPr>
          <p:txBody>
            <a:bodyPr wrap="none" lIns="0" tIns="0" rIns="0" bIns="0" anchor="t" anchorCtr="0">
              <a:spAutoFit/>
            </a:bodyPr>
            <a:lstStyle/>
            <a:p>
              <a:pPr algn="l"/>
              <a:r>
                <a:rPr lang="zh-CN" sz="1125" i="1" dirty="0">
                  <a:solidFill>
                    <a:srgbClr val="D6CFC0"/>
                  </a:solidFill>
                  <a:latin typeface="Segoe UI"/>
                  <a:ea typeface="Microsoft YaHei"/>
                  <a:cs typeface="Segoe UI"/>
                </a:rPr>
                <a:t>2025.11.26 · 香港大埔宏福苑</a:t>
              </a:r>
            </a:p>
          </p:txBody>
        </p:sp>
      </p:grpSp>
      <p:grpSp>
        <p:nvGrpSpPr>
          <p:cNvPr id="20" name="Group 20"/>
          <p:cNvGrpSpPr/>
          <p:nvPr/>
        </p:nvGrpSpPr>
        <p:grpSpPr>
          <a:xfrm>
            <a:off x="6096000" y="3238500"/>
            <a:ext cx="2667000" cy="1502569"/>
            <a:chOff x="6096000" y="3238500"/>
            <a:chExt cx="2667000" cy="1502569"/>
          </a:xfrm>
          <a:effectLst>
            <a:outerShdw blurRad="152400" dist="38100" dir="5400000" algn="ctr" rotWithShape="0">
              <a:srgbClr val="000000">
                <a:alpha val="13500"/>
              </a:srgbClr>
            </a:outerShdw>
          </a:effectLst>
        </p:grpSpPr>
        <p:sp>
          <p:nvSpPr>
            <p:cNvPr id="14" name="Rectangle 14"/>
            <p:cNvSpPr/>
            <p:nvPr/>
          </p:nvSpPr>
          <p:spPr>
            <a:xfrm>
              <a:off x="6096000" y="3238500"/>
              <a:ext cx="2667000" cy="1485900"/>
            </a:xfrm>
            <a:prstGeom prst="roundRect">
              <a:avLst>
                <a:gd name="adj" fmla="val 3846"/>
              </a:avLst>
            </a:prstGeom>
            <a:solidFill>
              <a:srgbClr val="F5F2EC"/>
            </a:solidFill>
            <a:ln>
              <a:noFill/>
            </a:ln>
            <a:effectLst>
              <a:outerShdw blurRad="152400" dist="38100" dir="5400000" algn="ctr" rotWithShape="0">
                <a:srgbClr val="000000">
                  <a:alpha val="13500"/>
                </a:srgbClr>
              </a:outerShdw>
            </a:effectLst>
          </p:spPr>
        </p:sp>
        <p:sp>
          <p:nvSpPr>
            <p:cNvPr id="15" name="Freeform 15"/>
            <p:cNvSpPr/>
            <p:nvPr/>
          </p:nvSpPr>
          <p:spPr>
            <a:xfrm>
              <a:off x="6388100" y="3473450"/>
              <a:ext cx="177800" cy="241300"/>
            </a:xfrm>
            <a:custGeom>
              <a:avLst/>
              <a:gdLst/>
              <a:ahLst/>
              <a:cxnLst/>
              <a:rect l="l" t="t" r="r" b="b"/>
              <a:pathLst>
                <a:path w="177800" h="241300">
                  <a:moveTo>
                    <a:pt x="88900" y="113551"/>
                  </a:moveTo>
                  <a:cubicBezTo>
                    <a:pt x="118529" y="71539"/>
                    <a:pt x="91021" y="14199"/>
                    <a:pt x="76200" y="0"/>
                  </a:cubicBezTo>
                  <a:cubicBezTo>
                    <a:pt x="76200" y="43116"/>
                    <a:pt x="47816" y="67297"/>
                    <a:pt x="29629" y="85166"/>
                  </a:cubicBezTo>
                  <a:cubicBezTo>
                    <a:pt x="11468" y="103048"/>
                    <a:pt x="0" y="127000"/>
                    <a:pt x="0" y="156134"/>
                  </a:cubicBezTo>
                  <a:cubicBezTo>
                    <a:pt x="0" y="203175"/>
                    <a:pt x="39802" y="241300"/>
                    <a:pt x="88900" y="241300"/>
                  </a:cubicBezTo>
                  <a:cubicBezTo>
                    <a:pt x="137998" y="241300"/>
                    <a:pt x="177800" y="203175"/>
                    <a:pt x="177800" y="156134"/>
                  </a:cubicBezTo>
                  <a:cubicBezTo>
                    <a:pt x="177800" y="134391"/>
                    <a:pt x="162154" y="100216"/>
                    <a:pt x="148171" y="85166"/>
                  </a:cubicBezTo>
                  <a:cubicBezTo>
                    <a:pt x="121704" y="127749"/>
                    <a:pt x="106807" y="127749"/>
                    <a:pt x="88900" y="113551"/>
                  </a:cubicBezTo>
                </a:path>
              </a:pathLst>
            </a:custGeom>
            <a:noFill/>
            <a:ln w="19050">
              <a:solidFill>
                <a:srgbClr val="C2410C"/>
              </a:solidFill>
            </a:ln>
            <a:effectLst>
              <a:outerShdw blurRad="152400" dist="38100" dir="5400000" algn="ctr" rotWithShape="0">
                <a:srgbClr val="000000">
                  <a:alpha val="13500"/>
                </a:srgbClr>
              </a:outerShdw>
            </a:effectLst>
          </p:spPr>
        </p:sp>
        <p:sp>
          <p:nvSpPr>
            <p:cNvPr id="16" name="TextBox 16"/>
            <p:cNvSpPr txBox="1"/>
            <p:nvPr/>
          </p:nvSpPr>
          <p:spPr>
            <a:xfrm>
              <a:off x="6693218" y="3571399"/>
              <a:ext cx="622840"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b="1" dirty="0">
                  <a:solidFill>
                    <a:srgbClr val="5A6B7A"/>
                  </a:solidFill>
                  <a:latin typeface="Segoe UI"/>
                  <a:ea typeface="Microsoft YaHei"/>
                  <a:cs typeface="Segoe UI"/>
                </a:rPr>
                <a:t>事故现场</a:t>
              </a:r>
            </a:p>
          </p:txBody>
        </p:sp>
        <p:sp>
          <p:nvSpPr>
            <p:cNvPr id="17" name="TextBox 17"/>
            <p:cNvSpPr txBox="1"/>
            <p:nvPr/>
          </p:nvSpPr>
          <p:spPr>
            <a:xfrm>
              <a:off x="6282690" y="3739515"/>
              <a:ext cx="868218" cy="67056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3300" b="1" dirty="0">
                  <a:solidFill>
                    <a:srgbClr val="2B3A4A"/>
                  </a:solidFill>
                  <a:latin typeface="Georgia"/>
                  <a:ea typeface="KaiTi"/>
                  <a:cs typeface="Georgia"/>
                </a:rPr>
                <a:t>7</a:t>
              </a:r>
              <a:r>
                <a:rPr lang="zh-CN" sz="1500" dirty="0">
                  <a:solidFill>
                    <a:srgbClr val="5A6B7A"/>
                  </a:solidFill>
                  <a:latin typeface="Georgia"/>
                  <a:ea typeface="KaiTi"/>
                  <a:cs typeface="Georgia"/>
                </a:rPr>
                <a:t>栋</a:t>
              </a:r>
            </a:p>
          </p:txBody>
        </p:sp>
        <p:sp>
          <p:nvSpPr>
            <p:cNvPr id="18" name="TextBox 18"/>
            <p:cNvSpPr txBox="1"/>
            <p:nvPr/>
          </p:nvSpPr>
          <p:spPr>
            <a:xfrm>
              <a:off x="6312218" y="4352449"/>
              <a:ext cx="1527072"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dirty="0">
                  <a:solidFill>
                    <a:srgbClr val="5A6B7A"/>
                  </a:solidFill>
                  <a:latin typeface="Segoe UI"/>
                  <a:ea typeface="Microsoft YaHei"/>
                  <a:cs typeface="Segoe UI"/>
                </a:rPr>
                <a:t>30 层以上 · 近 100 米高</a:t>
              </a:r>
            </a:p>
          </p:txBody>
        </p:sp>
        <p:sp>
          <p:nvSpPr>
            <p:cNvPr id="19" name="TextBox 19"/>
            <p:cNvSpPr txBox="1"/>
            <p:nvPr/>
          </p:nvSpPr>
          <p:spPr>
            <a:xfrm>
              <a:off x="6312218" y="4542949"/>
              <a:ext cx="978837"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dirty="0">
                  <a:solidFill>
                    <a:srgbClr val="5A6B7A"/>
                  </a:solidFill>
                  <a:latin typeface="Segoe UI"/>
                  <a:ea typeface="Microsoft YaHei"/>
                  <a:cs typeface="Segoe UI"/>
                </a:rPr>
                <a:t xml:space="preserve">楼龄已达 </a:t>
              </a:r>
              <a:r>
                <a:rPr lang="zh-CN" sz="975" b="1" dirty="0">
                  <a:solidFill>
                    <a:srgbClr val="C2410C"/>
                  </a:solidFill>
                  <a:latin typeface="Segoe UI"/>
                  <a:ea typeface="Microsoft YaHei"/>
                  <a:cs typeface="Segoe UI"/>
                </a:rPr>
                <a:t>42 年</a:t>
              </a:r>
            </a:p>
          </p:txBody>
        </p:sp>
      </p:grpSp>
      <p:grpSp>
        <p:nvGrpSpPr>
          <p:cNvPr id="31" name="Group 31"/>
          <p:cNvGrpSpPr/>
          <p:nvPr/>
        </p:nvGrpSpPr>
        <p:grpSpPr>
          <a:xfrm>
            <a:off x="8953500" y="3238500"/>
            <a:ext cx="2667000" cy="1502569"/>
            <a:chOff x="8953500" y="3238500"/>
            <a:chExt cx="2667000" cy="1502569"/>
          </a:xfrm>
          <a:effectLst>
            <a:outerShdw blurRad="152400" dist="38100" dir="5400000" algn="ctr" rotWithShape="0">
              <a:srgbClr val="000000">
                <a:alpha val="13500"/>
              </a:srgbClr>
            </a:outerShdw>
          </a:effectLst>
        </p:grpSpPr>
        <p:sp>
          <p:nvSpPr>
            <p:cNvPr id="21" name="Rectangle 21"/>
            <p:cNvSpPr/>
            <p:nvPr/>
          </p:nvSpPr>
          <p:spPr>
            <a:xfrm>
              <a:off x="8953500" y="3238500"/>
              <a:ext cx="2667000" cy="1485900"/>
            </a:xfrm>
            <a:prstGeom prst="roundRect">
              <a:avLst>
                <a:gd name="adj" fmla="val 3846"/>
              </a:avLst>
            </a:prstGeom>
            <a:solidFill>
              <a:srgbClr val="F5F2EC"/>
            </a:solidFill>
            <a:ln>
              <a:noFill/>
            </a:ln>
            <a:effectLst>
              <a:outerShdw blurRad="152400" dist="38100" dir="5400000" algn="ctr" rotWithShape="0">
                <a:srgbClr val="000000">
                  <a:alpha val="13500"/>
                </a:srgbClr>
              </a:outerShdw>
            </a:effectLst>
          </p:spPr>
        </p:sp>
        <p:grpSp>
          <p:nvGrpSpPr>
            <p:cNvPr id="26" name="Group 26"/>
            <p:cNvGrpSpPr/>
            <p:nvPr/>
          </p:nvGrpSpPr>
          <p:grpSpPr>
            <a:xfrm>
              <a:off x="9220200" y="3498850"/>
              <a:ext cx="228600" cy="212725"/>
              <a:chOff x="9220200" y="3498850"/>
              <a:chExt cx="228600" cy="212725"/>
            </a:xfrm>
          </p:grpSpPr>
          <p:sp>
            <p:nvSpPr>
              <p:cNvPr id="22" name="Freeform 22"/>
              <p:cNvSpPr/>
              <p:nvPr/>
            </p:nvSpPr>
            <p:spPr>
              <a:xfrm>
                <a:off x="9220200" y="3600450"/>
                <a:ext cx="76200" cy="101600"/>
              </a:xfrm>
              <a:custGeom>
                <a:avLst/>
                <a:gdLst/>
                <a:ahLst/>
                <a:cxnLst/>
                <a:rect l="l" t="t" r="r" b="b"/>
                <a:pathLst>
                  <a:path w="76200" h="101600">
                    <a:moveTo>
                      <a:pt x="0" y="12700"/>
                    </a:moveTo>
                    <a:cubicBezTo>
                      <a:pt x="0" y="5686"/>
                      <a:pt x="5686" y="0"/>
                      <a:pt x="12700" y="0"/>
                    </a:cubicBezTo>
                    <a:lnTo>
                      <a:pt x="63500" y="0"/>
                    </a:lnTo>
                    <a:cubicBezTo>
                      <a:pt x="70514" y="0"/>
                      <a:pt x="76200" y="5686"/>
                      <a:pt x="76200" y="12700"/>
                    </a:cubicBezTo>
                    <a:lnTo>
                      <a:pt x="76200" y="88900"/>
                    </a:lnTo>
                    <a:cubicBezTo>
                      <a:pt x="76200" y="95914"/>
                      <a:pt x="70514" y="101600"/>
                      <a:pt x="63500" y="101600"/>
                    </a:cubicBezTo>
                    <a:lnTo>
                      <a:pt x="12700" y="101600"/>
                    </a:lnTo>
                    <a:cubicBezTo>
                      <a:pt x="5686" y="101600"/>
                      <a:pt x="0" y="95914"/>
                      <a:pt x="0" y="88900"/>
                    </a:cubicBezTo>
                    <a:lnTo>
                      <a:pt x="0" y="12700"/>
                    </a:lnTo>
                  </a:path>
                </a:pathLst>
              </a:custGeom>
              <a:noFill/>
              <a:ln w="19050">
                <a:solidFill>
                  <a:srgbClr val="C2410C"/>
                </a:solidFill>
              </a:ln>
              <a:effectLst>
                <a:outerShdw blurRad="152400" dist="38100" dir="5400000" algn="ctr" rotWithShape="0">
                  <a:srgbClr val="000000">
                    <a:alpha val="13500"/>
                  </a:srgbClr>
                </a:outerShdw>
              </a:effectLst>
            </p:spPr>
          </p:sp>
          <p:sp>
            <p:nvSpPr>
              <p:cNvPr id="23" name="Freeform 23"/>
              <p:cNvSpPr/>
              <p:nvPr/>
            </p:nvSpPr>
            <p:spPr>
              <a:xfrm>
                <a:off x="9372600" y="3549650"/>
                <a:ext cx="76200" cy="152400"/>
              </a:xfrm>
              <a:custGeom>
                <a:avLst/>
                <a:gdLst/>
                <a:ahLst/>
                <a:cxnLst/>
                <a:rect l="l" t="t" r="r" b="b"/>
                <a:pathLst>
                  <a:path w="76200" h="152400">
                    <a:moveTo>
                      <a:pt x="0" y="12700"/>
                    </a:moveTo>
                    <a:cubicBezTo>
                      <a:pt x="0" y="5686"/>
                      <a:pt x="5686" y="0"/>
                      <a:pt x="12700" y="0"/>
                    </a:cubicBezTo>
                    <a:lnTo>
                      <a:pt x="63500" y="0"/>
                    </a:lnTo>
                    <a:cubicBezTo>
                      <a:pt x="70514" y="0"/>
                      <a:pt x="76200" y="5686"/>
                      <a:pt x="76200" y="12700"/>
                    </a:cubicBezTo>
                    <a:lnTo>
                      <a:pt x="76200" y="139700"/>
                    </a:lnTo>
                    <a:cubicBezTo>
                      <a:pt x="76200" y="146714"/>
                      <a:pt x="70514" y="152400"/>
                      <a:pt x="63500" y="152400"/>
                    </a:cubicBezTo>
                    <a:lnTo>
                      <a:pt x="12700" y="152400"/>
                    </a:lnTo>
                    <a:cubicBezTo>
                      <a:pt x="5686" y="152400"/>
                      <a:pt x="0" y="146714"/>
                      <a:pt x="0" y="139700"/>
                    </a:cubicBezTo>
                    <a:lnTo>
                      <a:pt x="0" y="12700"/>
                    </a:lnTo>
                  </a:path>
                </a:pathLst>
              </a:custGeom>
              <a:noFill/>
              <a:ln w="19050">
                <a:solidFill>
                  <a:srgbClr val="C2410C"/>
                </a:solidFill>
              </a:ln>
              <a:effectLst>
                <a:outerShdw blurRad="152400" dist="38100" dir="5400000" algn="ctr" rotWithShape="0">
                  <a:srgbClr val="000000">
                    <a:alpha val="13500"/>
                  </a:srgbClr>
                </a:outerShdw>
              </a:effectLst>
            </p:spPr>
          </p:sp>
          <p:sp>
            <p:nvSpPr>
              <p:cNvPr id="24" name="Freeform 24"/>
              <p:cNvSpPr/>
              <p:nvPr/>
            </p:nvSpPr>
            <p:spPr>
              <a:xfrm>
                <a:off x="9296400" y="3498850"/>
                <a:ext cx="76200" cy="203200"/>
              </a:xfrm>
              <a:custGeom>
                <a:avLst/>
                <a:gdLst/>
                <a:ahLst/>
                <a:cxnLst/>
                <a:rect l="l" t="t" r="r" b="b"/>
                <a:pathLst>
                  <a:path w="76200" h="203200">
                    <a:moveTo>
                      <a:pt x="0" y="12700"/>
                    </a:moveTo>
                    <a:cubicBezTo>
                      <a:pt x="0" y="5686"/>
                      <a:pt x="5686" y="0"/>
                      <a:pt x="12700" y="0"/>
                    </a:cubicBezTo>
                    <a:lnTo>
                      <a:pt x="63500" y="0"/>
                    </a:lnTo>
                    <a:cubicBezTo>
                      <a:pt x="70514" y="0"/>
                      <a:pt x="76200" y="5686"/>
                      <a:pt x="76200" y="12700"/>
                    </a:cubicBezTo>
                    <a:lnTo>
                      <a:pt x="76200" y="190500"/>
                    </a:lnTo>
                    <a:cubicBezTo>
                      <a:pt x="76200" y="197514"/>
                      <a:pt x="70514" y="203200"/>
                      <a:pt x="63500" y="203200"/>
                    </a:cubicBezTo>
                    <a:lnTo>
                      <a:pt x="12700" y="203200"/>
                    </a:lnTo>
                    <a:cubicBezTo>
                      <a:pt x="5686" y="203200"/>
                      <a:pt x="0" y="197514"/>
                      <a:pt x="0" y="190500"/>
                    </a:cubicBezTo>
                    <a:lnTo>
                      <a:pt x="0" y="12700"/>
                    </a:lnTo>
                  </a:path>
                </a:pathLst>
              </a:custGeom>
              <a:noFill/>
              <a:ln w="19050">
                <a:solidFill>
                  <a:srgbClr val="C2410C"/>
                </a:solidFill>
              </a:ln>
              <a:effectLst>
                <a:outerShdw blurRad="152400" dist="38100" dir="5400000" algn="ctr" rotWithShape="0">
                  <a:srgbClr val="000000">
                    <a:alpha val="13500"/>
                  </a:srgbClr>
                </a:outerShdw>
              </a:effectLst>
            </p:spPr>
          </p:sp>
          <p:sp>
            <p:nvSpPr>
              <p:cNvPr id="25" name="Freeform 25"/>
              <p:cNvSpPr/>
              <p:nvPr/>
            </p:nvSpPr>
            <p:spPr>
              <a:xfrm>
                <a:off x="9232900" y="3702050"/>
                <a:ext cx="177800" cy="9525"/>
              </a:xfrm>
              <a:custGeom>
                <a:avLst/>
                <a:gdLst/>
                <a:ahLst/>
                <a:cxnLst/>
                <a:rect l="l" t="t" r="r" b="b"/>
                <a:pathLst>
                  <a:path w="177800" h="9525">
                    <a:moveTo>
                      <a:pt x="0" y="0"/>
                    </a:moveTo>
                    <a:lnTo>
                      <a:pt x="177800" y="0"/>
                    </a:lnTo>
                  </a:path>
                </a:pathLst>
              </a:custGeom>
              <a:noFill/>
              <a:ln w="19050">
                <a:solidFill>
                  <a:srgbClr val="C2410C"/>
                </a:solidFill>
              </a:ln>
              <a:effectLst>
                <a:outerShdw blurRad="152400" dist="38100" dir="5400000" algn="ctr" rotWithShape="0">
                  <a:srgbClr val="000000">
                    <a:alpha val="13500"/>
                  </a:srgbClr>
                </a:outerShdw>
              </a:effectLst>
            </p:spPr>
          </p:sp>
        </p:grpSp>
        <p:sp>
          <p:nvSpPr>
            <p:cNvPr id="27" name="TextBox 27"/>
            <p:cNvSpPr txBox="1"/>
            <p:nvPr/>
          </p:nvSpPr>
          <p:spPr>
            <a:xfrm>
              <a:off x="9550718" y="3571399"/>
              <a:ext cx="622840"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b="1" dirty="0">
                  <a:solidFill>
                    <a:srgbClr val="5A6B7A"/>
                  </a:solidFill>
                  <a:latin typeface="Segoe UI"/>
                  <a:ea typeface="Microsoft YaHei"/>
                  <a:cs typeface="Segoe UI"/>
                </a:rPr>
                <a:t>全国数据</a:t>
              </a:r>
            </a:p>
          </p:txBody>
        </p:sp>
        <p:sp>
          <p:nvSpPr>
            <p:cNvPr id="28" name="TextBox 28"/>
            <p:cNvSpPr txBox="1"/>
            <p:nvPr/>
          </p:nvSpPr>
          <p:spPr>
            <a:xfrm>
              <a:off x="9140190" y="3739515"/>
              <a:ext cx="1930951" cy="67056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3300" b="1" dirty="0">
                  <a:solidFill>
                    <a:srgbClr val="C2410C"/>
                  </a:solidFill>
                  <a:latin typeface="Georgia"/>
                  <a:ea typeface="KaiTi"/>
                  <a:cs typeface="Georgia"/>
                </a:rPr>
                <a:t>3.6</a:t>
              </a:r>
              <a:r>
                <a:rPr lang="zh-CN" sz="1500" dirty="0">
                  <a:solidFill>
                    <a:srgbClr val="5A6B7A"/>
                  </a:solidFill>
                  <a:latin typeface="Georgia"/>
                  <a:ea typeface="KaiTi"/>
                  <a:cs typeface="Georgia"/>
                </a:rPr>
                <a:t>万起</a:t>
              </a:r>
            </a:p>
          </p:txBody>
        </p:sp>
        <p:sp>
          <p:nvSpPr>
            <p:cNvPr id="29" name="TextBox 29"/>
            <p:cNvSpPr txBox="1"/>
            <p:nvPr/>
          </p:nvSpPr>
          <p:spPr>
            <a:xfrm>
              <a:off x="9169718" y="4352449"/>
              <a:ext cx="1114115"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dirty="0">
                  <a:solidFill>
                    <a:srgbClr val="5A6B7A"/>
                  </a:solidFill>
                  <a:latin typeface="Segoe UI"/>
                  <a:ea typeface="Microsoft YaHei"/>
                  <a:cs typeface="Segoe UI"/>
                </a:rPr>
                <a:t>2025 年前 8 个月</a:t>
              </a:r>
            </a:p>
          </p:txBody>
        </p:sp>
        <p:sp>
          <p:nvSpPr>
            <p:cNvPr id="30" name="TextBox 30"/>
            <p:cNvSpPr txBox="1"/>
            <p:nvPr/>
          </p:nvSpPr>
          <p:spPr>
            <a:xfrm>
              <a:off x="9169718" y="4542949"/>
              <a:ext cx="1420273"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dirty="0">
                  <a:solidFill>
                    <a:srgbClr val="5A6B7A"/>
                  </a:solidFill>
                  <a:latin typeface="Segoe UI"/>
                  <a:ea typeface="Microsoft YaHei"/>
                  <a:cs typeface="Segoe UI"/>
                </a:rPr>
                <a:t xml:space="preserve">超过 </a:t>
              </a:r>
              <a:r>
                <a:rPr lang="zh-CN" sz="975" b="1" dirty="0">
                  <a:solidFill>
                    <a:srgbClr val="2B3A4A"/>
                  </a:solidFill>
                  <a:latin typeface="Segoe UI"/>
                  <a:ea typeface="Microsoft YaHei"/>
                  <a:cs typeface="Segoe UI"/>
                </a:rPr>
                <a:t>2023 年全年总量</a:t>
              </a:r>
            </a:p>
          </p:txBody>
        </p:sp>
      </p:grpSp>
      <p:grpSp>
        <p:nvGrpSpPr>
          <p:cNvPr id="44" name="Group 44"/>
          <p:cNvGrpSpPr/>
          <p:nvPr/>
        </p:nvGrpSpPr>
        <p:grpSpPr>
          <a:xfrm>
            <a:off x="6096000" y="4914900"/>
            <a:ext cx="5524500" cy="1143000"/>
            <a:chOff x="6096000" y="4914900"/>
            <a:chExt cx="5524500" cy="1143000"/>
          </a:xfrm>
          <a:effectLst>
            <a:outerShdw blurRad="152400" dist="38100" dir="5400000" algn="ctr" rotWithShape="0">
              <a:srgbClr val="000000">
                <a:alpha val="13500"/>
              </a:srgbClr>
            </a:outerShdw>
          </a:effectLst>
        </p:grpSpPr>
        <p:sp>
          <p:nvSpPr>
            <p:cNvPr id="32" name="Rectangle 32"/>
            <p:cNvSpPr/>
            <p:nvPr/>
          </p:nvSpPr>
          <p:spPr>
            <a:xfrm>
              <a:off x="6096000" y="4914900"/>
              <a:ext cx="5524500" cy="1143000"/>
            </a:xfrm>
            <a:prstGeom prst="roundRect">
              <a:avLst>
                <a:gd name="adj" fmla="val 5000"/>
              </a:avLst>
            </a:prstGeom>
            <a:solidFill>
              <a:srgbClr val="F5F2EC"/>
            </a:solidFill>
            <a:ln>
              <a:noFill/>
            </a:ln>
            <a:effectLst>
              <a:outerShdw blurRad="152400" dist="38100" dir="5400000" algn="ctr" rotWithShape="0">
                <a:srgbClr val="000000">
                  <a:alpha val="13500"/>
                </a:srgbClr>
              </a:outerShdw>
            </a:effectLst>
          </p:spPr>
        </p:sp>
        <p:grpSp>
          <p:nvGrpSpPr>
            <p:cNvPr id="40" name="Group 40"/>
            <p:cNvGrpSpPr/>
            <p:nvPr/>
          </p:nvGrpSpPr>
          <p:grpSpPr>
            <a:xfrm>
              <a:off x="6362700" y="5162550"/>
              <a:ext cx="228600" cy="238125"/>
              <a:chOff x="6362700" y="5162550"/>
              <a:chExt cx="228600" cy="238125"/>
            </a:xfrm>
          </p:grpSpPr>
          <p:sp>
            <p:nvSpPr>
              <p:cNvPr id="33" name="Freeform 33"/>
              <p:cNvSpPr/>
              <p:nvPr/>
            </p:nvSpPr>
            <p:spPr>
              <a:xfrm>
                <a:off x="6362700" y="5391150"/>
                <a:ext cx="228600" cy="9525"/>
              </a:xfrm>
              <a:custGeom>
                <a:avLst/>
                <a:gdLst/>
                <a:ahLst/>
                <a:cxnLst/>
                <a:rect l="l" t="t" r="r" b="b"/>
                <a:pathLst>
                  <a:path w="228600" h="9525">
                    <a:moveTo>
                      <a:pt x="0" y="0"/>
                    </a:moveTo>
                    <a:lnTo>
                      <a:pt x="228600" y="0"/>
                    </a:lnTo>
                  </a:path>
                </a:pathLst>
              </a:custGeom>
              <a:noFill/>
              <a:ln w="19050">
                <a:solidFill>
                  <a:srgbClr val="2B3A4A"/>
                </a:solidFill>
              </a:ln>
              <a:effectLst>
                <a:outerShdw blurRad="152400" dist="38100" dir="5400000" algn="ctr" rotWithShape="0">
                  <a:srgbClr val="000000">
                    <a:alpha val="13500"/>
                  </a:srgbClr>
                </a:outerShdw>
              </a:effectLst>
            </p:spPr>
          </p:sp>
          <p:sp>
            <p:nvSpPr>
              <p:cNvPr id="34" name="Freeform 34"/>
              <p:cNvSpPr/>
              <p:nvPr/>
            </p:nvSpPr>
            <p:spPr>
              <a:xfrm>
                <a:off x="6388100" y="5162550"/>
                <a:ext cx="101600" cy="228600"/>
              </a:xfrm>
              <a:custGeom>
                <a:avLst/>
                <a:gdLst/>
                <a:ahLst/>
                <a:cxnLst/>
                <a:rect l="l" t="t" r="r" b="b"/>
                <a:pathLst>
                  <a:path w="101600" h="228600">
                    <a:moveTo>
                      <a:pt x="0" y="228600"/>
                    </a:moveTo>
                    <a:lnTo>
                      <a:pt x="0" y="50800"/>
                    </a:lnTo>
                    <a:lnTo>
                      <a:pt x="101600" y="0"/>
                    </a:lnTo>
                    <a:lnTo>
                      <a:pt x="101600" y="228600"/>
                    </a:lnTo>
                  </a:path>
                </a:pathLst>
              </a:custGeom>
              <a:noFill/>
              <a:ln w="19050">
                <a:solidFill>
                  <a:srgbClr val="2B3A4A"/>
                </a:solidFill>
              </a:ln>
              <a:effectLst>
                <a:outerShdw blurRad="152400" dist="38100" dir="5400000" algn="ctr" rotWithShape="0">
                  <a:srgbClr val="000000">
                    <a:alpha val="13500"/>
                  </a:srgbClr>
                </a:outerShdw>
              </a:effectLst>
            </p:spPr>
          </p:sp>
          <p:sp>
            <p:nvSpPr>
              <p:cNvPr id="35" name="Freeform 35"/>
              <p:cNvSpPr/>
              <p:nvPr/>
            </p:nvSpPr>
            <p:spPr>
              <a:xfrm>
                <a:off x="6489700" y="5213350"/>
                <a:ext cx="76200" cy="177800"/>
              </a:xfrm>
              <a:custGeom>
                <a:avLst/>
                <a:gdLst/>
                <a:ahLst/>
                <a:cxnLst/>
                <a:rect l="l" t="t" r="r" b="b"/>
                <a:pathLst>
                  <a:path w="76200" h="177800">
                    <a:moveTo>
                      <a:pt x="76200" y="177800"/>
                    </a:moveTo>
                    <a:lnTo>
                      <a:pt x="76200" y="50800"/>
                    </a:lnTo>
                    <a:lnTo>
                      <a:pt x="0" y="0"/>
                    </a:lnTo>
                  </a:path>
                </a:pathLst>
              </a:custGeom>
              <a:noFill/>
              <a:ln w="19050">
                <a:solidFill>
                  <a:srgbClr val="2B3A4A"/>
                </a:solidFill>
              </a:ln>
              <a:effectLst>
                <a:outerShdw blurRad="152400" dist="38100" dir="5400000" algn="ctr" rotWithShape="0">
                  <a:srgbClr val="000000">
                    <a:alpha val="13500"/>
                  </a:srgbClr>
                </a:outerShdw>
              </a:effectLst>
            </p:spPr>
          </p:sp>
          <p:sp>
            <p:nvSpPr>
              <p:cNvPr id="36" name="Freeform 36"/>
              <p:cNvSpPr/>
              <p:nvPr/>
            </p:nvSpPr>
            <p:spPr>
              <a:xfrm>
                <a:off x="6438900" y="5238750"/>
                <a:ext cx="9525" cy="9525"/>
              </a:xfrm>
              <a:custGeom>
                <a:avLst/>
                <a:gdLst/>
                <a:ahLst/>
                <a:cxnLst/>
                <a:rect l="l" t="t" r="r" b="b"/>
                <a:pathLst>
                  <a:path w="9525" h="9525">
                    <a:moveTo>
                      <a:pt x="0" y="0"/>
                    </a:moveTo>
                    <a:lnTo>
                      <a:pt x="0" y="127"/>
                    </a:lnTo>
                  </a:path>
                </a:pathLst>
              </a:custGeom>
              <a:noFill/>
              <a:ln w="19050">
                <a:solidFill>
                  <a:srgbClr val="2B3A4A"/>
                </a:solidFill>
              </a:ln>
              <a:effectLst>
                <a:outerShdw blurRad="152400" dist="38100" dir="5400000" algn="ctr" rotWithShape="0">
                  <a:srgbClr val="000000">
                    <a:alpha val="13500"/>
                  </a:srgbClr>
                </a:outerShdw>
              </a:effectLst>
            </p:spPr>
          </p:sp>
          <p:sp>
            <p:nvSpPr>
              <p:cNvPr id="37" name="Freeform 37"/>
              <p:cNvSpPr/>
              <p:nvPr/>
            </p:nvSpPr>
            <p:spPr>
              <a:xfrm>
                <a:off x="6438900" y="5276850"/>
                <a:ext cx="9525" cy="9525"/>
              </a:xfrm>
              <a:custGeom>
                <a:avLst/>
                <a:gdLst/>
                <a:ahLst/>
                <a:cxnLst/>
                <a:rect l="l" t="t" r="r" b="b"/>
                <a:pathLst>
                  <a:path w="9525" h="9525">
                    <a:moveTo>
                      <a:pt x="0" y="0"/>
                    </a:moveTo>
                    <a:lnTo>
                      <a:pt x="0" y="127"/>
                    </a:lnTo>
                  </a:path>
                </a:pathLst>
              </a:custGeom>
              <a:noFill/>
              <a:ln w="19050">
                <a:solidFill>
                  <a:srgbClr val="2B3A4A"/>
                </a:solidFill>
              </a:ln>
              <a:effectLst>
                <a:outerShdw blurRad="152400" dist="38100" dir="5400000" algn="ctr" rotWithShape="0">
                  <a:srgbClr val="000000">
                    <a:alpha val="13500"/>
                  </a:srgbClr>
                </a:outerShdw>
              </a:effectLst>
            </p:spPr>
          </p:sp>
          <p:sp>
            <p:nvSpPr>
              <p:cNvPr id="38" name="Freeform 38"/>
              <p:cNvSpPr/>
              <p:nvPr/>
            </p:nvSpPr>
            <p:spPr>
              <a:xfrm>
                <a:off x="6438900" y="5314950"/>
                <a:ext cx="9525" cy="9525"/>
              </a:xfrm>
              <a:custGeom>
                <a:avLst/>
                <a:gdLst/>
                <a:ahLst/>
                <a:cxnLst/>
                <a:rect l="l" t="t" r="r" b="b"/>
                <a:pathLst>
                  <a:path w="9525" h="9525">
                    <a:moveTo>
                      <a:pt x="0" y="0"/>
                    </a:moveTo>
                    <a:lnTo>
                      <a:pt x="0" y="127"/>
                    </a:lnTo>
                  </a:path>
                </a:pathLst>
              </a:custGeom>
              <a:noFill/>
              <a:ln w="19050">
                <a:solidFill>
                  <a:srgbClr val="2B3A4A"/>
                </a:solidFill>
              </a:ln>
              <a:effectLst>
                <a:outerShdw blurRad="152400" dist="38100" dir="5400000" algn="ctr" rotWithShape="0">
                  <a:srgbClr val="000000">
                    <a:alpha val="13500"/>
                  </a:srgbClr>
                </a:outerShdw>
              </a:effectLst>
            </p:spPr>
          </p:sp>
          <p:sp>
            <p:nvSpPr>
              <p:cNvPr id="39" name="Freeform 39"/>
              <p:cNvSpPr/>
              <p:nvPr/>
            </p:nvSpPr>
            <p:spPr>
              <a:xfrm>
                <a:off x="6438900" y="5353050"/>
                <a:ext cx="9525" cy="9525"/>
              </a:xfrm>
              <a:custGeom>
                <a:avLst/>
                <a:gdLst/>
                <a:ahLst/>
                <a:cxnLst/>
                <a:rect l="l" t="t" r="r" b="b"/>
                <a:pathLst>
                  <a:path w="9525" h="9525">
                    <a:moveTo>
                      <a:pt x="0" y="0"/>
                    </a:moveTo>
                    <a:lnTo>
                      <a:pt x="0" y="127"/>
                    </a:lnTo>
                  </a:path>
                </a:pathLst>
              </a:custGeom>
              <a:noFill/>
              <a:ln w="19050">
                <a:solidFill>
                  <a:srgbClr val="2B3A4A"/>
                </a:solidFill>
              </a:ln>
              <a:effectLst>
                <a:outerShdw blurRad="152400" dist="38100" dir="5400000" algn="ctr" rotWithShape="0">
                  <a:srgbClr val="000000">
                    <a:alpha val="13500"/>
                  </a:srgbClr>
                </a:outerShdw>
              </a:effectLst>
            </p:spPr>
          </p:sp>
        </p:grpSp>
        <p:sp>
          <p:nvSpPr>
            <p:cNvPr id="41" name="TextBox 41"/>
            <p:cNvSpPr txBox="1"/>
            <p:nvPr/>
          </p:nvSpPr>
          <p:spPr>
            <a:xfrm>
              <a:off x="6693218" y="5247799"/>
              <a:ext cx="622840" cy="19812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975" b="1" dirty="0">
                  <a:solidFill>
                    <a:srgbClr val="5A6B7A"/>
                  </a:solidFill>
                  <a:latin typeface="Segoe UI"/>
                  <a:ea typeface="Microsoft YaHei"/>
                  <a:cs typeface="Segoe UI"/>
                </a:rPr>
                <a:t>救援困局</a:t>
              </a:r>
            </a:p>
          </p:txBody>
        </p:sp>
        <p:sp>
          <p:nvSpPr>
            <p:cNvPr id="42" name="TextBox 42"/>
            <p:cNvSpPr txBox="1"/>
            <p:nvPr/>
          </p:nvSpPr>
          <p:spPr>
            <a:xfrm>
              <a:off x="6308408" y="5577364"/>
              <a:ext cx="2704552" cy="25908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1275" dirty="0">
                  <a:solidFill>
                    <a:srgbClr val="2B3A4A"/>
                  </a:solidFill>
                  <a:latin typeface="Segoe UI"/>
                  <a:ea typeface="Microsoft YaHei"/>
                  <a:cs typeface="Segoe UI"/>
                </a:rPr>
                <a:t xml:space="preserve">地面消防救援高度通常 </a:t>
              </a:r>
              <a:r>
                <a:rPr lang="zh-CN" sz="1275" b="1" dirty="0">
                  <a:solidFill>
                    <a:srgbClr val="C2410C"/>
                  </a:solidFill>
                  <a:latin typeface="Segoe UI"/>
                  <a:ea typeface="Microsoft YaHei"/>
                  <a:cs typeface="Segoe UI"/>
                </a:rPr>
                <a:t>50–80 米</a:t>
              </a:r>
            </a:p>
          </p:txBody>
        </p:sp>
        <p:sp>
          <p:nvSpPr>
            <p:cNvPr id="43" name="TextBox 43"/>
            <p:cNvSpPr txBox="1"/>
            <p:nvPr/>
          </p:nvSpPr>
          <p:spPr>
            <a:xfrm>
              <a:off x="6310312" y="5822156"/>
              <a:ext cx="4300537" cy="228600"/>
            </a:xfrm>
            <a:prstGeom prst="rect">
              <a:avLst/>
            </a:prstGeom>
            <a:noFill/>
            <a:ln>
              <a:noFill/>
            </a:ln>
            <a:effectLst>
              <a:outerShdw blurRad="152400" dist="38100" dir="5400000" algn="ctr" rotWithShape="0">
                <a:srgbClr val="000000">
                  <a:alpha val="13500"/>
                </a:srgbClr>
              </a:outerShdw>
            </a:effectLst>
          </p:spPr>
          <p:txBody>
            <a:bodyPr wrap="none" lIns="0" tIns="0" rIns="0" bIns="0" anchor="t" anchorCtr="0">
              <a:spAutoFit/>
            </a:bodyPr>
            <a:lstStyle/>
            <a:p>
              <a:pPr algn="l"/>
              <a:r>
                <a:rPr lang="zh-CN" sz="1125" dirty="0">
                  <a:solidFill>
                    <a:srgbClr val="5A6B7A"/>
                  </a:solidFill>
                  <a:latin typeface="Segoe UI"/>
                  <a:ea typeface="Microsoft YaHei"/>
                  <a:cs typeface="Segoe UI"/>
                </a:rPr>
                <a:t>超过 100 米的建筑，救援工作主要靠建筑内部消防设施自救</a:t>
              </a:r>
            </a:p>
          </p:txBody>
        </p:sp>
      </p:grpSp>
      <p:grpSp>
        <p:nvGrpSpPr>
          <p:cNvPr id="47" name="Group 47"/>
          <p:cNvGrpSpPr/>
          <p:nvPr/>
        </p:nvGrpSpPr>
        <p:grpSpPr>
          <a:xfrm>
            <a:off x="560070" y="6522720"/>
            <a:ext cx="11071860" cy="182880"/>
            <a:chOff x="560070" y="6522720"/>
            <a:chExt cx="11071860" cy="182880"/>
          </a:xfrm>
        </p:grpSpPr>
        <p:sp>
          <p:nvSpPr>
            <p:cNvPr id="45" name="TextBox 45"/>
            <p:cNvSpPr txBox="1"/>
            <p:nvPr/>
          </p:nvSpPr>
          <p:spPr>
            <a:xfrm>
              <a:off x="560070" y="6522720"/>
              <a:ext cx="1074420" cy="182880"/>
            </a:xfrm>
            <a:prstGeom prst="rect">
              <a:avLst/>
            </a:prstGeom>
            <a:noFill/>
            <a:ln>
              <a:noFill/>
            </a:ln>
          </p:spPr>
          <p:txBody>
            <a:bodyPr wrap="none" lIns="0" tIns="0" rIns="0" bIns="0" anchor="t" anchorCtr="0">
              <a:spAutoFit/>
            </a:bodyPr>
            <a:lstStyle/>
            <a:p>
              <a:pPr algn="l"/>
              <a:r>
                <a:rPr lang="zh-CN" sz="900" dirty="0">
                  <a:solidFill>
                    <a:srgbClr val="A8B0B8"/>
                  </a:solidFill>
                  <a:latin typeface="Segoe UI"/>
                  <a:ea typeface="Microsoft YaHei"/>
                  <a:cs typeface="Segoe UI"/>
                </a:rPr>
                <a:t>数据来源：央广网</a:t>
              </a:r>
            </a:p>
          </p:txBody>
        </p:sp>
        <p:sp>
          <p:nvSpPr>
            <p:cNvPr id="46" name="TextBox 46"/>
            <p:cNvSpPr txBox="1"/>
            <p:nvPr/>
          </p:nvSpPr>
          <p:spPr>
            <a:xfrm>
              <a:off x="11201590" y="6522720"/>
              <a:ext cx="430340" cy="182880"/>
            </a:xfrm>
            <a:prstGeom prst="rect">
              <a:avLst/>
            </a:prstGeom>
            <a:noFill/>
            <a:ln>
              <a:noFill/>
            </a:ln>
          </p:spPr>
          <p:txBody>
            <a:bodyPr wrap="none" lIns="0" tIns="0" rIns="0" bIns="0" anchor="t" anchorCtr="0">
              <a:spAutoFit/>
            </a:bodyPr>
            <a:lstStyle/>
            <a:p>
              <a:pPr algn="r"/>
              <a:r>
                <a:rPr lang="zh-CN" sz="900" dirty="0">
                  <a:solidFill>
                    <a:srgbClr val="A8B0B8"/>
                  </a:solidFill>
                  <a:latin typeface="Georgia"/>
                  <a:ea typeface="SimSun"/>
                  <a:cs typeface="Georgia"/>
                </a:rPr>
                <a:t>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randombar(horizontal)">
                                      <p:cBhvr>
                                        <p:cTn id="11" dur="400"/>
                                        <p:tgtEl>
                                          <p:spTgt spid="20"/>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ox(in)">
                                      <p:cBhvr>
                                        <p:cTn id="15" dur="400"/>
                                        <p:tgtEl>
                                          <p:spTgt spid="31"/>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barn(inVertical)">
                                      <p:cBhvr>
                                        <p:cTn id="19"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31" grpId="0"/>
      <p:bldP spid="4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0" y="0"/>
            <a:ext cx="4191000" cy="6858000"/>
            <a:chOff x="0" y="0"/>
            <a:chExt cx="4191000" cy="6858000"/>
          </a:xfrm>
        </p:grpSpPr>
        <p:pic>
          <p:nvPicPr>
            <p:cNvPr id="3" name="Image 3"/>
            <p:cNvPicPr>
              <a:picLocks noChangeAspect="1"/>
            </p:cNvPicPr>
            <p:nvPr/>
          </p:nvPicPr>
          <p:blipFill>
            <a:blip r:embed="rId2"/>
            <a:srcRect l="9259" t="0" r="9259" b="0"/>
            <a:stretch>
              <a:fillRect/>
            </a:stretch>
          </p:blipFill>
          <p:spPr>
            <a:xfrm>
              <a:off x="0" y="0"/>
              <a:ext cx="4191000" cy="6858000"/>
            </a:xfrm>
            <a:prstGeom prst="rect">
              <a:avLst/>
            </a:prstGeom>
          </p:spPr>
        </p:pic>
        <p:sp>
          <p:nvSpPr>
            <p:cNvPr id="4" name="Rectangle 4"/>
            <p:cNvSpPr/>
            <p:nvPr/>
          </p:nvSpPr>
          <p:spPr>
            <a:xfrm>
              <a:off x="0" y="0"/>
              <a:ext cx="4191000" cy="6858000"/>
            </a:xfrm>
            <a:prstGeom prst="rect">
              <a:avLst/>
            </a:prstGeom>
            <a:gradFill>
              <a:gsLst>
                <a:gs pos="0">
                  <a:srgbClr val="2B3A4A">
                    <a:alpha val="0"/>
                  </a:srgbClr>
                </a:gs>
                <a:gs pos="100000">
                  <a:srgbClr val="2B3A4A">
                    <a:alpha val="35000"/>
                  </a:srgbClr>
                </a:gs>
              </a:gsLst>
              <a:lin ang="0" scaled="1"/>
            </a:gradFill>
            <a:ln>
              <a:noFill/>
            </a:ln>
          </p:spPr>
        </p:sp>
        <p:sp>
          <p:nvSpPr>
            <p:cNvPr id="5" name="TextBox 5"/>
            <p:cNvSpPr txBox="1"/>
            <p:nvPr/>
          </p:nvSpPr>
          <p:spPr>
            <a:xfrm>
              <a:off x="294322" y="6483191"/>
              <a:ext cx="882467" cy="167640"/>
            </a:xfrm>
            <a:prstGeom prst="rect">
              <a:avLst/>
            </a:prstGeom>
            <a:noFill/>
            <a:ln>
              <a:noFill/>
            </a:ln>
          </p:spPr>
          <p:txBody>
            <a:bodyPr wrap="none" lIns="0" tIns="0" rIns="0" bIns="0" anchor="t" anchorCtr="0">
              <a:spAutoFit/>
            </a:bodyPr>
            <a:lstStyle/>
            <a:p>
              <a:pPr algn="l"/>
              <a:r>
                <a:rPr lang="zh-CN" sz="825" dirty="0">
                  <a:solidFill>
                    <a:srgbClr val="F5F2EC">
                      <a:alphaMod val="70000"/>
                    </a:srgbClr>
                  </a:solidFill>
                  <a:latin typeface="Segoe UI"/>
                  <a:ea typeface="Microsoft YaHei"/>
                  <a:cs typeface="Segoe UI"/>
                </a:rPr>
                <a:t>图源：unsplash</a:t>
              </a:r>
            </a:p>
          </p:txBody>
        </p:sp>
      </p:grpSp>
      <p:grpSp>
        <p:nvGrpSpPr>
          <p:cNvPr id="9" name="Group 9"/>
          <p:cNvGrpSpPr/>
          <p:nvPr/>
        </p:nvGrpSpPr>
        <p:grpSpPr>
          <a:xfrm>
            <a:off x="4762500" y="571500"/>
            <a:ext cx="1226366" cy="321469"/>
            <a:chOff x="4762500" y="571500"/>
            <a:chExt cx="1226366" cy="321469"/>
          </a:xfrm>
        </p:grpSpPr>
        <p:sp>
          <p:nvSpPr>
            <p:cNvPr id="7" name="Rectangle 7"/>
            <p:cNvSpPr/>
            <p:nvPr/>
          </p:nvSpPr>
          <p:spPr>
            <a:xfrm>
              <a:off x="4762500" y="571500"/>
              <a:ext cx="28575" cy="304800"/>
            </a:xfrm>
            <a:prstGeom prst="rect">
              <a:avLst/>
            </a:prstGeom>
            <a:solidFill>
              <a:srgbClr val="C2410C"/>
            </a:solidFill>
            <a:ln>
              <a:noFill/>
            </a:ln>
          </p:spPr>
        </p:sp>
        <p:sp>
          <p:nvSpPr>
            <p:cNvPr id="8" name="TextBox 8"/>
            <p:cNvSpPr txBox="1"/>
            <p:nvPr/>
          </p:nvSpPr>
          <p:spPr>
            <a:xfrm>
              <a:off x="4902518" y="694849"/>
              <a:ext cx="1086348"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 · 警钟 · AGING</a:t>
              </a:r>
            </a:p>
          </p:txBody>
        </p:sp>
      </p:grpSp>
      <p:grpSp>
        <p:nvGrpSpPr>
          <p:cNvPr id="13" name="Group 13"/>
          <p:cNvGrpSpPr/>
          <p:nvPr/>
        </p:nvGrpSpPr>
        <p:grpSpPr>
          <a:xfrm>
            <a:off x="4724400" y="1295400"/>
            <a:ext cx="5136832" cy="1076325"/>
            <a:chOff x="4724400" y="1295400"/>
            <a:chExt cx="5136832" cy="1076325"/>
          </a:xfrm>
        </p:grpSpPr>
        <p:sp>
          <p:nvSpPr>
            <p:cNvPr id="10" name="TextBox 10"/>
            <p:cNvSpPr txBox="1"/>
            <p:nvPr/>
          </p:nvSpPr>
          <p:spPr>
            <a:xfrm>
              <a:off x="4724400" y="1295400"/>
              <a:ext cx="3296602" cy="609600"/>
            </a:xfrm>
            <a:prstGeom prst="rect">
              <a:avLst/>
            </a:prstGeom>
            <a:noFill/>
            <a:ln>
              <a:noFill/>
            </a:ln>
          </p:spPr>
          <p:txBody>
            <a:bodyPr wrap="none" lIns="0" tIns="0" rIns="0" bIns="0" anchor="t" anchorCtr="0">
              <a:spAutoFit/>
            </a:bodyPr>
            <a:lstStyle/>
            <a:p>
              <a:pPr algn="l"/>
              <a:r>
                <a:rPr lang="zh-CN" sz="3000" b="1" dirty="0">
                  <a:solidFill>
                    <a:srgbClr val="2B3A4A"/>
                  </a:solidFill>
                  <a:latin typeface="Georgia"/>
                  <a:ea typeface="KaiTi"/>
                  <a:cs typeface="Georgia"/>
                </a:rPr>
                <a:t>当年的繁荣象征</a:t>
              </a:r>
            </a:p>
          </p:txBody>
        </p:sp>
        <p:sp>
          <p:nvSpPr>
            <p:cNvPr id="11" name="TextBox 11"/>
            <p:cNvSpPr txBox="1"/>
            <p:nvPr/>
          </p:nvSpPr>
          <p:spPr>
            <a:xfrm>
              <a:off x="4724400" y="1752600"/>
              <a:ext cx="5136832" cy="609600"/>
            </a:xfrm>
            <a:prstGeom prst="rect">
              <a:avLst/>
            </a:prstGeom>
            <a:noFill/>
            <a:ln>
              <a:noFill/>
            </a:ln>
          </p:spPr>
          <p:txBody>
            <a:bodyPr wrap="none" lIns="0" tIns="0" rIns="0" bIns="0" anchor="t" anchorCtr="0">
              <a:spAutoFit/>
            </a:bodyPr>
            <a:lstStyle/>
            <a:p>
              <a:pPr algn="l"/>
              <a:r>
                <a:rPr lang="zh-CN" sz="3000" b="1" dirty="0">
                  <a:solidFill>
                    <a:srgbClr val="2B3A4A"/>
                  </a:solidFill>
                  <a:latin typeface="Georgia"/>
                  <a:ea typeface="KaiTi"/>
                  <a:cs typeface="Georgia"/>
                </a:rPr>
                <a:t>正在变成沉重的</a:t>
              </a:r>
              <a:r>
                <a:rPr lang="zh-CN" sz="3000" b="1" dirty="0">
                  <a:solidFill>
                    <a:srgbClr val="C2410C"/>
                  </a:solidFill>
                  <a:latin typeface="Georgia"/>
                  <a:ea typeface="KaiTi"/>
                  <a:cs typeface="Georgia"/>
                </a:rPr>
                <a:t>维修负担</a:t>
              </a:r>
            </a:p>
          </p:txBody>
        </p:sp>
        <p:sp>
          <p:nvSpPr>
            <p:cNvPr id="12" name="Line 12"/>
            <p:cNvSpPr/>
            <p:nvPr/>
          </p:nvSpPr>
          <p:spPr>
            <a:xfrm>
              <a:off x="4762500" y="2362200"/>
              <a:ext cx="952500" cy="9525"/>
            </a:xfrm>
            <a:custGeom>
              <a:avLst/>
              <a:gdLst/>
              <a:ahLst/>
              <a:cxnLst/>
              <a:rect l="l" t="t" r="r" b="b"/>
              <a:pathLst>
                <a:path w="952500" h="9525">
                  <a:moveTo>
                    <a:pt x="0" y="0"/>
                  </a:moveTo>
                  <a:lnTo>
                    <a:pt x="952500" y="0"/>
                  </a:lnTo>
                </a:path>
              </a:pathLst>
            </a:custGeom>
            <a:noFill/>
            <a:ln w="19050">
              <a:solidFill>
                <a:srgbClr val="C2410C"/>
              </a:solidFill>
            </a:ln>
          </p:spPr>
        </p:sp>
      </p:grpSp>
      <p:grpSp>
        <p:nvGrpSpPr>
          <p:cNvPr id="20" name="Group 20"/>
          <p:cNvGrpSpPr/>
          <p:nvPr/>
        </p:nvGrpSpPr>
        <p:grpSpPr>
          <a:xfrm>
            <a:off x="4795838" y="2852738"/>
            <a:ext cx="3184588" cy="842962"/>
            <a:chOff x="4795838" y="2852738"/>
            <a:chExt cx="3184588" cy="842962"/>
          </a:xfrm>
        </p:grpSpPr>
        <p:grpSp>
          <p:nvGrpSpPr>
            <p:cNvPr id="16" name="Group 16"/>
            <p:cNvGrpSpPr/>
            <p:nvPr/>
          </p:nvGrpSpPr>
          <p:grpSpPr>
            <a:xfrm>
              <a:off x="4795838" y="2852738"/>
              <a:ext cx="200025" cy="200025"/>
              <a:chOff x="4795838" y="2852738"/>
              <a:chExt cx="200025" cy="200025"/>
            </a:xfrm>
          </p:grpSpPr>
          <p:sp>
            <p:nvSpPr>
              <p:cNvPr id="14" name="Freeform 14"/>
              <p:cNvSpPr/>
              <p:nvPr/>
            </p:nvSpPr>
            <p:spPr>
              <a:xfrm>
                <a:off x="4795838" y="28527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8B7355"/>
                </a:solidFill>
              </a:ln>
            </p:spPr>
          </p:sp>
          <p:sp>
            <p:nvSpPr>
              <p:cNvPr id="15" name="Freeform 15"/>
              <p:cNvSpPr/>
              <p:nvPr/>
            </p:nvSpPr>
            <p:spPr>
              <a:xfrm>
                <a:off x="4895850" y="2897188"/>
                <a:ext cx="33338" cy="88900"/>
              </a:xfrm>
              <a:custGeom>
                <a:avLst/>
                <a:gdLst/>
                <a:ahLst/>
                <a:cxnLst/>
                <a:rect l="l" t="t" r="r" b="b"/>
                <a:pathLst>
                  <a:path w="33338" h="88900">
                    <a:moveTo>
                      <a:pt x="0" y="0"/>
                    </a:moveTo>
                    <a:lnTo>
                      <a:pt x="0" y="55562"/>
                    </a:lnTo>
                    <a:lnTo>
                      <a:pt x="33338" y="88900"/>
                    </a:lnTo>
                  </a:path>
                </a:pathLst>
              </a:custGeom>
              <a:noFill/>
              <a:ln w="19050">
                <a:solidFill>
                  <a:srgbClr val="8B7355"/>
                </a:solidFill>
              </a:ln>
            </p:spPr>
          </p:sp>
        </p:grpSp>
        <p:sp>
          <p:nvSpPr>
            <p:cNvPr id="17" name="TextBox 17"/>
            <p:cNvSpPr txBox="1"/>
            <p:nvPr/>
          </p:nvSpPr>
          <p:spPr>
            <a:xfrm>
              <a:off x="5124450" y="2867025"/>
              <a:ext cx="1521785" cy="304800"/>
            </a:xfrm>
            <a:prstGeom prst="rect">
              <a:avLst/>
            </a:prstGeom>
            <a:noFill/>
            <a:ln>
              <a:noFill/>
            </a:ln>
          </p:spPr>
          <p:txBody>
            <a:bodyPr wrap="none" lIns="0" tIns="0" rIns="0" bIns="0" anchor="t" anchorCtr="0">
              <a:spAutoFit/>
            </a:bodyPr>
            <a:lstStyle/>
            <a:p>
              <a:pPr algn="l"/>
              <a:r>
                <a:rPr lang="zh-CN" sz="1500" b="1" dirty="0">
                  <a:solidFill>
                    <a:srgbClr val="2B3A4A"/>
                  </a:solidFill>
                  <a:latin typeface="Segoe UI"/>
                  <a:ea typeface="Microsoft YaHei"/>
                  <a:cs typeface="Segoe UI"/>
                </a:rPr>
                <a:t>建成 10 余年后</a:t>
              </a:r>
            </a:p>
          </p:txBody>
        </p:sp>
        <p:sp>
          <p:nvSpPr>
            <p:cNvPr id="18" name="TextBox 18"/>
            <p:cNvSpPr txBox="1"/>
            <p:nvPr/>
          </p:nvSpPr>
          <p:spPr>
            <a:xfrm>
              <a:off x="5128260" y="3204210"/>
              <a:ext cx="2852166"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结构、消防、电梯、外墙、给排水……</a:t>
              </a:r>
            </a:p>
          </p:txBody>
        </p:sp>
        <p:sp>
          <p:nvSpPr>
            <p:cNvPr id="19" name="TextBox 19"/>
            <p:cNvSpPr txBox="1"/>
            <p:nvPr/>
          </p:nvSpPr>
          <p:spPr>
            <a:xfrm>
              <a:off x="5128260" y="3451860"/>
              <a:ext cx="1783080"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各类风险开始</a:t>
              </a:r>
              <a:r>
                <a:rPr lang="zh-CN" sz="1200" b="1" dirty="0">
                  <a:solidFill>
                    <a:srgbClr val="C2410C"/>
                  </a:solidFill>
                  <a:latin typeface="Segoe UI"/>
                  <a:ea typeface="Microsoft YaHei"/>
                  <a:cs typeface="Segoe UI"/>
                </a:rPr>
                <a:t>密集显现</a:t>
              </a:r>
            </a:p>
          </p:txBody>
        </p:sp>
      </p:grpSp>
      <p:grpSp>
        <p:nvGrpSpPr>
          <p:cNvPr id="25" name="Group 25"/>
          <p:cNvGrpSpPr/>
          <p:nvPr/>
        </p:nvGrpSpPr>
        <p:grpSpPr>
          <a:xfrm>
            <a:off x="4789217" y="3989117"/>
            <a:ext cx="3348943" cy="849583"/>
            <a:chOff x="4789217" y="3989117"/>
            <a:chExt cx="3348943" cy="849583"/>
          </a:xfrm>
        </p:grpSpPr>
        <p:sp>
          <p:nvSpPr>
            <p:cNvPr id="21" name="Freeform 21"/>
            <p:cNvSpPr/>
            <p:nvPr/>
          </p:nvSpPr>
          <p:spPr>
            <a:xfrm>
              <a:off x="4789217" y="3989117"/>
              <a:ext cx="210296" cy="210296"/>
            </a:xfrm>
            <a:custGeom>
              <a:avLst/>
              <a:gdLst/>
              <a:ahLst/>
              <a:cxnLst/>
              <a:rect l="l" t="t" r="r" b="b"/>
              <a:pathLst>
                <a:path w="210296" h="210296">
                  <a:moveTo>
                    <a:pt x="51071" y="84408"/>
                  </a:moveTo>
                  <a:lnTo>
                    <a:pt x="84408" y="84408"/>
                  </a:lnTo>
                  <a:lnTo>
                    <a:pt x="84408" y="51071"/>
                  </a:lnTo>
                  <a:lnTo>
                    <a:pt x="45515" y="12177"/>
                  </a:lnTo>
                  <a:cubicBezTo>
                    <a:pt x="71012" y="0"/>
                    <a:pt x="101416" y="5216"/>
                    <a:pt x="121396" y="25196"/>
                  </a:cubicBezTo>
                  <a:cubicBezTo>
                    <a:pt x="141375" y="45176"/>
                    <a:pt x="146592" y="75580"/>
                    <a:pt x="134415" y="101077"/>
                  </a:cubicBezTo>
                  <a:lnTo>
                    <a:pt x="201090" y="167752"/>
                  </a:lnTo>
                  <a:cubicBezTo>
                    <a:pt x="210296" y="176958"/>
                    <a:pt x="210296" y="191884"/>
                    <a:pt x="201090" y="201090"/>
                  </a:cubicBezTo>
                  <a:cubicBezTo>
                    <a:pt x="191884" y="210296"/>
                    <a:pt x="176958" y="210296"/>
                    <a:pt x="167752" y="201090"/>
                  </a:cubicBezTo>
                  <a:lnTo>
                    <a:pt x="101077" y="134415"/>
                  </a:lnTo>
                  <a:cubicBezTo>
                    <a:pt x="75580" y="146592"/>
                    <a:pt x="45176" y="141375"/>
                    <a:pt x="25196" y="121396"/>
                  </a:cubicBezTo>
                  <a:cubicBezTo>
                    <a:pt x="5216" y="101416"/>
                    <a:pt x="0" y="71012"/>
                    <a:pt x="12177" y="45515"/>
                  </a:cubicBezTo>
                  <a:lnTo>
                    <a:pt x="51071" y="84408"/>
                  </a:lnTo>
                </a:path>
              </a:pathLst>
            </a:custGeom>
            <a:noFill/>
            <a:ln w="19050">
              <a:solidFill>
                <a:srgbClr val="8B7355"/>
              </a:solidFill>
            </a:ln>
          </p:spPr>
        </p:sp>
        <p:sp>
          <p:nvSpPr>
            <p:cNvPr id="22" name="TextBox 22"/>
            <p:cNvSpPr txBox="1"/>
            <p:nvPr/>
          </p:nvSpPr>
          <p:spPr>
            <a:xfrm>
              <a:off x="5124450" y="4010025"/>
              <a:ext cx="2108359" cy="304800"/>
            </a:xfrm>
            <a:prstGeom prst="rect">
              <a:avLst/>
            </a:prstGeom>
            <a:noFill/>
            <a:ln>
              <a:noFill/>
            </a:ln>
          </p:spPr>
          <p:txBody>
            <a:bodyPr wrap="none" lIns="0" tIns="0" rIns="0" bIns="0" anchor="t" anchorCtr="0">
              <a:spAutoFit/>
            </a:bodyPr>
            <a:lstStyle/>
            <a:p>
              <a:pPr algn="l"/>
              <a:r>
                <a:rPr lang="zh-CN" sz="1500" b="1" dirty="0">
                  <a:solidFill>
                    <a:srgbClr val="2B3A4A"/>
                  </a:solidFill>
                  <a:latin typeface="Segoe UI"/>
                  <a:ea typeface="Microsoft YaHei"/>
                  <a:cs typeface="Segoe UI"/>
                </a:rPr>
                <a:t>维护成本随楼龄陡增</a:t>
              </a:r>
            </a:p>
          </p:txBody>
        </p:sp>
        <p:sp>
          <p:nvSpPr>
            <p:cNvPr id="23" name="TextBox 23"/>
            <p:cNvSpPr txBox="1"/>
            <p:nvPr/>
          </p:nvSpPr>
          <p:spPr>
            <a:xfrm>
              <a:off x="5128260" y="4347210"/>
              <a:ext cx="3009900"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维修基金加速消耗，业主分摊持续上升</a:t>
              </a:r>
            </a:p>
          </p:txBody>
        </p:sp>
        <p:sp>
          <p:nvSpPr>
            <p:cNvPr id="24" name="TextBox 24"/>
            <p:cNvSpPr txBox="1"/>
            <p:nvPr/>
          </p:nvSpPr>
          <p:spPr>
            <a:xfrm>
              <a:off x="5128260" y="4594860"/>
              <a:ext cx="2133600"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愿意住高层的人，</a:t>
              </a:r>
              <a:r>
                <a:rPr lang="zh-CN" sz="1200" b="1" dirty="0">
                  <a:solidFill>
                    <a:srgbClr val="C2410C"/>
                  </a:solidFill>
                  <a:latin typeface="Segoe UI"/>
                  <a:ea typeface="Microsoft YaHei"/>
                  <a:cs typeface="Segoe UI"/>
                </a:rPr>
                <a:t>正在变少</a:t>
              </a:r>
            </a:p>
          </p:txBody>
        </p:sp>
      </p:grpSp>
      <p:grpSp>
        <p:nvGrpSpPr>
          <p:cNvPr id="33" name="Group 33"/>
          <p:cNvGrpSpPr/>
          <p:nvPr/>
        </p:nvGrpSpPr>
        <p:grpSpPr>
          <a:xfrm>
            <a:off x="4762500" y="5143500"/>
            <a:ext cx="6667500" cy="952500"/>
            <a:chOff x="4762500" y="5143500"/>
            <a:chExt cx="6667500" cy="952500"/>
          </a:xfrm>
        </p:grpSpPr>
        <p:sp>
          <p:nvSpPr>
            <p:cNvPr id="26" name="Rectangle 26"/>
            <p:cNvSpPr/>
            <p:nvPr/>
          </p:nvSpPr>
          <p:spPr>
            <a:xfrm>
              <a:off x="4762500" y="5143500"/>
              <a:ext cx="6667500" cy="952500"/>
            </a:xfrm>
            <a:prstGeom prst="roundRect">
              <a:avLst>
                <a:gd name="adj" fmla="val 4000"/>
              </a:avLst>
            </a:prstGeom>
            <a:solidFill>
              <a:srgbClr val="EBE6DC"/>
            </a:solidFill>
            <a:ln>
              <a:noFill/>
            </a:ln>
          </p:spPr>
        </p:sp>
        <p:sp>
          <p:nvSpPr>
            <p:cNvPr id="27" name="Rectangle 27"/>
            <p:cNvSpPr/>
            <p:nvPr/>
          </p:nvSpPr>
          <p:spPr>
            <a:xfrm>
              <a:off x="4762500" y="5143500"/>
              <a:ext cx="38100" cy="952500"/>
            </a:xfrm>
            <a:prstGeom prst="rect">
              <a:avLst/>
            </a:prstGeom>
            <a:solidFill>
              <a:srgbClr val="C2410C"/>
            </a:solidFill>
            <a:ln>
              <a:noFill/>
            </a:ln>
          </p:spPr>
        </p:sp>
        <p:grpSp>
          <p:nvGrpSpPr>
            <p:cNvPr id="30" name="Group 30"/>
            <p:cNvGrpSpPr/>
            <p:nvPr/>
          </p:nvGrpSpPr>
          <p:grpSpPr>
            <a:xfrm>
              <a:off x="4996656" y="5348288"/>
              <a:ext cx="122238" cy="104775"/>
              <a:chOff x="4996656" y="5348288"/>
              <a:chExt cx="122238" cy="104775"/>
            </a:xfrm>
          </p:grpSpPr>
          <p:sp>
            <p:nvSpPr>
              <p:cNvPr id="28" name="Freeform 28"/>
              <p:cNvSpPr/>
              <p:nvPr/>
            </p:nvSpPr>
            <p:spPr>
              <a:xfrm>
                <a:off x="4996656" y="5348288"/>
                <a:ext cx="43656" cy="104775"/>
              </a:xfrm>
              <a:custGeom>
                <a:avLst/>
                <a:gdLst/>
                <a:ahLst/>
                <a:cxnLst/>
                <a:rect l="l" t="t" r="r" b="b"/>
                <a:pathLst>
                  <a:path w="43656" h="104775">
                    <a:moveTo>
                      <a:pt x="43656" y="43656"/>
                    </a:moveTo>
                    <a:lnTo>
                      <a:pt x="8731" y="43656"/>
                    </a:lnTo>
                    <a:cubicBezTo>
                      <a:pt x="3909" y="43656"/>
                      <a:pt x="0" y="39747"/>
                      <a:pt x="0" y="34925"/>
                    </a:cubicBezTo>
                    <a:lnTo>
                      <a:pt x="0" y="8731"/>
                    </a:lnTo>
                    <a:cubicBezTo>
                      <a:pt x="0" y="3909"/>
                      <a:pt x="3909" y="0"/>
                      <a:pt x="8731" y="0"/>
                    </a:cubicBezTo>
                    <a:lnTo>
                      <a:pt x="34925" y="0"/>
                    </a:lnTo>
                    <a:cubicBezTo>
                      <a:pt x="39747" y="0"/>
                      <a:pt x="43656" y="3909"/>
                      <a:pt x="43656" y="8731"/>
                    </a:cubicBezTo>
                    <a:lnTo>
                      <a:pt x="43656" y="61119"/>
                    </a:lnTo>
                    <a:cubicBezTo>
                      <a:pt x="43656" y="84405"/>
                      <a:pt x="32017" y="98951"/>
                      <a:pt x="8731" y="104775"/>
                    </a:cubicBezTo>
                  </a:path>
                </a:pathLst>
              </a:custGeom>
              <a:noFill/>
              <a:ln w="19050">
                <a:solidFill>
                  <a:srgbClr val="C2410C"/>
                </a:solidFill>
              </a:ln>
            </p:spPr>
          </p:sp>
          <p:sp>
            <p:nvSpPr>
              <p:cNvPr id="29" name="Freeform 29"/>
              <p:cNvSpPr/>
              <p:nvPr/>
            </p:nvSpPr>
            <p:spPr>
              <a:xfrm>
                <a:off x="5075238" y="5348288"/>
                <a:ext cx="43656" cy="104775"/>
              </a:xfrm>
              <a:custGeom>
                <a:avLst/>
                <a:gdLst/>
                <a:ahLst/>
                <a:cxnLst/>
                <a:rect l="l" t="t" r="r" b="b"/>
                <a:pathLst>
                  <a:path w="43656" h="104775">
                    <a:moveTo>
                      <a:pt x="43656" y="43656"/>
                    </a:moveTo>
                    <a:lnTo>
                      <a:pt x="8731" y="43656"/>
                    </a:lnTo>
                    <a:cubicBezTo>
                      <a:pt x="3909" y="43656"/>
                      <a:pt x="0" y="39747"/>
                      <a:pt x="0" y="34925"/>
                    </a:cubicBezTo>
                    <a:lnTo>
                      <a:pt x="0" y="8731"/>
                    </a:lnTo>
                    <a:cubicBezTo>
                      <a:pt x="0" y="3909"/>
                      <a:pt x="3909" y="0"/>
                      <a:pt x="8731" y="0"/>
                    </a:cubicBezTo>
                    <a:lnTo>
                      <a:pt x="34925" y="0"/>
                    </a:lnTo>
                    <a:cubicBezTo>
                      <a:pt x="39747" y="0"/>
                      <a:pt x="43656" y="3909"/>
                      <a:pt x="43656" y="8731"/>
                    </a:cubicBezTo>
                    <a:lnTo>
                      <a:pt x="43656" y="61119"/>
                    </a:lnTo>
                    <a:cubicBezTo>
                      <a:pt x="43656" y="84405"/>
                      <a:pt x="32017" y="98951"/>
                      <a:pt x="8731" y="104775"/>
                    </a:cubicBezTo>
                  </a:path>
                </a:pathLst>
              </a:custGeom>
              <a:noFill/>
              <a:ln w="19050">
                <a:solidFill>
                  <a:srgbClr val="C2410C"/>
                </a:solidFill>
              </a:ln>
            </p:spPr>
          </p:sp>
        </p:grpSp>
        <p:sp>
          <p:nvSpPr>
            <p:cNvPr id="31" name="TextBox 31"/>
            <p:cNvSpPr txBox="1"/>
            <p:nvPr/>
          </p:nvSpPr>
          <p:spPr>
            <a:xfrm>
              <a:off x="5238750" y="5381625"/>
              <a:ext cx="2688907" cy="304800"/>
            </a:xfrm>
            <a:prstGeom prst="rect">
              <a:avLst/>
            </a:prstGeom>
            <a:noFill/>
            <a:ln>
              <a:noFill/>
            </a:ln>
          </p:spPr>
          <p:txBody>
            <a:bodyPr wrap="none" lIns="0" tIns="0" rIns="0" bIns="0" anchor="t" anchorCtr="0">
              <a:spAutoFit/>
            </a:bodyPr>
            <a:lstStyle/>
            <a:p>
              <a:pPr algn="l"/>
              <a:r>
                <a:rPr lang="zh-CN" sz="1500" i="1" dirty="0">
                  <a:solidFill>
                    <a:srgbClr val="2B3A4A"/>
                  </a:solidFill>
                  <a:latin typeface="Georgia"/>
                  <a:ea typeface="KaiTi"/>
                  <a:cs typeface="Georgia"/>
                </a:rPr>
                <a:t>"高层住宅是未来的贫民窟"</a:t>
              </a:r>
            </a:p>
          </p:txBody>
        </p:sp>
        <p:sp>
          <p:nvSpPr>
            <p:cNvPr id="32" name="TextBox 32"/>
            <p:cNvSpPr txBox="1"/>
            <p:nvPr/>
          </p:nvSpPr>
          <p:spPr>
            <a:xfrm>
              <a:off x="5244465" y="5715952"/>
              <a:ext cx="2917365"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 在部分西方发达国家已有相应的经验教训</a:t>
              </a:r>
            </a:p>
          </p:txBody>
        </p:sp>
      </p:grpSp>
      <p:grpSp>
        <p:nvGrpSpPr>
          <p:cNvPr id="36" name="Group 36"/>
          <p:cNvGrpSpPr/>
          <p:nvPr/>
        </p:nvGrpSpPr>
        <p:grpSpPr>
          <a:xfrm>
            <a:off x="4751070" y="6513195"/>
            <a:ext cx="6880860" cy="182880"/>
            <a:chOff x="4751070" y="6513195"/>
            <a:chExt cx="6880860" cy="182880"/>
          </a:xfrm>
        </p:grpSpPr>
        <p:sp>
          <p:nvSpPr>
            <p:cNvPr id="34" name="TextBox 34"/>
            <p:cNvSpPr txBox="1"/>
            <p:nvPr/>
          </p:nvSpPr>
          <p:spPr>
            <a:xfrm>
              <a:off x="4751070" y="6513195"/>
              <a:ext cx="2145697" cy="182880"/>
            </a:xfrm>
            <a:prstGeom prst="rect">
              <a:avLst/>
            </a:prstGeom>
            <a:noFill/>
            <a:ln>
              <a:noFill/>
            </a:ln>
          </p:spPr>
          <p:txBody>
            <a:bodyPr wrap="none" lIns="0" tIns="0" rIns="0" bIns="0" anchor="t" anchorCtr="0">
              <a:spAutoFit/>
            </a:bodyPr>
            <a:lstStyle/>
            <a:p>
              <a:pPr algn="l"/>
              <a:r>
                <a:rPr lang="zh-CN" sz="900" dirty="0">
                  <a:solidFill>
                    <a:srgbClr val="8A8275"/>
                  </a:solidFill>
                  <a:latin typeface="Segoe UI"/>
                  <a:ea typeface="Microsoft YaHei"/>
                  <a:cs typeface="Segoe UI"/>
                </a:rPr>
                <a:t>建成十余年的高层 · 风险密集显现期</a:t>
              </a:r>
            </a:p>
          </p:txBody>
        </p:sp>
        <p:sp>
          <p:nvSpPr>
            <p:cNvPr id="35" name="TextBox 35"/>
            <p:cNvSpPr txBox="1"/>
            <p:nvPr/>
          </p:nvSpPr>
          <p:spPr>
            <a:xfrm>
              <a:off x="11201590" y="6513195"/>
              <a:ext cx="430340"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trips(downRight)">
                                      <p:cBhvr>
                                        <p:cTn id="11" dur="400"/>
                                        <p:tgtEl>
                                          <p:spTgt spid="13"/>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edge">
                                      <p:cBhvr>
                                        <p:cTn id="15" dur="400"/>
                                        <p:tgtEl>
                                          <p:spTgt spid="20"/>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heel(4)">
                                      <p:cBhvr>
                                        <p:cTn id="19" dur="400"/>
                                        <p:tgtEl>
                                          <p:spTgt spid="25"/>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20" grpId="0"/>
      <p:bldP spid="25"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3" cy="321469"/>
            <a:chOff x="571500" y="571500"/>
            <a:chExt cx="11061383" cy="321469"/>
          </a:xfrm>
        </p:grpSpPr>
        <p:sp>
          <p:nvSpPr>
            <p:cNvPr id="3" name="Rectangle 3"/>
            <p:cNvSpPr/>
            <p:nvPr/>
          </p:nvSpPr>
          <p:spPr>
            <a:xfrm>
              <a:off x="571500" y="571500"/>
              <a:ext cx="28575" cy="304800"/>
            </a:xfrm>
            <a:prstGeom prst="rect">
              <a:avLst/>
            </a:prstGeom>
            <a:solidFill>
              <a:srgbClr val="C2410C"/>
            </a:solidFill>
            <a:ln>
              <a:noFill/>
            </a:ln>
          </p:spPr>
        </p:sp>
        <p:sp>
          <p:nvSpPr>
            <p:cNvPr id="4" name="TextBox 4"/>
            <p:cNvSpPr txBox="1"/>
            <p:nvPr/>
          </p:nvSpPr>
          <p:spPr>
            <a:xfrm>
              <a:off x="711518" y="694849"/>
              <a:ext cx="1280722"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 · 警钟 · HISTORY</a:t>
              </a:r>
            </a:p>
          </p:txBody>
        </p:sp>
        <p:sp>
          <p:nvSpPr>
            <p:cNvPr id="5" name="TextBox 5"/>
            <p:cNvSpPr txBox="1"/>
            <p:nvPr/>
          </p:nvSpPr>
          <p:spPr>
            <a:xfrm>
              <a:off x="10319409" y="694849"/>
              <a:ext cx="1313474"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前车之鉴 · USA 1972</a:t>
              </a:r>
            </a:p>
          </p:txBody>
        </p:sp>
      </p:grpSp>
      <p:grpSp>
        <p:nvGrpSpPr>
          <p:cNvPr id="10" name="Group 10"/>
          <p:cNvGrpSpPr/>
          <p:nvPr/>
        </p:nvGrpSpPr>
        <p:grpSpPr>
          <a:xfrm>
            <a:off x="535305" y="1102042"/>
            <a:ext cx="6671915" cy="917258"/>
            <a:chOff x="535305" y="1102042"/>
            <a:chExt cx="6671915" cy="917258"/>
          </a:xfrm>
        </p:grpSpPr>
        <p:sp>
          <p:nvSpPr>
            <p:cNvPr id="7" name="TextBox 7"/>
            <p:cNvSpPr txBox="1"/>
            <p:nvPr/>
          </p:nvSpPr>
          <p:spPr>
            <a:xfrm>
              <a:off x="535305" y="1102042"/>
              <a:ext cx="6671915" cy="579120"/>
            </a:xfrm>
            <a:prstGeom prst="rect">
              <a:avLst/>
            </a:prstGeom>
            <a:noFill/>
            <a:ln>
              <a:noFill/>
            </a:ln>
          </p:spPr>
          <p:txBody>
            <a:bodyPr wrap="none" lIns="0" tIns="0" rIns="0" bIns="0" anchor="t" anchorCtr="0">
              <a:spAutoFit/>
            </a:bodyPr>
            <a:lstStyle/>
            <a:p>
              <a:pPr algn="l"/>
              <a:r>
                <a:rPr lang="zh-CN" sz="2850" b="1" dirty="0">
                  <a:solidFill>
                    <a:srgbClr val="2B3A4A"/>
                  </a:solidFill>
                  <a:latin typeface="Georgia"/>
                  <a:ea typeface="KaiTi"/>
                  <a:cs typeface="Georgia"/>
                </a:rPr>
                <a:t>老旧高层只有"</a:t>
              </a:r>
              <a:r>
                <a:rPr lang="zh-CN" sz="2850" b="1" dirty="0">
                  <a:solidFill>
                    <a:srgbClr val="C2410C"/>
                  </a:solidFill>
                  <a:latin typeface="Georgia"/>
                  <a:ea typeface="KaiTi"/>
                  <a:cs typeface="Georgia"/>
                </a:rPr>
                <a:t>被爆破</a:t>
              </a:r>
              <a:r>
                <a:rPr lang="zh-CN" sz="2850" b="1" dirty="0">
                  <a:solidFill>
                    <a:srgbClr val="2B3A4A"/>
                  </a:solidFill>
                  <a:latin typeface="Georgia"/>
                  <a:ea typeface="KaiTi"/>
                  <a:cs typeface="Georgia"/>
                </a:rPr>
                <a:t>"一条路吗？</a:t>
              </a:r>
            </a:p>
          </p:txBody>
        </p:sp>
        <p:sp>
          <p:nvSpPr>
            <p:cNvPr id="8" name="Line 8"/>
            <p:cNvSpPr/>
            <p:nvPr/>
          </p:nvSpPr>
          <p:spPr>
            <a:xfrm>
              <a:off x="571500" y="1638300"/>
              <a:ext cx="952500" cy="9525"/>
            </a:xfrm>
            <a:custGeom>
              <a:avLst/>
              <a:gdLst/>
              <a:ahLst/>
              <a:cxnLst/>
              <a:rect l="l" t="t" r="r" b="b"/>
              <a:pathLst>
                <a:path w="952500" h="9525">
                  <a:moveTo>
                    <a:pt x="0" y="0"/>
                  </a:moveTo>
                  <a:lnTo>
                    <a:pt x="952500" y="0"/>
                  </a:lnTo>
                </a:path>
              </a:pathLst>
            </a:custGeom>
            <a:noFill/>
            <a:ln w="19050">
              <a:solidFill>
                <a:srgbClr val="C2410C"/>
              </a:solidFill>
            </a:ln>
          </p:spPr>
        </p:sp>
        <p:sp>
          <p:nvSpPr>
            <p:cNvPr id="9" name="TextBox 9"/>
            <p:cNvSpPr txBox="1"/>
            <p:nvPr/>
          </p:nvSpPr>
          <p:spPr>
            <a:xfrm>
              <a:off x="556260" y="1775460"/>
              <a:ext cx="5559933"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美国普鲁特·艾格住宅区 — 33 栋高层，从样板社区到全部拆除，仅 18 年</a:t>
              </a:r>
            </a:p>
          </p:txBody>
        </p:sp>
      </p:grpSp>
      <p:grpSp>
        <p:nvGrpSpPr>
          <p:cNvPr id="18" name="Group 18"/>
          <p:cNvGrpSpPr/>
          <p:nvPr/>
        </p:nvGrpSpPr>
        <p:grpSpPr>
          <a:xfrm>
            <a:off x="559118" y="2286000"/>
            <a:ext cx="5155882" cy="3598069"/>
            <a:chOff x="559118" y="2286000"/>
            <a:chExt cx="5155882" cy="3598069"/>
          </a:xfrm>
        </p:grpSpPr>
        <p:pic>
          <p:nvPicPr>
            <p:cNvPr id="11" name="Image 11"/>
            <p:cNvPicPr>
              <a:picLocks noChangeAspect="1"/>
            </p:cNvPicPr>
            <p:nvPr/>
          </p:nvPicPr>
          <p:blipFill>
            <a:blip r:embed="rId2"/>
            <a:srcRect l="2353" t="0" r="2353" b="0"/>
            <a:stretch>
              <a:fillRect/>
            </a:stretch>
          </p:blipFill>
          <p:spPr>
            <a:xfrm>
              <a:off x="571500" y="2286000"/>
              <a:ext cx="5143500" cy="3238500"/>
            </a:xfrm>
            <a:prstGeom prst="roundRect">
              <a:avLst>
                <a:gd name="adj" fmla="val 1764"/>
              </a:avLst>
            </a:prstGeom>
          </p:spPr>
        </p:pic>
        <p:sp>
          <p:nvSpPr>
            <p:cNvPr id="12" name="Rectangle 12"/>
            <p:cNvSpPr/>
            <p:nvPr/>
          </p:nvSpPr>
          <p:spPr>
            <a:xfrm>
              <a:off x="571500" y="2286000"/>
              <a:ext cx="5143500" cy="1143000"/>
            </a:xfrm>
            <a:prstGeom prst="rect">
              <a:avLst/>
            </a:prstGeom>
            <a:gradFill>
              <a:gsLst>
                <a:gs pos="0">
                  <a:srgbClr val="1A2530">
                    <a:alpha val="55000"/>
                  </a:srgbClr>
                </a:gs>
                <a:gs pos="35000">
                  <a:srgbClr val="1A2530">
                    <a:alpha val="0"/>
                  </a:srgbClr>
                </a:gs>
              </a:gsLst>
              <a:lin ang="5400000" scaled="1"/>
            </a:gradFill>
            <a:ln>
              <a:noFill/>
            </a:ln>
          </p:spPr>
        </p:sp>
        <p:sp>
          <p:nvSpPr>
            <p:cNvPr id="13" name="Rectangle 13"/>
            <p:cNvSpPr/>
            <p:nvPr/>
          </p:nvSpPr>
          <p:spPr>
            <a:xfrm>
              <a:off x="571500" y="4762500"/>
              <a:ext cx="51435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16" name="Group 16"/>
            <p:cNvGrpSpPr/>
            <p:nvPr/>
          </p:nvGrpSpPr>
          <p:grpSpPr>
            <a:xfrm>
              <a:off x="762000" y="2476500"/>
              <a:ext cx="1150944" cy="200025"/>
              <a:chOff x="762000" y="2476500"/>
              <a:chExt cx="1150944" cy="200025"/>
            </a:xfrm>
          </p:grpSpPr>
          <p:sp>
            <p:nvSpPr>
              <p:cNvPr id="14" name="Rectangle 14"/>
              <p:cNvSpPr/>
              <p:nvPr/>
            </p:nvSpPr>
            <p:spPr>
              <a:xfrm>
                <a:off x="762000" y="2476500"/>
                <a:ext cx="133350" cy="133350"/>
              </a:xfrm>
              <a:prstGeom prst="rect">
                <a:avLst/>
              </a:prstGeom>
              <a:solidFill>
                <a:srgbClr val="F5F2EC"/>
              </a:solidFill>
              <a:ln>
                <a:noFill/>
              </a:ln>
            </p:spPr>
          </p:sp>
          <p:sp>
            <p:nvSpPr>
              <p:cNvPr id="15" name="TextBox 15"/>
              <p:cNvSpPr txBox="1"/>
              <p:nvPr/>
            </p:nvSpPr>
            <p:spPr>
              <a:xfrm>
                <a:off x="979170" y="2493645"/>
                <a:ext cx="933774"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BEFORE · 1954</a:t>
                </a:r>
              </a:p>
            </p:txBody>
          </p:sp>
        </p:grpSp>
        <p:sp>
          <p:nvSpPr>
            <p:cNvPr id="17" name="TextBox 17"/>
            <p:cNvSpPr txBox="1"/>
            <p:nvPr/>
          </p:nvSpPr>
          <p:spPr>
            <a:xfrm>
              <a:off x="559118" y="5685949"/>
              <a:ext cx="2523863"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建成时获得建筑奖项 · 33 栋高层公寓楼</a:t>
              </a:r>
            </a:p>
          </p:txBody>
        </p:sp>
      </p:grpSp>
      <p:grpSp>
        <p:nvGrpSpPr>
          <p:cNvPr id="26" name="Group 26"/>
          <p:cNvGrpSpPr/>
          <p:nvPr/>
        </p:nvGrpSpPr>
        <p:grpSpPr>
          <a:xfrm>
            <a:off x="6464618" y="2286000"/>
            <a:ext cx="5155882" cy="3598069"/>
            <a:chOff x="6464618" y="2286000"/>
            <a:chExt cx="5155882" cy="3598069"/>
          </a:xfrm>
        </p:grpSpPr>
        <p:pic>
          <p:nvPicPr>
            <p:cNvPr id="19" name="Image 19"/>
            <p:cNvPicPr>
              <a:picLocks noChangeAspect="1"/>
            </p:cNvPicPr>
            <p:nvPr/>
          </p:nvPicPr>
          <p:blipFill>
            <a:blip r:embed="rId3"/>
            <a:srcRect l="0" t="10119" r="0" b="10119"/>
            <a:stretch>
              <a:fillRect/>
            </a:stretch>
          </p:blipFill>
          <p:spPr>
            <a:xfrm>
              <a:off x="6477000" y="2286000"/>
              <a:ext cx="5143500" cy="3238500"/>
            </a:xfrm>
            <a:prstGeom prst="roundRect">
              <a:avLst>
                <a:gd name="adj" fmla="val 1764"/>
              </a:avLst>
            </a:prstGeom>
          </p:spPr>
        </p:pic>
        <p:sp>
          <p:nvSpPr>
            <p:cNvPr id="20" name="Rectangle 20"/>
            <p:cNvSpPr/>
            <p:nvPr/>
          </p:nvSpPr>
          <p:spPr>
            <a:xfrm>
              <a:off x="6477000" y="2286000"/>
              <a:ext cx="5143500" cy="1143000"/>
            </a:xfrm>
            <a:prstGeom prst="rect">
              <a:avLst/>
            </a:prstGeom>
            <a:gradFill>
              <a:gsLst>
                <a:gs pos="0">
                  <a:srgbClr val="C2410C">
                    <a:alpha val="55000"/>
                  </a:srgbClr>
                </a:gs>
                <a:gs pos="35000">
                  <a:srgbClr val="C2410C">
                    <a:alpha val="0"/>
                  </a:srgbClr>
                </a:gs>
              </a:gsLst>
              <a:lin ang="5400000" scaled="1"/>
            </a:gradFill>
            <a:ln>
              <a:noFill/>
            </a:ln>
          </p:spPr>
        </p:sp>
        <p:sp>
          <p:nvSpPr>
            <p:cNvPr id="21" name="Rectangle 21"/>
            <p:cNvSpPr/>
            <p:nvPr/>
          </p:nvSpPr>
          <p:spPr>
            <a:xfrm>
              <a:off x="6477000" y="4762500"/>
              <a:ext cx="51435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24" name="Group 24"/>
            <p:cNvGrpSpPr/>
            <p:nvPr/>
          </p:nvGrpSpPr>
          <p:grpSpPr>
            <a:xfrm>
              <a:off x="6667500" y="2476500"/>
              <a:ext cx="1047431" cy="200025"/>
              <a:chOff x="6667500" y="2476500"/>
              <a:chExt cx="1047431" cy="200025"/>
            </a:xfrm>
          </p:grpSpPr>
          <p:sp>
            <p:nvSpPr>
              <p:cNvPr id="22" name="Rectangle 22"/>
              <p:cNvSpPr/>
              <p:nvPr/>
            </p:nvSpPr>
            <p:spPr>
              <a:xfrm>
                <a:off x="6667500" y="2476500"/>
                <a:ext cx="133350" cy="133350"/>
              </a:xfrm>
              <a:prstGeom prst="rect">
                <a:avLst/>
              </a:prstGeom>
              <a:solidFill>
                <a:srgbClr val="C2410C"/>
              </a:solidFill>
              <a:ln>
                <a:noFill/>
              </a:ln>
            </p:spPr>
          </p:sp>
          <p:sp>
            <p:nvSpPr>
              <p:cNvPr id="23" name="TextBox 23"/>
              <p:cNvSpPr txBox="1"/>
              <p:nvPr/>
            </p:nvSpPr>
            <p:spPr>
              <a:xfrm>
                <a:off x="6884670" y="2493645"/>
                <a:ext cx="830261"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AFTER · 1972</a:t>
                </a:r>
              </a:p>
            </p:txBody>
          </p:sp>
        </p:grpSp>
        <p:sp>
          <p:nvSpPr>
            <p:cNvPr id="25" name="TextBox 25"/>
            <p:cNvSpPr txBox="1"/>
            <p:nvPr/>
          </p:nvSpPr>
          <p:spPr>
            <a:xfrm>
              <a:off x="6464618" y="5685949"/>
              <a:ext cx="3420975"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全部 33 栋被爆破拆除 · 现代主义住宅模式标志性失败</a:t>
              </a:r>
            </a:p>
          </p:txBody>
        </p:sp>
      </p:grpSp>
      <p:grpSp>
        <p:nvGrpSpPr>
          <p:cNvPr id="29" name="Group 29"/>
          <p:cNvGrpSpPr/>
          <p:nvPr/>
        </p:nvGrpSpPr>
        <p:grpSpPr>
          <a:xfrm>
            <a:off x="571500" y="6000750"/>
            <a:ext cx="11049000" cy="552450"/>
            <a:chOff x="571500" y="6000750"/>
            <a:chExt cx="11049000" cy="552450"/>
          </a:xfrm>
        </p:grpSpPr>
        <p:sp>
          <p:nvSpPr>
            <p:cNvPr id="27" name="Rectangle 27"/>
            <p:cNvSpPr/>
            <p:nvPr/>
          </p:nvSpPr>
          <p:spPr>
            <a:xfrm>
              <a:off x="571500" y="6000750"/>
              <a:ext cx="11049000" cy="552450"/>
            </a:xfrm>
            <a:prstGeom prst="roundRect">
              <a:avLst>
                <a:gd name="adj" fmla="val 10345"/>
              </a:avLst>
            </a:prstGeom>
            <a:solidFill>
              <a:srgbClr val="EBE6DC"/>
            </a:solidFill>
            <a:ln>
              <a:noFill/>
            </a:ln>
          </p:spPr>
        </p:sp>
        <p:sp>
          <p:nvSpPr>
            <p:cNvPr id="28" name="TextBox 28"/>
            <p:cNvSpPr txBox="1"/>
            <p:nvPr/>
          </p:nvSpPr>
          <p:spPr>
            <a:xfrm>
              <a:off x="746760" y="6233160"/>
              <a:ext cx="8153781"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沦陷链条：</a:t>
              </a:r>
              <a:r>
                <a:rPr lang="zh-CN" sz="1200" dirty="0">
                  <a:solidFill>
                    <a:srgbClr val="2B3A4A"/>
                  </a:solidFill>
                  <a:latin typeface="Segoe UI"/>
                  <a:ea typeface="Microsoft YaHei"/>
                  <a:cs typeface="Segoe UI"/>
                </a:rPr>
                <a:t xml:space="preserve"> </a:t>
              </a:r>
              <a:r>
                <a:rPr lang="zh-CN" sz="1200" b="1" dirty="0">
                  <a:solidFill>
                    <a:srgbClr val="2B3A4A"/>
                  </a:solidFill>
                  <a:latin typeface="Segoe UI"/>
                  <a:ea typeface="Microsoft YaHei"/>
                  <a:cs typeface="Segoe UI"/>
                </a:rPr>
                <a:t xml:space="preserve"> 富裕居民迁出 </a:t>
              </a:r>
              <a:r>
                <a:rPr lang="zh-CN" sz="1200" dirty="0">
                  <a:solidFill>
                    <a:srgbClr val="2B3A4A"/>
                  </a:solidFill>
                  <a:latin typeface="Segoe UI"/>
                  <a:ea typeface="Microsoft YaHei"/>
                  <a:cs typeface="Segoe UI"/>
                </a:rPr>
                <a:t xml:space="preserve"> </a:t>
              </a:r>
              <a:r>
                <a:rPr lang="zh-CN" sz="1200" dirty="0">
                  <a:solidFill>
                    <a:srgbClr val="C2410C"/>
                  </a:solidFill>
                  <a:latin typeface="Segoe UI"/>
                  <a:ea typeface="Microsoft YaHei"/>
                  <a:cs typeface="Segoe UI"/>
                </a:rPr>
                <a:t>→</a:t>
              </a:r>
              <a:r>
                <a:rPr lang="zh-CN" sz="1200" dirty="0">
                  <a:solidFill>
                    <a:srgbClr val="2B3A4A"/>
                  </a:solidFill>
                  <a:latin typeface="Segoe UI"/>
                  <a:ea typeface="Microsoft YaHei"/>
                  <a:cs typeface="Segoe UI"/>
                </a:rPr>
                <a:t xml:space="preserve"> </a:t>
              </a:r>
              <a:r>
                <a:rPr lang="zh-CN" sz="1200" b="1" dirty="0">
                  <a:solidFill>
                    <a:srgbClr val="2B3A4A"/>
                  </a:solidFill>
                  <a:latin typeface="Segoe UI"/>
                  <a:ea typeface="Microsoft YaHei"/>
                  <a:cs typeface="Segoe UI"/>
                </a:rPr>
                <a:t xml:space="preserve"> 中低收入聚居 </a:t>
              </a:r>
              <a:r>
                <a:rPr lang="zh-CN" sz="1200" dirty="0">
                  <a:solidFill>
                    <a:srgbClr val="2B3A4A"/>
                  </a:solidFill>
                  <a:latin typeface="Segoe UI"/>
                  <a:ea typeface="Microsoft YaHei"/>
                  <a:cs typeface="Segoe UI"/>
                </a:rPr>
                <a:t xml:space="preserve"> </a:t>
              </a:r>
              <a:r>
                <a:rPr lang="zh-CN" sz="1200" dirty="0">
                  <a:solidFill>
                    <a:srgbClr val="C2410C"/>
                  </a:solidFill>
                  <a:latin typeface="Segoe UI"/>
                  <a:ea typeface="Microsoft YaHei"/>
                  <a:cs typeface="Segoe UI"/>
                </a:rPr>
                <a:t>→</a:t>
              </a:r>
              <a:r>
                <a:rPr lang="zh-CN" sz="1200" dirty="0">
                  <a:solidFill>
                    <a:srgbClr val="2B3A4A"/>
                  </a:solidFill>
                  <a:latin typeface="Segoe UI"/>
                  <a:ea typeface="Microsoft YaHei"/>
                  <a:cs typeface="Segoe UI"/>
                </a:rPr>
                <a:t xml:space="preserve"> </a:t>
              </a:r>
              <a:r>
                <a:rPr lang="zh-CN" sz="1200" b="1" dirty="0">
                  <a:solidFill>
                    <a:srgbClr val="2B3A4A"/>
                  </a:solidFill>
                  <a:latin typeface="Segoe UI"/>
                  <a:ea typeface="Microsoft YaHei"/>
                  <a:cs typeface="Segoe UI"/>
                </a:rPr>
                <a:t xml:space="preserve"> 设施年久失修 </a:t>
              </a:r>
              <a:r>
                <a:rPr lang="zh-CN" sz="1200" dirty="0">
                  <a:solidFill>
                    <a:srgbClr val="2B3A4A"/>
                  </a:solidFill>
                  <a:latin typeface="Segoe UI"/>
                  <a:ea typeface="Microsoft YaHei"/>
                  <a:cs typeface="Segoe UI"/>
                </a:rPr>
                <a:t xml:space="preserve"> </a:t>
              </a:r>
              <a:r>
                <a:rPr lang="zh-CN" sz="1200" dirty="0">
                  <a:solidFill>
                    <a:srgbClr val="C2410C"/>
                  </a:solidFill>
                  <a:latin typeface="Segoe UI"/>
                  <a:ea typeface="Microsoft YaHei"/>
                  <a:cs typeface="Segoe UI"/>
                </a:rPr>
                <a:t>→</a:t>
              </a:r>
              <a:r>
                <a:rPr lang="zh-CN" sz="1200" dirty="0">
                  <a:solidFill>
                    <a:srgbClr val="2B3A4A"/>
                  </a:solidFill>
                  <a:latin typeface="Segoe UI"/>
                  <a:ea typeface="Microsoft YaHei"/>
                  <a:cs typeface="Segoe UI"/>
                </a:rPr>
                <a:t xml:space="preserve"> </a:t>
              </a:r>
              <a:r>
                <a:rPr lang="zh-CN" sz="1200" b="1" dirty="0">
                  <a:solidFill>
                    <a:srgbClr val="2B3A4A"/>
                  </a:solidFill>
                  <a:latin typeface="Segoe UI"/>
                  <a:ea typeface="Microsoft YaHei"/>
                  <a:cs typeface="Segoe UI"/>
                </a:rPr>
                <a:t xml:space="preserve"> 公共空间失养 </a:t>
              </a:r>
              <a:r>
                <a:rPr lang="zh-CN" sz="1200" dirty="0">
                  <a:solidFill>
                    <a:srgbClr val="2B3A4A"/>
                  </a:solidFill>
                  <a:latin typeface="Segoe UI"/>
                  <a:ea typeface="Microsoft YaHei"/>
                  <a:cs typeface="Segoe UI"/>
                </a:rPr>
                <a:t xml:space="preserve"> </a:t>
              </a:r>
              <a:r>
                <a:rPr lang="zh-CN" sz="1200" dirty="0">
                  <a:solidFill>
                    <a:srgbClr val="C2410C"/>
                  </a:solidFill>
                  <a:latin typeface="Segoe UI"/>
                  <a:ea typeface="Microsoft YaHei"/>
                  <a:cs typeface="Segoe UI"/>
                </a:rPr>
                <a:t>→</a:t>
              </a:r>
              <a:r>
                <a:rPr lang="zh-CN" sz="1200" dirty="0">
                  <a:solidFill>
                    <a:srgbClr val="2B3A4A"/>
                  </a:solidFill>
                  <a:latin typeface="Segoe UI"/>
                  <a:ea typeface="Microsoft YaHei"/>
                  <a:cs typeface="Segoe UI"/>
                </a:rPr>
                <a:t xml:space="preserve"> </a:t>
              </a:r>
              <a:r>
                <a:rPr lang="zh-CN" sz="1200" b="1" dirty="0">
                  <a:solidFill>
                    <a:srgbClr val="2B3A4A"/>
                  </a:solidFill>
                  <a:latin typeface="Segoe UI"/>
                  <a:ea typeface="Microsoft YaHei"/>
                  <a:cs typeface="Segoe UI"/>
                </a:rPr>
                <a:t xml:space="preserve"> 高犯罪率 </a:t>
              </a:r>
              <a:r>
                <a:rPr lang="zh-CN" sz="1200" dirty="0">
                  <a:solidFill>
                    <a:srgbClr val="2B3A4A"/>
                  </a:solidFill>
                  <a:latin typeface="Segoe UI"/>
                  <a:ea typeface="Microsoft YaHei"/>
                  <a:cs typeface="Segoe UI"/>
                </a:rPr>
                <a:t xml:space="preserve"> </a:t>
              </a:r>
              <a:r>
                <a:rPr lang="zh-CN" sz="1200" dirty="0">
                  <a:solidFill>
                    <a:srgbClr val="C2410C"/>
                  </a:solidFill>
                  <a:latin typeface="Segoe UI"/>
                  <a:ea typeface="Microsoft YaHei"/>
                  <a:cs typeface="Segoe UI"/>
                </a:rPr>
                <a:t>→</a:t>
              </a:r>
              <a:r>
                <a:rPr lang="zh-CN" sz="1200" dirty="0">
                  <a:solidFill>
                    <a:srgbClr val="2B3A4A"/>
                  </a:solidFill>
                  <a:latin typeface="Segoe UI"/>
                  <a:ea typeface="Microsoft YaHei"/>
                  <a:cs typeface="Segoe UI"/>
                </a:rPr>
                <a:t xml:space="preserve"> </a:t>
              </a:r>
              <a:r>
                <a:rPr lang="zh-CN" sz="1200" b="1" dirty="0">
                  <a:solidFill>
                    <a:srgbClr val="C2410C"/>
                  </a:solidFill>
                  <a:latin typeface="Segoe UI"/>
                  <a:ea typeface="Microsoft YaHei"/>
                  <a:cs typeface="Segoe UI"/>
                </a:rPr>
                <a:t xml:space="preserve"> 整体爆破</a:t>
              </a:r>
            </a:p>
          </p:txBody>
        </p:sp>
      </p:grpSp>
      <p:sp>
        <p:nvSpPr>
          <p:cNvPr id="30" name="TextBox 30"/>
          <p:cNvSpPr txBox="1"/>
          <p:nvPr/>
        </p:nvSpPr>
        <p:spPr>
          <a:xfrm>
            <a:off x="11201590" y="6665595"/>
            <a:ext cx="430340"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05 / 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tretch(across)">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heel(1)">
                                      <p:cBhvr>
                                        <p:cTn id="19"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26"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2B3A4A"/>
              </a:gs>
              <a:gs pos="100000">
                <a:srgbClr val="1A2530"/>
              </a:gs>
            </a:gsLst>
            <a:lin ang="2700000" scaled="1"/>
          </a:gradFill>
          <a:ln>
            <a:noFill/>
          </a:ln>
        </p:spPr>
      </p:sp>
      <p:grpSp>
        <p:nvGrpSpPr>
          <p:cNvPr id="7" name="Group 7"/>
          <p:cNvGrpSpPr/>
          <p:nvPr/>
        </p:nvGrpSpPr>
        <p:grpSpPr>
          <a:xfrm>
            <a:off x="762000" y="923925"/>
            <a:ext cx="1905000" cy="5200650"/>
            <a:chOff x="762000" y="923925"/>
            <a:chExt cx="1905000" cy="5200650"/>
          </a:xfrm>
        </p:grpSpPr>
        <p:sp>
          <p:nvSpPr>
            <p:cNvPr id="3" name="Line 3"/>
            <p:cNvSpPr/>
            <p:nvPr/>
          </p:nvSpPr>
          <p:spPr>
            <a:xfrm>
              <a:off x="762000" y="1714500"/>
              <a:ext cx="1143000" cy="9525"/>
            </a:xfrm>
            <a:custGeom>
              <a:avLst/>
              <a:gdLst/>
              <a:ahLst/>
              <a:cxnLst/>
              <a:rect l="l" t="t" r="r" b="b"/>
              <a:pathLst>
                <a:path w="1143000" h="9525">
                  <a:moveTo>
                    <a:pt x="0" y="0"/>
                  </a:moveTo>
                  <a:lnTo>
                    <a:pt x="1143000" y="0"/>
                  </a:lnTo>
                </a:path>
              </a:pathLst>
            </a:custGeom>
            <a:noFill/>
            <a:ln w="9525">
              <a:solidFill>
                <a:srgbClr val="8B7355"/>
              </a:solidFill>
            </a:ln>
          </p:spPr>
        </p:sp>
        <p:sp>
          <p:nvSpPr>
            <p:cNvPr id="4" name="Line 4"/>
            <p:cNvSpPr/>
            <p:nvPr/>
          </p:nvSpPr>
          <p:spPr>
            <a:xfrm>
              <a:off x="762000" y="5143500"/>
              <a:ext cx="1905000" cy="9525"/>
            </a:xfrm>
            <a:custGeom>
              <a:avLst/>
              <a:gdLst/>
              <a:ahLst/>
              <a:cxnLst/>
              <a:rect l="l" t="t" r="r" b="b"/>
              <a:pathLst>
                <a:path w="1905000" h="9525">
                  <a:moveTo>
                    <a:pt x="0" y="0"/>
                  </a:moveTo>
                  <a:lnTo>
                    <a:pt x="1905000" y="0"/>
                  </a:lnTo>
                </a:path>
              </a:pathLst>
            </a:custGeom>
            <a:noFill/>
            <a:ln w="9525">
              <a:solidFill>
                <a:srgbClr val="8B7355"/>
              </a:solidFill>
            </a:ln>
          </p:spPr>
        </p:sp>
        <p:sp>
          <p:nvSpPr>
            <p:cNvPr id="5" name="Ellipse 5"/>
            <p:cNvSpPr/>
            <p:nvPr/>
          </p:nvSpPr>
          <p:spPr>
            <a:xfrm>
              <a:off x="923925" y="923925"/>
              <a:ext cx="57150" cy="57150"/>
            </a:xfrm>
            <a:prstGeom prst="ellipse">
              <a:avLst/>
            </a:prstGeom>
            <a:solidFill>
              <a:srgbClr val="8B7355"/>
            </a:solidFill>
            <a:ln>
              <a:noFill/>
            </a:ln>
          </p:spPr>
        </p:sp>
        <p:sp>
          <p:nvSpPr>
            <p:cNvPr id="6" name="Ellipse 6"/>
            <p:cNvSpPr/>
            <p:nvPr/>
          </p:nvSpPr>
          <p:spPr>
            <a:xfrm>
              <a:off x="923925" y="6067425"/>
              <a:ext cx="57150" cy="57150"/>
            </a:xfrm>
            <a:prstGeom prst="ellipse">
              <a:avLst/>
            </a:prstGeom>
            <a:solidFill>
              <a:srgbClr val="8B7355"/>
            </a:solidFill>
            <a:ln>
              <a:noFill/>
            </a:ln>
          </p:spPr>
        </p:sp>
      </p:grpSp>
      <p:grpSp>
        <p:nvGrpSpPr>
          <p:cNvPr id="12" name="Group 12"/>
          <p:cNvGrpSpPr/>
          <p:nvPr/>
        </p:nvGrpSpPr>
        <p:grpSpPr>
          <a:xfrm>
            <a:off x="6381750" y="857250"/>
            <a:ext cx="5143500" cy="5143500"/>
            <a:chOff x="6381750" y="857250"/>
            <a:chExt cx="5143500" cy="5143500"/>
          </a:xfrm>
        </p:grpSpPr>
        <p:sp>
          <p:nvSpPr>
            <p:cNvPr id="8" name="Ellipse 8"/>
            <p:cNvSpPr/>
            <p:nvPr/>
          </p:nvSpPr>
          <p:spPr>
            <a:xfrm>
              <a:off x="6667500" y="1143000"/>
              <a:ext cx="4572000" cy="4572000"/>
            </a:xfrm>
            <a:prstGeom prst="ellipse">
              <a:avLst/>
            </a:prstGeom>
            <a:solidFill>
              <a:srgbClr val="8B7355">
                <a:alpha val="15000"/>
              </a:srgbClr>
            </a:solidFill>
            <a:ln>
              <a:noFill/>
            </a:ln>
          </p:spPr>
        </p:sp>
        <p:pic>
          <p:nvPicPr>
            <p:cNvPr id="9" name="Image 9"/>
            <p:cNvPicPr>
              <a:picLocks noChangeAspect="1"/>
            </p:cNvPicPr>
            <p:nvPr/>
          </p:nvPicPr>
          <p:blipFill>
            <a:blip r:embed="rId2"/>
            <a:stretch>
              <a:fillRect/>
            </a:stretch>
          </p:blipFill>
          <p:spPr>
            <a:xfrm>
              <a:off x="6667500" y="1143000"/>
              <a:ext cx="4572000" cy="4572000"/>
            </a:xfrm>
            <a:prstGeom prst="ellipse">
              <a:avLst/>
            </a:prstGeom>
          </p:spPr>
        </p:pic>
        <p:sp>
          <p:nvSpPr>
            <p:cNvPr id="10" name="Ellipse 10"/>
            <p:cNvSpPr/>
            <p:nvPr/>
          </p:nvSpPr>
          <p:spPr>
            <a:xfrm>
              <a:off x="6667500" y="1143000"/>
              <a:ext cx="4572000" cy="4572000"/>
            </a:xfrm>
            <a:prstGeom prst="ellipse">
              <a:avLst/>
            </a:prstGeom>
            <a:noFill/>
            <a:ln w="19050">
              <a:solidFill>
                <a:srgbClr val="8B7355">
                  <a:alpha val="60000"/>
                </a:srgbClr>
              </a:solidFill>
            </a:ln>
          </p:spPr>
        </p:sp>
        <p:sp>
          <p:nvSpPr>
            <p:cNvPr id="11" name="Ellipse 11"/>
            <p:cNvSpPr/>
            <p:nvPr/>
          </p:nvSpPr>
          <p:spPr>
            <a:xfrm>
              <a:off x="6381750" y="857250"/>
              <a:ext cx="5143500" cy="5143500"/>
            </a:xfrm>
            <a:prstGeom prst="ellipse">
              <a:avLst/>
            </a:prstGeom>
            <a:noFill/>
            <a:ln w="9525">
              <a:solidFill>
                <a:srgbClr val="8B7355">
                  <a:alpha val="30000"/>
                </a:srgbClr>
              </a:solidFill>
              <a:custDash>
                <a:ds d="400000" sp="800000"/>
              </a:custDash>
            </a:ln>
          </p:spPr>
        </p:sp>
      </p:grpSp>
      <p:grpSp>
        <p:nvGrpSpPr>
          <p:cNvPr id="16" name="Group 16"/>
          <p:cNvGrpSpPr/>
          <p:nvPr/>
        </p:nvGrpSpPr>
        <p:grpSpPr>
          <a:xfrm>
            <a:off x="533400" y="1581150"/>
            <a:ext cx="2034540" cy="3657600"/>
            <a:chOff x="533400" y="1581150"/>
            <a:chExt cx="2034540" cy="3657600"/>
          </a:xfrm>
        </p:grpSpPr>
        <p:sp>
          <p:nvSpPr>
            <p:cNvPr id="13" name="TextBox 13"/>
            <p:cNvSpPr txBox="1"/>
            <p:nvPr/>
          </p:nvSpPr>
          <p:spPr>
            <a:xfrm>
              <a:off x="748665" y="1982152"/>
              <a:ext cx="646597" cy="213360"/>
            </a:xfrm>
            <a:prstGeom prst="rect">
              <a:avLst/>
            </a:prstGeom>
            <a:noFill/>
            <a:ln>
              <a:noFill/>
            </a:ln>
          </p:spPr>
          <p:txBody>
            <a:bodyPr wrap="none" lIns="0" tIns="0" rIns="0" bIns="0" anchor="t" anchorCtr="0">
              <a:spAutoFit/>
            </a:bodyPr>
            <a:lstStyle/>
            <a:p>
              <a:pPr algn="l"/>
              <a:r>
                <a:rPr lang="zh-CN" sz="1050" b="1" dirty="0">
                  <a:solidFill>
                    <a:srgbClr val="8B7355"/>
                  </a:solidFill>
                  <a:latin typeface="Georgia"/>
                  <a:ea typeface="SimSun"/>
                  <a:cs typeface="Georgia"/>
                </a:rPr>
                <a:t>CHAPTER</a:t>
              </a:r>
            </a:p>
          </p:txBody>
        </p:sp>
        <p:sp>
          <p:nvSpPr>
            <p:cNvPr id="14" name="TextBox 14"/>
            <p:cNvSpPr txBox="1"/>
            <p:nvPr/>
          </p:nvSpPr>
          <p:spPr>
            <a:xfrm>
              <a:off x="533400" y="1581150"/>
              <a:ext cx="2034540" cy="3657600"/>
            </a:xfrm>
            <a:prstGeom prst="rect">
              <a:avLst/>
            </a:prstGeom>
            <a:noFill/>
            <a:ln>
              <a:noFill/>
            </a:ln>
          </p:spPr>
          <p:txBody>
            <a:bodyPr wrap="none" lIns="0" tIns="0" rIns="0" bIns="0" anchor="t" anchorCtr="0">
              <a:spAutoFit/>
            </a:bodyPr>
            <a:lstStyle/>
            <a:p>
              <a:pPr algn="l"/>
              <a:r>
                <a:rPr lang="zh-CN" sz="18000" dirty="0">
                  <a:solidFill>
                    <a:srgbClr val="F5F2EC">
                      <a:alphaMod val="95000"/>
                    </a:srgbClr>
                  </a:solidFill>
                  <a:latin typeface="Georgia"/>
                  <a:ea typeface="SimSun"/>
                  <a:cs typeface="Georgia"/>
                </a:rPr>
                <a:t>II</a:t>
              </a:r>
            </a:p>
          </p:txBody>
        </p:sp>
        <p:sp>
          <p:nvSpPr>
            <p:cNvPr id="15" name="Line 15"/>
            <p:cNvSpPr/>
            <p:nvPr/>
          </p:nvSpPr>
          <p:spPr>
            <a:xfrm>
              <a:off x="762000" y="4000500"/>
              <a:ext cx="762000" cy="9525"/>
            </a:xfrm>
            <a:custGeom>
              <a:avLst/>
              <a:gdLst/>
              <a:ahLst/>
              <a:cxnLst/>
              <a:rect l="l" t="t" r="r" b="b"/>
              <a:pathLst>
                <a:path w="762000" h="9525">
                  <a:moveTo>
                    <a:pt x="0" y="0"/>
                  </a:moveTo>
                  <a:lnTo>
                    <a:pt x="762000" y="0"/>
                  </a:lnTo>
                </a:path>
              </a:pathLst>
            </a:custGeom>
            <a:noFill/>
            <a:ln w="28575">
              <a:solidFill>
                <a:srgbClr val="C2410C"/>
              </a:solidFill>
            </a:ln>
          </p:spPr>
        </p:sp>
      </p:grpSp>
      <p:grpSp>
        <p:nvGrpSpPr>
          <p:cNvPr id="20" name="Group 20"/>
          <p:cNvGrpSpPr/>
          <p:nvPr/>
        </p:nvGrpSpPr>
        <p:grpSpPr>
          <a:xfrm>
            <a:off x="716280" y="4278630"/>
            <a:ext cx="2819400" cy="1364932"/>
            <a:chOff x="716280" y="4278630"/>
            <a:chExt cx="2819400" cy="1364932"/>
          </a:xfrm>
        </p:grpSpPr>
        <p:sp>
          <p:nvSpPr>
            <p:cNvPr id="17" name="TextBox 17"/>
            <p:cNvSpPr txBox="1"/>
            <p:nvPr/>
          </p:nvSpPr>
          <p:spPr>
            <a:xfrm>
              <a:off x="716280" y="4278630"/>
              <a:ext cx="2299716" cy="731520"/>
            </a:xfrm>
            <a:prstGeom prst="rect">
              <a:avLst/>
            </a:prstGeom>
            <a:noFill/>
            <a:ln>
              <a:noFill/>
            </a:ln>
          </p:spPr>
          <p:txBody>
            <a:bodyPr wrap="none" lIns="0" tIns="0" rIns="0" bIns="0" anchor="t" anchorCtr="0">
              <a:spAutoFit/>
            </a:bodyPr>
            <a:lstStyle/>
            <a:p>
              <a:pPr algn="l"/>
              <a:r>
                <a:rPr lang="zh-CN" sz="3600" b="1" dirty="0">
                  <a:solidFill>
                    <a:srgbClr val="F5F2EC"/>
                  </a:solidFill>
                  <a:latin typeface="Georgia"/>
                  <a:ea typeface="KaiTi"/>
                  <a:cs typeface="Georgia"/>
                </a:rPr>
                <a:t>悉尼范本</a:t>
              </a:r>
            </a:p>
          </p:txBody>
        </p:sp>
        <p:sp>
          <p:nvSpPr>
            <p:cNvPr id="18" name="TextBox 18"/>
            <p:cNvSpPr txBox="1"/>
            <p:nvPr/>
          </p:nvSpPr>
          <p:spPr>
            <a:xfrm>
              <a:off x="741045" y="4946332"/>
              <a:ext cx="2716816" cy="335280"/>
            </a:xfrm>
            <a:prstGeom prst="rect">
              <a:avLst/>
            </a:prstGeom>
            <a:noFill/>
            <a:ln>
              <a:noFill/>
            </a:ln>
          </p:spPr>
          <p:txBody>
            <a:bodyPr wrap="none" lIns="0" tIns="0" rIns="0" bIns="0" anchor="t" anchorCtr="0">
              <a:spAutoFit/>
            </a:bodyPr>
            <a:lstStyle/>
            <a:p>
              <a:pPr algn="l"/>
              <a:r>
                <a:rPr lang="zh-CN" sz="1650" dirty="0">
                  <a:solidFill>
                    <a:srgbClr val="D6CFC0"/>
                  </a:solidFill>
                  <a:latin typeface="Segoe UI"/>
                  <a:ea typeface="Microsoft YaHei"/>
                  <a:cs typeface="Segoe UI"/>
                </a:rPr>
                <a:t>一座摩天楼的"再生"革命</a:t>
              </a:r>
            </a:p>
          </p:txBody>
        </p:sp>
        <p:sp>
          <p:nvSpPr>
            <p:cNvPr id="19" name="TextBox 19"/>
            <p:cNvSpPr txBox="1"/>
            <p:nvPr/>
          </p:nvSpPr>
          <p:spPr>
            <a:xfrm>
              <a:off x="748665" y="5430202"/>
              <a:ext cx="2787015" cy="213360"/>
            </a:xfrm>
            <a:prstGeom prst="rect">
              <a:avLst/>
            </a:prstGeom>
            <a:noFill/>
            <a:ln>
              <a:noFill/>
            </a:ln>
          </p:spPr>
          <p:txBody>
            <a:bodyPr wrap="none" lIns="0" tIns="0" rIns="0" bIns="0" anchor="t" anchorCtr="0">
              <a:spAutoFit/>
            </a:bodyPr>
            <a:lstStyle/>
            <a:p>
              <a:pPr algn="l"/>
              <a:r>
                <a:rPr lang="zh-CN" sz="1050" i="1" dirty="0">
                  <a:solidFill>
                    <a:srgbClr val="8B7355"/>
                  </a:solidFill>
                  <a:latin typeface="Georgia"/>
                  <a:ea typeface="SimSun"/>
                  <a:cs typeface="Georgia"/>
                </a:rPr>
                <a:t>SYDNEY · QUAY QUARTER TOWER · 2022</a:t>
              </a:r>
            </a:p>
          </p:txBody>
        </p:sp>
      </p:grpSp>
      <p:grpSp>
        <p:nvGrpSpPr>
          <p:cNvPr id="24" name="Group 24"/>
          <p:cNvGrpSpPr/>
          <p:nvPr/>
        </p:nvGrpSpPr>
        <p:grpSpPr>
          <a:xfrm>
            <a:off x="750570" y="6286500"/>
            <a:ext cx="10881360" cy="409575"/>
            <a:chOff x="750570" y="6286500"/>
            <a:chExt cx="10881360" cy="409575"/>
          </a:xfrm>
        </p:grpSpPr>
        <p:sp>
          <p:nvSpPr>
            <p:cNvPr id="21" name="Line 21"/>
            <p:cNvSpPr/>
            <p:nvPr/>
          </p:nvSpPr>
          <p:spPr>
            <a:xfrm>
              <a:off x="762000" y="6286500"/>
              <a:ext cx="1905000" cy="9525"/>
            </a:xfrm>
            <a:custGeom>
              <a:avLst/>
              <a:gdLst/>
              <a:ahLst/>
              <a:cxnLst/>
              <a:rect l="l" t="t" r="r" b="b"/>
              <a:pathLst>
                <a:path w="1905000" h="9525">
                  <a:moveTo>
                    <a:pt x="0" y="0"/>
                  </a:moveTo>
                  <a:lnTo>
                    <a:pt x="1905000" y="0"/>
                  </a:lnTo>
                </a:path>
              </a:pathLst>
            </a:custGeom>
            <a:noFill/>
            <a:ln w="9525">
              <a:solidFill>
                <a:srgbClr val="5A6B7A"/>
              </a:solidFill>
            </a:ln>
          </p:spPr>
        </p:sp>
        <p:sp>
          <p:nvSpPr>
            <p:cNvPr id="22" name="TextBox 22"/>
            <p:cNvSpPr txBox="1"/>
            <p:nvPr/>
          </p:nvSpPr>
          <p:spPr>
            <a:xfrm>
              <a:off x="750570" y="6513195"/>
              <a:ext cx="1488472" cy="182880"/>
            </a:xfrm>
            <a:prstGeom prst="rect">
              <a:avLst/>
            </a:prstGeom>
            <a:noFill/>
            <a:ln>
              <a:noFill/>
            </a:ln>
          </p:spPr>
          <p:txBody>
            <a:bodyPr wrap="none" lIns="0" tIns="0" rIns="0" bIns="0" anchor="t" anchorCtr="0">
              <a:spAutoFit/>
            </a:bodyPr>
            <a:lstStyle/>
            <a:p>
              <a:pPr algn="l"/>
              <a:r>
                <a:rPr lang="zh-CN" sz="900" dirty="0">
                  <a:solidFill>
                    <a:srgbClr val="8B7355"/>
                  </a:solidFill>
                  <a:latin typeface="Segoe UI"/>
                  <a:ea typeface="Microsoft YaHei"/>
                  <a:cs typeface="Segoe UI"/>
                </a:rPr>
                <a:t>主动再生 · 不再大拆大建</a:t>
              </a:r>
            </a:p>
          </p:txBody>
        </p:sp>
        <p:sp>
          <p:nvSpPr>
            <p:cNvPr id="23" name="TextBox 23"/>
            <p:cNvSpPr txBox="1"/>
            <p:nvPr/>
          </p:nvSpPr>
          <p:spPr>
            <a:xfrm>
              <a:off x="11201590" y="6513195"/>
              <a:ext cx="430340" cy="182880"/>
            </a:xfrm>
            <a:prstGeom prst="rect">
              <a:avLst/>
            </a:prstGeom>
            <a:noFill/>
            <a:ln>
              <a:noFill/>
            </a:ln>
          </p:spPr>
          <p:txBody>
            <a:bodyPr wrap="none" lIns="0" tIns="0" rIns="0" bIns="0" anchor="t" anchorCtr="0">
              <a:spAutoFit/>
            </a:bodyPr>
            <a:lstStyle/>
            <a:p>
              <a:pPr algn="r"/>
              <a:r>
                <a:rPr lang="zh-CN" sz="900" dirty="0">
                  <a:solidFill>
                    <a:srgbClr val="8B7355"/>
                  </a:solidFill>
                  <a:latin typeface="Georgia"/>
                  <a:ea typeface="SimSun"/>
                  <a:cs typeface="Georgia"/>
                </a:rPr>
                <a:t>06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image">
                                      <p:cBhvr>
                                        <p:cTn id="11" dur="400"/>
                                        <p:tgtEl>
                                          <p:spTgt spid="16"/>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3" cy="321469"/>
            <a:chOff x="571500" y="571500"/>
            <a:chExt cx="11061383" cy="321469"/>
          </a:xfrm>
        </p:grpSpPr>
        <p:sp>
          <p:nvSpPr>
            <p:cNvPr id="3" name="Rectangle 3"/>
            <p:cNvSpPr/>
            <p:nvPr/>
          </p:nvSpPr>
          <p:spPr>
            <a:xfrm>
              <a:off x="571500" y="571500"/>
              <a:ext cx="28575" cy="304800"/>
            </a:xfrm>
            <a:prstGeom prst="rect">
              <a:avLst/>
            </a:prstGeom>
            <a:solidFill>
              <a:srgbClr val="8B7355"/>
            </a:solidFill>
            <a:ln>
              <a:noFill/>
            </a:ln>
          </p:spPr>
        </p:sp>
        <p:sp>
          <p:nvSpPr>
            <p:cNvPr id="4" name="TextBox 4"/>
            <p:cNvSpPr txBox="1"/>
            <p:nvPr/>
          </p:nvSpPr>
          <p:spPr>
            <a:xfrm>
              <a:off x="711518" y="694849"/>
              <a:ext cx="1736754"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II · 范本 · REGENERATION</a:t>
              </a:r>
            </a:p>
          </p:txBody>
        </p:sp>
        <p:sp>
          <p:nvSpPr>
            <p:cNvPr id="5" name="TextBox 5"/>
            <p:cNvSpPr txBox="1"/>
            <p:nvPr/>
          </p:nvSpPr>
          <p:spPr>
            <a:xfrm>
              <a:off x="9521976" y="694849"/>
              <a:ext cx="2110907"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QUAY QUARTER TOWER · SYDNEY</a:t>
              </a:r>
            </a:p>
          </p:txBody>
        </p:sp>
      </p:grpSp>
      <p:grpSp>
        <p:nvGrpSpPr>
          <p:cNvPr id="9" name="Group 9"/>
          <p:cNvGrpSpPr/>
          <p:nvPr/>
        </p:nvGrpSpPr>
        <p:grpSpPr>
          <a:xfrm>
            <a:off x="537210" y="1137285"/>
            <a:ext cx="7148865" cy="548640"/>
            <a:chOff x="537210" y="1137285"/>
            <a:chExt cx="7148865" cy="548640"/>
          </a:xfrm>
        </p:grpSpPr>
        <p:sp>
          <p:nvSpPr>
            <p:cNvPr id="7" name="TextBox 7"/>
            <p:cNvSpPr txBox="1"/>
            <p:nvPr/>
          </p:nvSpPr>
          <p:spPr>
            <a:xfrm>
              <a:off x="537210" y="1137285"/>
              <a:ext cx="7148865"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世界第一座</a:t>
              </a:r>
              <a:r>
                <a:rPr lang="zh-CN" sz="2700" b="1" dirty="0">
                  <a:solidFill>
                    <a:srgbClr val="8B7355"/>
                  </a:solidFill>
                  <a:latin typeface="Georgia"/>
                  <a:ea typeface="KaiTi"/>
                  <a:cs typeface="Georgia"/>
                </a:rPr>
                <a:t>"全面升级改造"</a:t>
              </a:r>
              <a:r>
                <a:rPr lang="zh-CN" sz="2700" b="1" dirty="0">
                  <a:solidFill>
                    <a:srgbClr val="2B3A4A"/>
                  </a:solidFill>
                  <a:latin typeface="Georgia"/>
                  <a:ea typeface="KaiTi"/>
                  <a:cs typeface="Georgia"/>
                </a:rPr>
                <a:t>的摩天大楼</a:t>
              </a:r>
            </a:p>
          </p:txBody>
        </p:sp>
        <p:sp>
          <p:nvSpPr>
            <p:cNvPr id="8" name="Line 8"/>
            <p:cNvSpPr/>
            <p:nvPr/>
          </p:nvSpPr>
          <p:spPr>
            <a:xfrm>
              <a:off x="571500" y="1657350"/>
              <a:ext cx="952500" cy="9525"/>
            </a:xfrm>
            <a:custGeom>
              <a:avLst/>
              <a:gdLst/>
              <a:ahLst/>
              <a:cxnLst/>
              <a:rect l="l" t="t" r="r" b="b"/>
              <a:pathLst>
                <a:path w="952500" h="9525">
                  <a:moveTo>
                    <a:pt x="0" y="0"/>
                  </a:moveTo>
                  <a:lnTo>
                    <a:pt x="952500" y="0"/>
                  </a:lnTo>
                </a:path>
              </a:pathLst>
            </a:custGeom>
            <a:noFill/>
            <a:ln w="19050">
              <a:solidFill>
                <a:srgbClr val="8B7355"/>
              </a:solidFill>
            </a:ln>
          </p:spPr>
        </p:sp>
      </p:grpSp>
      <p:grpSp>
        <p:nvGrpSpPr>
          <p:cNvPr id="17" name="Group 17"/>
          <p:cNvGrpSpPr/>
          <p:nvPr/>
        </p:nvGrpSpPr>
        <p:grpSpPr>
          <a:xfrm>
            <a:off x="559118" y="2000250"/>
            <a:ext cx="3060382" cy="4455319"/>
            <a:chOff x="559118" y="2000250"/>
            <a:chExt cx="3060382" cy="4455319"/>
          </a:xfrm>
        </p:grpSpPr>
        <p:pic>
          <p:nvPicPr>
            <p:cNvPr id="10" name="Image 10"/>
            <p:cNvPicPr>
              <a:picLocks noChangeAspect="1"/>
            </p:cNvPicPr>
            <p:nvPr/>
          </p:nvPicPr>
          <p:blipFill>
            <a:blip r:embed="rId2"/>
            <a:srcRect l="0" t="5152" r="0" b="5152"/>
            <a:stretch>
              <a:fillRect/>
            </a:stretch>
          </p:blipFill>
          <p:spPr>
            <a:xfrm>
              <a:off x="571500" y="2000250"/>
              <a:ext cx="3048000" cy="4095750"/>
            </a:xfrm>
            <a:prstGeom prst="roundRect">
              <a:avLst>
                <a:gd name="adj" fmla="val 1875"/>
              </a:avLst>
            </a:prstGeom>
          </p:spPr>
        </p:pic>
        <p:sp>
          <p:nvSpPr>
            <p:cNvPr id="11" name="Rectangle 11"/>
            <p:cNvSpPr/>
            <p:nvPr/>
          </p:nvSpPr>
          <p:spPr>
            <a:xfrm>
              <a:off x="571500" y="2000250"/>
              <a:ext cx="3048000" cy="1143000"/>
            </a:xfrm>
            <a:prstGeom prst="rect">
              <a:avLst/>
            </a:prstGeom>
            <a:gradFill>
              <a:gsLst>
                <a:gs pos="0">
                  <a:srgbClr val="5A6B7A">
                    <a:alpha val="55000"/>
                  </a:srgbClr>
                </a:gs>
                <a:gs pos="40000">
                  <a:srgbClr val="5A6B7A">
                    <a:alpha val="0"/>
                  </a:srgbClr>
                </a:gs>
              </a:gsLst>
              <a:lin ang="5400000" scaled="1"/>
            </a:gradFill>
            <a:ln>
              <a:noFill/>
            </a:ln>
          </p:spPr>
        </p:sp>
        <p:sp>
          <p:nvSpPr>
            <p:cNvPr id="12" name="Rectangle 12"/>
            <p:cNvSpPr/>
            <p:nvPr/>
          </p:nvSpPr>
          <p:spPr>
            <a:xfrm>
              <a:off x="571500" y="5334000"/>
              <a:ext cx="30480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15" name="Group 15"/>
            <p:cNvGrpSpPr/>
            <p:nvPr/>
          </p:nvGrpSpPr>
          <p:grpSpPr>
            <a:xfrm>
              <a:off x="762000" y="2190750"/>
              <a:ext cx="684990" cy="190500"/>
              <a:chOff x="762000" y="2190750"/>
              <a:chExt cx="684990" cy="190500"/>
            </a:xfrm>
          </p:grpSpPr>
          <p:sp>
            <p:nvSpPr>
              <p:cNvPr id="13" name="Rectangle 13"/>
              <p:cNvSpPr/>
              <p:nvPr/>
            </p:nvSpPr>
            <p:spPr>
              <a:xfrm>
                <a:off x="762000" y="2190750"/>
                <a:ext cx="114300" cy="114300"/>
              </a:xfrm>
              <a:prstGeom prst="rect">
                <a:avLst/>
              </a:prstGeom>
              <a:solidFill>
                <a:srgbClr val="F5F2EC"/>
              </a:solidFill>
              <a:ln>
                <a:noFill/>
              </a:ln>
            </p:spPr>
          </p:sp>
          <p:sp>
            <p:nvSpPr>
              <p:cNvPr id="14" name="TextBox 14"/>
              <p:cNvSpPr txBox="1"/>
              <p:nvPr/>
            </p:nvSpPr>
            <p:spPr>
              <a:xfrm>
                <a:off x="941070" y="2198370"/>
                <a:ext cx="505920"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BEFORE</a:t>
                </a:r>
              </a:p>
            </p:txBody>
          </p:sp>
        </p:grpSp>
        <p:sp>
          <p:nvSpPr>
            <p:cNvPr id="16" name="TextBox 16"/>
            <p:cNvSpPr txBox="1"/>
            <p:nvPr/>
          </p:nvSpPr>
          <p:spPr>
            <a:xfrm>
              <a:off x="559118" y="6257449"/>
              <a:ext cx="2516743"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原 AMP 中心 · 1976 年 · 206 米 · 49 层</a:t>
              </a:r>
            </a:p>
          </p:txBody>
        </p:sp>
      </p:grpSp>
      <p:grpSp>
        <p:nvGrpSpPr>
          <p:cNvPr id="22" name="Group 22"/>
          <p:cNvGrpSpPr/>
          <p:nvPr/>
        </p:nvGrpSpPr>
        <p:grpSpPr>
          <a:xfrm>
            <a:off x="3905250" y="3966210"/>
            <a:ext cx="381000" cy="891540"/>
            <a:chOff x="3905250" y="3966210"/>
            <a:chExt cx="381000" cy="891540"/>
          </a:xfrm>
        </p:grpSpPr>
        <p:sp>
          <p:nvSpPr>
            <p:cNvPr id="18" name="TextBox 18"/>
            <p:cNvSpPr txBox="1"/>
            <p:nvPr/>
          </p:nvSpPr>
          <p:spPr>
            <a:xfrm>
              <a:off x="3979297" y="3966210"/>
              <a:ext cx="232905" cy="243840"/>
            </a:xfrm>
            <a:prstGeom prst="rect">
              <a:avLst/>
            </a:prstGeom>
            <a:noFill/>
            <a:ln>
              <a:noFill/>
            </a:ln>
          </p:spPr>
          <p:txBody>
            <a:bodyPr wrap="none" lIns="0" tIns="0" rIns="0" bIns="0" anchor="t" anchorCtr="0">
              <a:spAutoFit/>
            </a:bodyPr>
            <a:lstStyle/>
            <a:p>
              <a:pPr algn="ctr"/>
              <a:r>
                <a:rPr lang="zh-CN" sz="1200" b="1" dirty="0">
                  <a:solidFill>
                    <a:srgbClr val="8B7355"/>
                  </a:solidFill>
                  <a:latin typeface="Georgia"/>
                  <a:ea typeface="SimSun"/>
                  <a:cs typeface="Georgia"/>
                </a:rPr>
                <a:t>RE</a:t>
              </a:r>
            </a:p>
          </p:txBody>
        </p:sp>
        <p:sp>
          <p:nvSpPr>
            <p:cNvPr id="19" name="Line 19"/>
            <p:cNvSpPr/>
            <p:nvPr/>
          </p:nvSpPr>
          <p:spPr>
            <a:xfrm>
              <a:off x="3905250" y="4238625"/>
              <a:ext cx="381000" cy="9525"/>
            </a:xfrm>
            <a:custGeom>
              <a:avLst/>
              <a:gdLst/>
              <a:ahLst/>
              <a:cxnLst/>
              <a:rect l="l" t="t" r="r" b="b"/>
              <a:pathLst>
                <a:path w="381000" h="9525">
                  <a:moveTo>
                    <a:pt x="0" y="0"/>
                  </a:moveTo>
                  <a:lnTo>
                    <a:pt x="381000" y="0"/>
                  </a:lnTo>
                </a:path>
              </a:pathLst>
            </a:custGeom>
            <a:noFill/>
            <a:ln w="19050">
              <a:solidFill>
                <a:srgbClr val="8B7355"/>
              </a:solidFill>
            </a:ln>
          </p:spPr>
        </p:sp>
        <p:sp>
          <p:nvSpPr>
            <p:cNvPr id="20" name="TextBox 20"/>
            <p:cNvSpPr txBox="1"/>
            <p:nvPr/>
          </p:nvSpPr>
          <p:spPr>
            <a:xfrm>
              <a:off x="3928691" y="4328160"/>
              <a:ext cx="334118" cy="243840"/>
            </a:xfrm>
            <a:prstGeom prst="rect">
              <a:avLst/>
            </a:prstGeom>
            <a:noFill/>
            <a:ln>
              <a:noFill/>
            </a:ln>
          </p:spPr>
          <p:txBody>
            <a:bodyPr wrap="none" lIns="0" tIns="0" rIns="0" bIns="0" anchor="t" anchorCtr="0">
              <a:spAutoFit/>
            </a:bodyPr>
            <a:lstStyle/>
            <a:p>
              <a:pPr algn="ctr"/>
              <a:r>
                <a:rPr lang="zh-CN" sz="1200" b="1" dirty="0">
                  <a:solidFill>
                    <a:srgbClr val="8B7355"/>
                  </a:solidFill>
                  <a:latin typeface="Georgia"/>
                  <a:ea typeface="SimSun"/>
                  <a:cs typeface="Georgia"/>
                </a:rPr>
                <a:t>USE</a:t>
              </a:r>
            </a:p>
          </p:txBody>
        </p:sp>
        <p:sp>
          <p:nvSpPr>
            <p:cNvPr id="21" name="Polygon 21"/>
            <p:cNvSpPr/>
            <p:nvPr/>
          </p:nvSpPr>
          <p:spPr>
            <a:xfrm>
              <a:off x="4000500" y="4714875"/>
              <a:ext cx="190500" cy="142875"/>
            </a:xfrm>
            <a:custGeom>
              <a:avLst/>
              <a:gdLst/>
              <a:ahLst/>
              <a:cxnLst/>
              <a:rect l="l" t="t" r="r" b="b"/>
              <a:pathLst>
                <a:path w="190500" h="142875">
                  <a:moveTo>
                    <a:pt x="95250" y="0"/>
                  </a:moveTo>
                  <a:lnTo>
                    <a:pt x="0" y="142875"/>
                  </a:lnTo>
                  <a:lnTo>
                    <a:pt x="190500" y="142875"/>
                  </a:lnTo>
                  <a:close/>
                </a:path>
              </a:pathLst>
            </a:custGeom>
            <a:solidFill>
              <a:srgbClr val="8B7355"/>
            </a:solidFill>
            <a:ln>
              <a:noFill/>
            </a:ln>
          </p:spPr>
        </p:sp>
      </p:grpSp>
      <p:grpSp>
        <p:nvGrpSpPr>
          <p:cNvPr id="30" name="Group 30"/>
          <p:cNvGrpSpPr/>
          <p:nvPr/>
        </p:nvGrpSpPr>
        <p:grpSpPr>
          <a:xfrm>
            <a:off x="4559618" y="2000250"/>
            <a:ext cx="2466904" cy="4455319"/>
            <a:chOff x="4559618" y="2000250"/>
            <a:chExt cx="2466904" cy="4455319"/>
          </a:xfrm>
        </p:grpSpPr>
        <p:pic>
          <p:nvPicPr>
            <p:cNvPr id="23" name="Image 23"/>
            <p:cNvPicPr>
              <a:picLocks noChangeAspect="1"/>
            </p:cNvPicPr>
            <p:nvPr/>
          </p:nvPicPr>
          <p:blipFill>
            <a:blip r:embed="rId3"/>
            <a:srcRect l="0" t="5488" r="0" b="5488"/>
            <a:stretch>
              <a:fillRect/>
            </a:stretch>
          </p:blipFill>
          <p:spPr>
            <a:xfrm>
              <a:off x="4572000" y="2000250"/>
              <a:ext cx="2286000" cy="4095750"/>
            </a:xfrm>
            <a:prstGeom prst="roundRect">
              <a:avLst>
                <a:gd name="adj" fmla="val 2500"/>
              </a:avLst>
            </a:prstGeom>
          </p:spPr>
        </p:pic>
        <p:sp>
          <p:nvSpPr>
            <p:cNvPr id="24" name="Rectangle 24"/>
            <p:cNvSpPr/>
            <p:nvPr/>
          </p:nvSpPr>
          <p:spPr>
            <a:xfrm>
              <a:off x="4572000" y="2000250"/>
              <a:ext cx="2286000" cy="1143000"/>
            </a:xfrm>
            <a:prstGeom prst="rect">
              <a:avLst/>
            </a:prstGeom>
            <a:gradFill>
              <a:gsLst>
                <a:gs pos="0">
                  <a:srgbClr val="8B7355">
                    <a:alpha val="55000"/>
                  </a:srgbClr>
                </a:gs>
                <a:gs pos="40000">
                  <a:srgbClr val="8B7355">
                    <a:alpha val="0"/>
                  </a:srgbClr>
                </a:gs>
              </a:gsLst>
              <a:lin ang="5400000" scaled="1"/>
            </a:gradFill>
            <a:ln>
              <a:noFill/>
            </a:ln>
          </p:spPr>
        </p:sp>
        <p:sp>
          <p:nvSpPr>
            <p:cNvPr id="25" name="Rectangle 25"/>
            <p:cNvSpPr/>
            <p:nvPr/>
          </p:nvSpPr>
          <p:spPr>
            <a:xfrm>
              <a:off x="4572000" y="5334000"/>
              <a:ext cx="22860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28" name="Group 28"/>
            <p:cNvGrpSpPr/>
            <p:nvPr/>
          </p:nvGrpSpPr>
          <p:grpSpPr>
            <a:xfrm>
              <a:off x="4762500" y="2190750"/>
              <a:ext cx="581477" cy="190500"/>
              <a:chOff x="4762500" y="2190750"/>
              <a:chExt cx="581477" cy="190500"/>
            </a:xfrm>
          </p:grpSpPr>
          <p:sp>
            <p:nvSpPr>
              <p:cNvPr id="26" name="Rectangle 26"/>
              <p:cNvSpPr/>
              <p:nvPr/>
            </p:nvSpPr>
            <p:spPr>
              <a:xfrm>
                <a:off x="4762500" y="2190750"/>
                <a:ext cx="114300" cy="114300"/>
              </a:xfrm>
              <a:prstGeom prst="rect">
                <a:avLst/>
              </a:prstGeom>
              <a:solidFill>
                <a:srgbClr val="8B7355"/>
              </a:solidFill>
              <a:ln>
                <a:noFill/>
              </a:ln>
            </p:spPr>
          </p:sp>
          <p:sp>
            <p:nvSpPr>
              <p:cNvPr id="27" name="TextBox 27"/>
              <p:cNvSpPr txBox="1"/>
              <p:nvPr/>
            </p:nvSpPr>
            <p:spPr>
              <a:xfrm>
                <a:off x="4941570" y="2198370"/>
                <a:ext cx="402407"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AFTER</a:t>
                </a:r>
              </a:p>
            </p:txBody>
          </p:sp>
        </p:grpSp>
        <p:sp>
          <p:nvSpPr>
            <p:cNvPr id="29" name="TextBox 29"/>
            <p:cNvSpPr txBox="1"/>
            <p:nvPr/>
          </p:nvSpPr>
          <p:spPr>
            <a:xfrm>
              <a:off x="4559618" y="6257449"/>
              <a:ext cx="2466904"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Quay Quarter Tower · 多功能综合体</a:t>
              </a:r>
            </a:p>
          </p:txBody>
        </p:sp>
      </p:grpSp>
      <p:grpSp>
        <p:nvGrpSpPr>
          <p:cNvPr id="40" name="Group 40"/>
          <p:cNvGrpSpPr/>
          <p:nvPr/>
        </p:nvGrpSpPr>
        <p:grpSpPr>
          <a:xfrm>
            <a:off x="7239000" y="2000250"/>
            <a:ext cx="4381500" cy="1905000"/>
            <a:chOff x="7239000" y="2000250"/>
            <a:chExt cx="4381500" cy="1905000"/>
          </a:xfrm>
        </p:grpSpPr>
        <p:sp>
          <p:nvSpPr>
            <p:cNvPr id="31" name="Rectangle 31"/>
            <p:cNvSpPr/>
            <p:nvPr/>
          </p:nvSpPr>
          <p:spPr>
            <a:xfrm>
              <a:off x="7239000" y="2000250"/>
              <a:ext cx="4381500" cy="1905000"/>
            </a:xfrm>
            <a:prstGeom prst="roundRect">
              <a:avLst>
                <a:gd name="adj" fmla="val 3000"/>
              </a:avLst>
            </a:prstGeom>
            <a:solidFill>
              <a:srgbClr val="EBE6DC"/>
            </a:solidFill>
            <a:ln>
              <a:noFill/>
            </a:ln>
          </p:spPr>
        </p:sp>
        <p:sp>
          <p:nvSpPr>
            <p:cNvPr id="32" name="TextBox 32"/>
            <p:cNvSpPr txBox="1"/>
            <p:nvPr/>
          </p:nvSpPr>
          <p:spPr>
            <a:xfrm>
              <a:off x="7455218" y="2256949"/>
              <a:ext cx="921877" cy="198120"/>
            </a:xfrm>
            <a:prstGeom prst="rect">
              <a:avLst/>
            </a:prstGeom>
            <a:noFill/>
            <a:ln>
              <a:noFill/>
            </a:ln>
          </p:spPr>
          <p:txBody>
            <a:bodyPr wrap="none" lIns="0" tIns="0" rIns="0" bIns="0" anchor="t" anchorCtr="0">
              <a:spAutoFit/>
            </a:bodyPr>
            <a:lstStyle/>
            <a:p>
              <a:pPr algn="l"/>
              <a:r>
                <a:rPr lang="zh-CN" sz="975" b="1" dirty="0">
                  <a:solidFill>
                    <a:srgbClr val="8B7355"/>
                  </a:solidFill>
                  <a:latin typeface="Segoe UI"/>
                  <a:ea typeface="Microsoft YaHei"/>
                  <a:cs typeface="Segoe UI"/>
                </a:rPr>
                <a:t>改造核心原则</a:t>
              </a:r>
            </a:p>
          </p:txBody>
        </p:sp>
        <p:sp>
          <p:nvSpPr>
            <p:cNvPr id="33" name="TextBox 33"/>
            <p:cNvSpPr txBox="1"/>
            <p:nvPr/>
          </p:nvSpPr>
          <p:spPr>
            <a:xfrm>
              <a:off x="7442835" y="2532698"/>
              <a:ext cx="3712738" cy="396240"/>
            </a:xfrm>
            <a:prstGeom prst="rect">
              <a:avLst/>
            </a:prstGeom>
            <a:noFill/>
            <a:ln>
              <a:noFill/>
            </a:ln>
          </p:spPr>
          <p:txBody>
            <a:bodyPr wrap="none" lIns="0" tIns="0" rIns="0" bIns="0" anchor="t" anchorCtr="0">
              <a:spAutoFit/>
            </a:bodyPr>
            <a:lstStyle/>
            <a:p>
              <a:pPr algn="l"/>
              <a:r>
                <a:rPr lang="zh-CN" sz="1950" b="1" dirty="0">
                  <a:solidFill>
                    <a:srgbClr val="2B3A4A"/>
                  </a:solidFill>
                  <a:latin typeface="Georgia"/>
                  <a:ea typeface="KaiTi"/>
                  <a:cs typeface="Georgia"/>
                </a:rPr>
                <a:t>"最大化保留 · 高质量升级"</a:t>
              </a:r>
            </a:p>
          </p:txBody>
        </p:sp>
        <p:sp>
          <p:nvSpPr>
            <p:cNvPr id="34" name="Line 34"/>
            <p:cNvSpPr/>
            <p:nvPr/>
          </p:nvSpPr>
          <p:spPr>
            <a:xfrm>
              <a:off x="7467600" y="2933700"/>
              <a:ext cx="628650" cy="9525"/>
            </a:xfrm>
            <a:custGeom>
              <a:avLst/>
              <a:gdLst/>
              <a:ahLst/>
              <a:cxnLst/>
              <a:rect l="l" t="t" r="r" b="b"/>
              <a:pathLst>
                <a:path w="628650" h="9525">
                  <a:moveTo>
                    <a:pt x="0" y="0"/>
                  </a:moveTo>
                  <a:lnTo>
                    <a:pt x="628650" y="0"/>
                  </a:lnTo>
                </a:path>
              </a:pathLst>
            </a:custGeom>
            <a:noFill/>
            <a:ln w="19050">
              <a:solidFill>
                <a:srgbClr val="C2410C"/>
              </a:solidFill>
            </a:ln>
          </p:spPr>
        </p:sp>
        <p:sp>
          <p:nvSpPr>
            <p:cNvPr id="35" name="TextBox 35"/>
            <p:cNvSpPr txBox="1"/>
            <p:nvPr/>
          </p:nvSpPr>
          <p:spPr>
            <a:xfrm>
              <a:off x="7421880" y="2945130"/>
              <a:ext cx="1002354" cy="731520"/>
            </a:xfrm>
            <a:prstGeom prst="rect">
              <a:avLst/>
            </a:prstGeom>
            <a:noFill/>
            <a:ln>
              <a:noFill/>
            </a:ln>
          </p:spPr>
          <p:txBody>
            <a:bodyPr wrap="none" lIns="0" tIns="0" rIns="0" bIns="0" anchor="t" anchorCtr="0">
              <a:spAutoFit/>
            </a:bodyPr>
            <a:lstStyle/>
            <a:p>
              <a:pPr algn="l"/>
              <a:r>
                <a:rPr lang="zh-CN" sz="3600" b="1" dirty="0">
                  <a:solidFill>
                    <a:srgbClr val="8B7355"/>
                  </a:solidFill>
                  <a:latin typeface="Georgia"/>
                  <a:ea typeface="SimSun"/>
                  <a:cs typeface="Georgia"/>
                </a:rPr>
                <a:t>65</a:t>
              </a:r>
              <a:r>
                <a:rPr lang="zh-CN" sz="1650" b="1" dirty="0">
                  <a:solidFill>
                    <a:srgbClr val="5A6B7A"/>
                  </a:solidFill>
                  <a:latin typeface="Georgia"/>
                  <a:ea typeface="SimSun"/>
                  <a:cs typeface="Georgia"/>
                </a:rPr>
                <a:t>%</a:t>
              </a:r>
            </a:p>
          </p:txBody>
        </p:sp>
        <p:sp>
          <p:nvSpPr>
            <p:cNvPr id="36" name="TextBox 36"/>
            <p:cNvSpPr txBox="1"/>
            <p:nvPr/>
          </p:nvSpPr>
          <p:spPr>
            <a:xfrm>
              <a:off x="7455218" y="3514249"/>
              <a:ext cx="879157"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主体结构保留</a:t>
              </a:r>
            </a:p>
          </p:txBody>
        </p:sp>
        <p:sp>
          <p:nvSpPr>
            <p:cNvPr id="37" name="TextBox 37"/>
            <p:cNvSpPr txBox="1"/>
            <p:nvPr/>
          </p:nvSpPr>
          <p:spPr>
            <a:xfrm>
              <a:off x="8560118" y="3628549"/>
              <a:ext cx="1163955"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（梁、柱和楼板）</a:t>
              </a:r>
            </a:p>
          </p:txBody>
        </p:sp>
        <p:sp>
          <p:nvSpPr>
            <p:cNvPr id="38" name="TextBox 38"/>
            <p:cNvSpPr txBox="1"/>
            <p:nvPr/>
          </p:nvSpPr>
          <p:spPr>
            <a:xfrm>
              <a:off x="9669780" y="2945130"/>
              <a:ext cx="1002354" cy="731520"/>
            </a:xfrm>
            <a:prstGeom prst="rect">
              <a:avLst/>
            </a:prstGeom>
            <a:noFill/>
            <a:ln>
              <a:noFill/>
            </a:ln>
          </p:spPr>
          <p:txBody>
            <a:bodyPr wrap="none" lIns="0" tIns="0" rIns="0" bIns="0" anchor="t" anchorCtr="0">
              <a:spAutoFit/>
            </a:bodyPr>
            <a:lstStyle/>
            <a:p>
              <a:pPr algn="l"/>
              <a:r>
                <a:rPr lang="zh-CN" sz="3600" b="1" dirty="0">
                  <a:solidFill>
                    <a:srgbClr val="8B7355"/>
                  </a:solidFill>
                  <a:latin typeface="Georgia"/>
                  <a:ea typeface="SimSun"/>
                  <a:cs typeface="Georgia"/>
                </a:rPr>
                <a:t>95</a:t>
              </a:r>
              <a:r>
                <a:rPr lang="zh-CN" sz="1650" b="1" dirty="0">
                  <a:solidFill>
                    <a:srgbClr val="5A6B7A"/>
                  </a:solidFill>
                  <a:latin typeface="Georgia"/>
                  <a:ea typeface="SimSun"/>
                  <a:cs typeface="Georgia"/>
                </a:rPr>
                <a:t>%</a:t>
              </a:r>
            </a:p>
          </p:txBody>
        </p:sp>
        <p:sp>
          <p:nvSpPr>
            <p:cNvPr id="39" name="TextBox 39"/>
            <p:cNvSpPr txBox="1"/>
            <p:nvPr/>
          </p:nvSpPr>
          <p:spPr>
            <a:xfrm>
              <a:off x="9703118" y="3514249"/>
              <a:ext cx="1021556"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原有核心筒保留</a:t>
              </a:r>
            </a:p>
          </p:txBody>
        </p:sp>
      </p:grpSp>
      <p:grpSp>
        <p:nvGrpSpPr>
          <p:cNvPr id="48" name="Group 48"/>
          <p:cNvGrpSpPr/>
          <p:nvPr/>
        </p:nvGrpSpPr>
        <p:grpSpPr>
          <a:xfrm>
            <a:off x="7239000" y="4095750"/>
            <a:ext cx="4381500" cy="2000250"/>
            <a:chOff x="7239000" y="4095750"/>
            <a:chExt cx="4381500" cy="2000250"/>
          </a:xfrm>
        </p:grpSpPr>
        <p:sp>
          <p:nvSpPr>
            <p:cNvPr id="41" name="Rectangle 41"/>
            <p:cNvSpPr/>
            <p:nvPr/>
          </p:nvSpPr>
          <p:spPr>
            <a:xfrm>
              <a:off x="7239000" y="4095750"/>
              <a:ext cx="4381500" cy="2000250"/>
            </a:xfrm>
            <a:prstGeom prst="roundRect">
              <a:avLst>
                <a:gd name="adj" fmla="val 2857"/>
              </a:avLst>
            </a:prstGeom>
            <a:solidFill>
              <a:srgbClr val="FFFFFF"/>
            </a:solidFill>
            <a:ln w="9525">
              <a:solidFill>
                <a:srgbClr val="D6CFC0"/>
              </a:solidFill>
            </a:ln>
          </p:spPr>
        </p:sp>
        <p:sp>
          <p:nvSpPr>
            <p:cNvPr id="42" name="TextBox 42"/>
            <p:cNvSpPr txBox="1"/>
            <p:nvPr/>
          </p:nvSpPr>
          <p:spPr>
            <a:xfrm>
              <a:off x="7455218" y="4352449"/>
              <a:ext cx="1534904" cy="198120"/>
            </a:xfrm>
            <a:prstGeom prst="rect">
              <a:avLst/>
            </a:prstGeom>
            <a:noFill/>
            <a:ln>
              <a:noFill/>
            </a:ln>
          </p:spPr>
          <p:txBody>
            <a:bodyPr wrap="none" lIns="0" tIns="0" rIns="0" bIns="0" anchor="t" anchorCtr="0">
              <a:spAutoFit/>
            </a:bodyPr>
            <a:lstStyle/>
            <a:p>
              <a:pPr algn="l"/>
              <a:r>
                <a:rPr lang="zh-CN" sz="975" b="1" dirty="0">
                  <a:solidFill>
                    <a:srgbClr val="8B7355"/>
                  </a:solidFill>
                  <a:latin typeface="Segoe UI"/>
                  <a:ea typeface="Microsoft YaHei"/>
                  <a:cs typeface="Segoe UI"/>
                </a:rPr>
                <a:t>设计 · 3XN 建筑事务所</a:t>
              </a:r>
            </a:p>
          </p:txBody>
        </p:sp>
        <p:sp>
          <p:nvSpPr>
            <p:cNvPr id="43" name="TextBox 43"/>
            <p:cNvSpPr txBox="1"/>
            <p:nvPr/>
          </p:nvSpPr>
          <p:spPr>
            <a:xfrm>
              <a:off x="7453312" y="4736306"/>
              <a:ext cx="2411016" cy="228600"/>
            </a:xfrm>
            <a:prstGeom prst="rect">
              <a:avLst/>
            </a:prstGeom>
            <a:noFill/>
            <a:ln>
              <a:noFill/>
            </a:ln>
          </p:spPr>
          <p:txBody>
            <a:bodyPr wrap="none" lIns="0" tIns="0" rIns="0" bIns="0" anchor="t" anchorCtr="0">
              <a:spAutoFit/>
            </a:bodyPr>
            <a:lstStyle/>
            <a:p>
              <a:pPr algn="l"/>
              <a:r>
                <a:rPr lang="zh-CN" sz="1125" dirty="0">
                  <a:solidFill>
                    <a:srgbClr val="2B3A4A"/>
                  </a:solidFill>
                  <a:latin typeface="Segoe UI"/>
                  <a:ea typeface="Microsoft YaHei"/>
                  <a:cs typeface="Segoe UI"/>
                </a:rPr>
                <a:t>"20 世纪中后期建造的摩天大楼"</a:t>
              </a:r>
            </a:p>
          </p:txBody>
        </p:sp>
        <p:sp>
          <p:nvSpPr>
            <p:cNvPr id="44" name="TextBox 44"/>
            <p:cNvSpPr txBox="1"/>
            <p:nvPr/>
          </p:nvSpPr>
          <p:spPr>
            <a:xfrm>
              <a:off x="7453312" y="4964906"/>
              <a:ext cx="2509599" cy="228600"/>
            </a:xfrm>
            <a:prstGeom prst="rect">
              <a:avLst/>
            </a:prstGeom>
            <a:noFill/>
            <a:ln>
              <a:noFill/>
            </a:ln>
          </p:spPr>
          <p:txBody>
            <a:bodyPr wrap="none" lIns="0" tIns="0" rIns="0" bIns="0" anchor="t" anchorCtr="0">
              <a:spAutoFit/>
            </a:bodyPr>
            <a:lstStyle/>
            <a:p>
              <a:pPr algn="l"/>
              <a:r>
                <a:rPr lang="zh-CN" sz="1125" dirty="0">
                  <a:solidFill>
                    <a:srgbClr val="2B3A4A"/>
                  </a:solidFill>
                  <a:latin typeface="Segoe UI"/>
                  <a:ea typeface="Microsoft YaHei"/>
                  <a:cs typeface="Segoe UI"/>
                </a:rPr>
                <a:t>"正逐渐达到其设计寿命的终点。"</a:t>
              </a:r>
            </a:p>
          </p:txBody>
        </p:sp>
        <p:sp>
          <p:nvSpPr>
            <p:cNvPr id="45" name="TextBox 45"/>
            <p:cNvSpPr txBox="1"/>
            <p:nvPr/>
          </p:nvSpPr>
          <p:spPr>
            <a:xfrm>
              <a:off x="7453312" y="5326856"/>
              <a:ext cx="2509599"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"我们必须延长已有建筑的寿命，"</a:t>
              </a:r>
            </a:p>
          </p:txBody>
        </p:sp>
        <p:sp>
          <p:nvSpPr>
            <p:cNvPr id="46" name="TextBox 46"/>
            <p:cNvSpPr txBox="1"/>
            <p:nvPr/>
          </p:nvSpPr>
          <p:spPr>
            <a:xfrm>
              <a:off x="7453312" y="5555456"/>
              <a:ext cx="1523762"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"释放其潜在价值。"</a:t>
              </a:r>
            </a:p>
          </p:txBody>
        </p:sp>
        <p:sp>
          <p:nvSpPr>
            <p:cNvPr id="47" name="TextBox 47"/>
            <p:cNvSpPr txBox="1"/>
            <p:nvPr/>
          </p:nvSpPr>
          <p:spPr>
            <a:xfrm>
              <a:off x="7455218" y="5838349"/>
              <a:ext cx="2139386" cy="198120"/>
            </a:xfrm>
            <a:prstGeom prst="rect">
              <a:avLst/>
            </a:prstGeom>
            <a:noFill/>
            <a:ln>
              <a:noFill/>
            </a:ln>
          </p:spPr>
          <p:txBody>
            <a:bodyPr wrap="none" lIns="0" tIns="0" rIns="0" bIns="0" anchor="t" anchorCtr="0">
              <a:spAutoFit/>
            </a:bodyPr>
            <a:lstStyle/>
            <a:p>
              <a:pPr algn="l"/>
              <a:r>
                <a:rPr lang="zh-CN" sz="975" i="1" dirty="0">
                  <a:solidFill>
                    <a:srgbClr val="C2410C"/>
                  </a:solidFill>
                  <a:latin typeface="Georgia"/>
                  <a:ea typeface="KaiTi"/>
                  <a:cs typeface="Georgia"/>
                </a:rPr>
                <a:t>— 这是建筑可持续性最根本的定义</a:t>
              </a:r>
            </a:p>
          </p:txBody>
        </p:sp>
      </p:grpSp>
      <p:grpSp>
        <p:nvGrpSpPr>
          <p:cNvPr id="51" name="Group 51"/>
          <p:cNvGrpSpPr/>
          <p:nvPr/>
        </p:nvGrpSpPr>
        <p:grpSpPr>
          <a:xfrm>
            <a:off x="560070" y="6665595"/>
            <a:ext cx="11071860" cy="182880"/>
            <a:chOff x="560070" y="6665595"/>
            <a:chExt cx="11071860" cy="182880"/>
          </a:xfrm>
        </p:grpSpPr>
        <p:sp>
          <p:nvSpPr>
            <p:cNvPr id="49" name="TextBox 49"/>
            <p:cNvSpPr txBox="1"/>
            <p:nvPr/>
          </p:nvSpPr>
          <p:spPr>
            <a:xfrm>
              <a:off x="560070" y="6665595"/>
              <a:ext cx="1002125" cy="182880"/>
            </a:xfrm>
            <a:prstGeom prst="rect">
              <a:avLst/>
            </a:prstGeom>
            <a:noFill/>
            <a:ln>
              <a:noFill/>
            </a:ln>
          </p:spPr>
          <p:txBody>
            <a:bodyPr wrap="none" lIns="0" tIns="0" rIns="0" bIns="0" anchor="t" anchorCtr="0">
              <a:spAutoFit/>
            </a:bodyPr>
            <a:lstStyle/>
            <a:p>
              <a:pPr algn="l"/>
              <a:r>
                <a:rPr lang="zh-CN" sz="900" dirty="0">
                  <a:solidFill>
                    <a:srgbClr val="8A8275"/>
                  </a:solidFill>
                  <a:latin typeface="Segoe UI"/>
                  <a:ea typeface="Microsoft YaHei"/>
                  <a:cs typeface="Segoe UI"/>
                </a:rPr>
                <a:t>图源：Archdaily</a:t>
              </a:r>
            </a:p>
          </p:txBody>
        </p:sp>
        <p:sp>
          <p:nvSpPr>
            <p:cNvPr id="50" name="TextBox 50"/>
            <p:cNvSpPr txBox="1"/>
            <p:nvPr/>
          </p:nvSpPr>
          <p:spPr>
            <a:xfrm>
              <a:off x="11201590" y="6665595"/>
              <a:ext cx="430340"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checkerboard(across)">
                                      <p:cBhvr>
                                        <p:cTn id="11" dur="400"/>
                                        <p:tgtEl>
                                          <p:spTgt spid="17"/>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dissolve">
                                      <p:cBhvr>
                                        <p:cTn id="15" dur="400"/>
                                        <p:tgtEl>
                                          <p:spTgt spid="22"/>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slide(fromBottom)">
                                      <p:cBhvr>
                                        <p:cTn id="19" dur="400"/>
                                        <p:tgtEl>
                                          <p:spTgt spid="30"/>
                                        </p:tgtEl>
                                      </p:cBhvr>
                                    </p:animEffect>
                                  </p:childTnLst>
                                </p:cTn>
                              </p:par>
                            </p:childTnLst>
                          </p:cTn>
                        </p:par>
                        <p:par>
                          <p:cTn id="20" fill="hold">
                            <p:stCondLst>
                              <p:cond delay="3600"/>
                            </p:stCondLst>
                            <p:childTnLst>
                              <p:par>
                                <p:cTn id="21" presetID="42" presetClass="entr" presetSubtype="8"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slide(fromLeft)">
                                      <p:cBhvr>
                                        <p:cTn id="23" dur="400"/>
                                        <p:tgtEl>
                                          <p:spTgt spid="40"/>
                                        </p:tgtEl>
                                      </p:cBhvr>
                                    </p:animEffect>
                                  </p:childTnLst>
                                </p:cTn>
                              </p:par>
                            </p:childTnLst>
                          </p:cTn>
                        </p:par>
                        <p:par>
                          <p:cTn id="24" fill="hold">
                            <p:stCondLst>
                              <p:cond delay="4500"/>
                            </p:stCondLst>
                            <p:childTnLst>
                              <p:par>
                                <p:cTn id="25" presetID="14" presetClass="entr" presetSubtype="10" fill="hold"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randombar(horizontal)">
                                      <p:cBhvr>
                                        <p:cTn id="2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22" grpId="0"/>
      <p:bldP spid="30" grpId="0"/>
      <p:bldP spid="40"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F2A1F"/>
            </a:solidFill>
            <a:ln>
              <a:noFill/>
            </a:ln>
          </p:spPr>
        </p:sp>
        <p:pic>
          <p:nvPicPr>
            <p:cNvPr id="3" name="Image 3"/>
            <p:cNvPicPr>
              <a:picLocks noChangeAspect="1"/>
            </p:cNvPicPr>
            <p:nvPr/>
          </p:nvPicPr>
          <p:blipFill>
            <a:blip r:embed="rId2"/>
            <a:srcRect l="0" t="23949" r="0" b="23949"/>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F2A1F">
                    <a:alpha val="85000"/>
                  </a:srgbClr>
                </a:gs>
                <a:gs pos="60000">
                  <a:srgbClr val="1F2A1F">
                    <a:alpha val="40000"/>
                  </a:srgbClr>
                </a:gs>
                <a:gs pos="100000">
                  <a:srgbClr val="1F2A1F">
                    <a:alpha val="0"/>
                  </a:srgbClr>
                </a:gs>
              </a:gsLst>
              <a:lin ang="0" scaled="1"/>
            </a:gradFill>
            <a:ln>
              <a:noFill/>
            </a:ln>
          </p:spPr>
        </p:sp>
      </p:grpSp>
      <p:grpSp>
        <p:nvGrpSpPr>
          <p:cNvPr id="8" name="Group 8"/>
          <p:cNvGrpSpPr/>
          <p:nvPr/>
        </p:nvGrpSpPr>
        <p:grpSpPr>
          <a:xfrm>
            <a:off x="571500" y="571500"/>
            <a:ext cx="2669221" cy="321469"/>
            <a:chOff x="571500" y="571500"/>
            <a:chExt cx="2669221" cy="321469"/>
          </a:xfrm>
        </p:grpSpPr>
        <p:sp>
          <p:nvSpPr>
            <p:cNvPr id="6" name="Rectangle 6"/>
            <p:cNvSpPr/>
            <p:nvPr/>
          </p:nvSpPr>
          <p:spPr>
            <a:xfrm>
              <a:off x="571500" y="571500"/>
              <a:ext cx="28575" cy="304800"/>
            </a:xfrm>
            <a:prstGeom prst="rect">
              <a:avLst/>
            </a:prstGeom>
            <a:solidFill>
              <a:srgbClr val="6B7A4F"/>
            </a:solidFill>
            <a:ln>
              <a:noFill/>
            </a:ln>
          </p:spPr>
        </p:sp>
        <p:sp>
          <p:nvSpPr>
            <p:cNvPr id="7" name="TextBox 7"/>
            <p:cNvSpPr txBox="1"/>
            <p:nvPr/>
          </p:nvSpPr>
          <p:spPr>
            <a:xfrm>
              <a:off x="711518" y="694849"/>
              <a:ext cx="2529203" cy="198120"/>
            </a:xfrm>
            <a:prstGeom prst="rect">
              <a:avLst/>
            </a:prstGeom>
            <a:noFill/>
            <a:ln>
              <a:noFill/>
            </a:ln>
          </p:spPr>
          <p:txBody>
            <a:bodyPr wrap="none" lIns="0" tIns="0" rIns="0" bIns="0" anchor="t" anchorCtr="0">
              <a:spAutoFit/>
            </a:bodyPr>
            <a:lstStyle/>
            <a:p>
              <a:pPr algn="l"/>
              <a:r>
                <a:rPr lang="zh-CN" sz="975" b="1" dirty="0">
                  <a:solidFill>
                    <a:srgbClr val="F5F2EC"/>
                  </a:solidFill>
                  <a:latin typeface="Georgia"/>
                  <a:ea typeface="SimSun"/>
                  <a:cs typeface="Georgia"/>
                </a:rPr>
                <a:t>II · 范本 · EARTHSHOT FINALIST 2025</a:t>
              </a:r>
            </a:p>
          </p:txBody>
        </p:sp>
      </p:grpSp>
      <p:grpSp>
        <p:nvGrpSpPr>
          <p:cNvPr id="13" name="Group 13"/>
          <p:cNvGrpSpPr/>
          <p:nvPr/>
        </p:nvGrpSpPr>
        <p:grpSpPr>
          <a:xfrm>
            <a:off x="529590" y="1263015"/>
            <a:ext cx="4688996" cy="1492091"/>
            <a:chOff x="529590" y="1263015"/>
            <a:chExt cx="4688996" cy="1492091"/>
          </a:xfrm>
        </p:grpSpPr>
        <p:sp>
          <p:nvSpPr>
            <p:cNvPr id="9" name="TextBox 9"/>
            <p:cNvSpPr txBox="1"/>
            <p:nvPr/>
          </p:nvSpPr>
          <p:spPr>
            <a:xfrm>
              <a:off x="529590" y="1263015"/>
              <a:ext cx="4688996" cy="670560"/>
            </a:xfrm>
            <a:prstGeom prst="rect">
              <a:avLst/>
            </a:prstGeom>
            <a:noFill/>
            <a:ln>
              <a:noFill/>
            </a:ln>
          </p:spPr>
          <p:txBody>
            <a:bodyPr wrap="none" lIns="0" tIns="0" rIns="0" bIns="0" anchor="t" anchorCtr="0">
              <a:spAutoFit/>
            </a:bodyPr>
            <a:lstStyle/>
            <a:p>
              <a:pPr algn="l"/>
              <a:r>
                <a:rPr lang="zh-CN" sz="3300" b="1" dirty="0">
                  <a:solidFill>
                    <a:srgbClr val="F5F2EC"/>
                  </a:solidFill>
                  <a:latin typeface="Georgia"/>
                  <a:ea typeface="KaiTi"/>
                  <a:cs typeface="Georgia"/>
                </a:rPr>
                <a:t>入围"为地球奋斗奖"</a:t>
              </a:r>
            </a:p>
          </p:txBody>
        </p:sp>
        <p:sp>
          <p:nvSpPr>
            <p:cNvPr id="10" name="TextBox 10"/>
            <p:cNvSpPr txBox="1"/>
            <p:nvPr/>
          </p:nvSpPr>
          <p:spPr>
            <a:xfrm>
              <a:off x="529590" y="1701165"/>
              <a:ext cx="3626263" cy="670560"/>
            </a:xfrm>
            <a:prstGeom prst="rect">
              <a:avLst/>
            </a:prstGeom>
            <a:noFill/>
            <a:ln>
              <a:noFill/>
            </a:ln>
          </p:spPr>
          <p:txBody>
            <a:bodyPr wrap="none" lIns="0" tIns="0" rIns="0" bIns="0" anchor="t" anchorCtr="0">
              <a:spAutoFit/>
            </a:bodyPr>
            <a:lstStyle/>
            <a:p>
              <a:pPr algn="l"/>
              <a:r>
                <a:rPr lang="zh-CN" sz="3300" b="1" dirty="0">
                  <a:solidFill>
                    <a:srgbClr val="F5F2EC"/>
                  </a:solidFill>
                  <a:latin typeface="Georgia"/>
                  <a:ea typeface="KaiTi"/>
                  <a:cs typeface="Georgia"/>
                </a:rPr>
                <a:t>决赛的</a:t>
              </a:r>
              <a:r>
                <a:rPr lang="zh-CN" sz="3300" b="1" dirty="0">
                  <a:solidFill>
                    <a:srgbClr val="A8C575"/>
                  </a:solidFill>
                  <a:latin typeface="Georgia"/>
                  <a:ea typeface="KaiTi"/>
                  <a:cs typeface="Georgia"/>
                </a:rPr>
                <a:t>真正分量</a:t>
              </a:r>
            </a:p>
          </p:txBody>
        </p:sp>
        <p:sp>
          <p:nvSpPr>
            <p:cNvPr id="11" name="Line 11"/>
            <p:cNvSpPr/>
            <p:nvPr/>
          </p:nvSpPr>
          <p:spPr>
            <a:xfrm>
              <a:off x="571500" y="2286000"/>
              <a:ext cx="952500" cy="9525"/>
            </a:xfrm>
            <a:custGeom>
              <a:avLst/>
              <a:gdLst/>
              <a:ahLst/>
              <a:cxnLst/>
              <a:rect l="l" t="t" r="r" b="b"/>
              <a:pathLst>
                <a:path w="952500" h="9525">
                  <a:moveTo>
                    <a:pt x="0" y="0"/>
                  </a:moveTo>
                  <a:lnTo>
                    <a:pt x="952500" y="0"/>
                  </a:lnTo>
                </a:path>
              </a:pathLst>
            </a:custGeom>
            <a:noFill/>
            <a:ln w="19050">
              <a:solidFill>
                <a:srgbClr val="A8C575"/>
              </a:solidFill>
            </a:ln>
          </p:spPr>
        </p:sp>
        <p:sp>
          <p:nvSpPr>
            <p:cNvPr id="12" name="TextBox 12"/>
            <p:cNvSpPr txBox="1"/>
            <p:nvPr/>
          </p:nvSpPr>
          <p:spPr>
            <a:xfrm>
              <a:off x="557212" y="2526506"/>
              <a:ext cx="2821781" cy="228600"/>
            </a:xfrm>
            <a:prstGeom prst="rect">
              <a:avLst/>
            </a:prstGeom>
            <a:noFill/>
            <a:ln>
              <a:noFill/>
            </a:ln>
          </p:spPr>
          <p:txBody>
            <a:bodyPr wrap="none" lIns="0" tIns="0" rIns="0" bIns="0" anchor="t" anchorCtr="0">
              <a:spAutoFit/>
            </a:bodyPr>
            <a:lstStyle/>
            <a:p>
              <a:pPr algn="l"/>
              <a:r>
                <a:rPr lang="zh-CN" sz="1125" i="1" dirty="0">
                  <a:solidFill>
                    <a:srgbClr val="D6CFC0"/>
                  </a:solidFill>
                  <a:latin typeface="Segoe UI"/>
                  <a:ea typeface="Microsoft YaHei"/>
                  <a:cs typeface="Segoe UI"/>
                </a:rPr>
                <a:t>有史以来第一座获得该奖项提名的建筑</a:t>
              </a:r>
            </a:p>
          </p:txBody>
        </p:sp>
      </p:grpSp>
      <p:grpSp>
        <p:nvGrpSpPr>
          <p:cNvPr id="19" name="Group 19"/>
          <p:cNvGrpSpPr/>
          <p:nvPr/>
        </p:nvGrpSpPr>
        <p:grpSpPr>
          <a:xfrm>
            <a:off x="457200" y="3124200"/>
            <a:ext cx="3264979" cy="2074069"/>
            <a:chOff x="457200" y="3124200"/>
            <a:chExt cx="3264979" cy="2074069"/>
          </a:xfrm>
        </p:grpSpPr>
        <p:sp>
          <p:nvSpPr>
            <p:cNvPr id="14" name="TextBox 14"/>
            <p:cNvSpPr txBox="1"/>
            <p:nvPr/>
          </p:nvSpPr>
          <p:spPr>
            <a:xfrm>
              <a:off x="457200" y="3124200"/>
              <a:ext cx="3264979" cy="1828800"/>
            </a:xfrm>
            <a:prstGeom prst="rect">
              <a:avLst/>
            </a:prstGeom>
            <a:noFill/>
            <a:ln>
              <a:noFill/>
            </a:ln>
          </p:spPr>
          <p:txBody>
            <a:bodyPr wrap="none" lIns="0" tIns="0" rIns="0" bIns="0" anchor="t" anchorCtr="0">
              <a:spAutoFit/>
            </a:bodyPr>
            <a:lstStyle/>
            <a:p>
              <a:pPr algn="l"/>
              <a:r>
                <a:rPr lang="zh-CN" sz="9000" b="1" dirty="0">
                  <a:solidFill>
                    <a:srgbClr val="A8C575"/>
                  </a:solidFill>
                  <a:latin typeface="Georgia"/>
                  <a:ea typeface="SimSun"/>
                  <a:cs typeface="Georgia"/>
                </a:rPr>
                <a:t>−80</a:t>
              </a:r>
              <a:r>
                <a:rPr lang="zh-CN" sz="4200" b="1" dirty="0">
                  <a:solidFill>
                    <a:srgbClr val="F5F2EC"/>
                  </a:solidFill>
                  <a:latin typeface="Georgia"/>
                  <a:ea typeface="SimSun"/>
                  <a:cs typeface="Georgia"/>
                </a:rPr>
                <a:t>%</a:t>
              </a:r>
            </a:p>
          </p:txBody>
        </p:sp>
        <p:sp>
          <p:nvSpPr>
            <p:cNvPr id="15" name="Line 15"/>
            <p:cNvSpPr/>
            <p:nvPr/>
          </p:nvSpPr>
          <p:spPr>
            <a:xfrm>
              <a:off x="571500" y="4381500"/>
              <a:ext cx="571500" cy="9525"/>
            </a:xfrm>
            <a:custGeom>
              <a:avLst/>
              <a:gdLst/>
              <a:ahLst/>
              <a:cxnLst/>
              <a:rect l="l" t="t" r="r" b="b"/>
              <a:pathLst>
                <a:path w="571500" h="9525">
                  <a:moveTo>
                    <a:pt x="0" y="0"/>
                  </a:moveTo>
                  <a:lnTo>
                    <a:pt x="571500" y="0"/>
                  </a:lnTo>
                </a:path>
              </a:pathLst>
            </a:custGeom>
            <a:noFill/>
            <a:ln w="9525">
              <a:solidFill>
                <a:srgbClr val="F5F2EC"/>
              </a:solidFill>
            </a:ln>
          </p:spPr>
        </p:sp>
        <p:sp>
          <p:nvSpPr>
            <p:cNvPr id="16" name="TextBox 16"/>
            <p:cNvSpPr txBox="1"/>
            <p:nvPr/>
          </p:nvSpPr>
          <p:spPr>
            <a:xfrm>
              <a:off x="555308" y="4548664"/>
              <a:ext cx="814483" cy="259080"/>
            </a:xfrm>
            <a:prstGeom prst="rect">
              <a:avLst/>
            </a:prstGeom>
            <a:noFill/>
            <a:ln>
              <a:noFill/>
            </a:ln>
          </p:spPr>
          <p:txBody>
            <a:bodyPr wrap="none" lIns="0" tIns="0" rIns="0" bIns="0" anchor="t" anchorCtr="0">
              <a:spAutoFit/>
            </a:bodyPr>
            <a:lstStyle/>
            <a:p>
              <a:pPr algn="l"/>
              <a:r>
                <a:rPr lang="zh-CN" sz="1275" b="1" dirty="0">
                  <a:solidFill>
                    <a:srgbClr val="F5F2EC"/>
                  </a:solidFill>
                  <a:latin typeface="Segoe UI"/>
                  <a:ea typeface="Microsoft YaHei"/>
                  <a:cs typeface="Segoe UI"/>
                </a:rPr>
                <a:t>建筑垃圾</a:t>
              </a:r>
            </a:p>
          </p:txBody>
        </p:sp>
        <p:sp>
          <p:nvSpPr>
            <p:cNvPr id="17" name="TextBox 17"/>
            <p:cNvSpPr txBox="1"/>
            <p:nvPr/>
          </p:nvSpPr>
          <p:spPr>
            <a:xfrm>
              <a:off x="559118" y="4809649"/>
              <a:ext cx="2303145"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通过结构复用，避免推倒重建产生的</a:t>
              </a:r>
            </a:p>
          </p:txBody>
        </p:sp>
        <p:sp>
          <p:nvSpPr>
            <p:cNvPr id="18" name="TextBox 18"/>
            <p:cNvSpPr txBox="1"/>
            <p:nvPr/>
          </p:nvSpPr>
          <p:spPr>
            <a:xfrm>
              <a:off x="559118" y="5000149"/>
              <a:ext cx="1021556"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废弃物大幅减少</a:t>
              </a:r>
            </a:p>
          </p:txBody>
        </p:sp>
      </p:grpSp>
      <p:grpSp>
        <p:nvGrpSpPr>
          <p:cNvPr id="25" name="Group 25"/>
          <p:cNvGrpSpPr/>
          <p:nvPr/>
        </p:nvGrpSpPr>
        <p:grpSpPr>
          <a:xfrm>
            <a:off x="4267200" y="3124200"/>
            <a:ext cx="3264979" cy="2074069"/>
            <a:chOff x="4267200" y="3124200"/>
            <a:chExt cx="3264979" cy="2074069"/>
          </a:xfrm>
        </p:grpSpPr>
        <p:sp>
          <p:nvSpPr>
            <p:cNvPr id="20" name="TextBox 20"/>
            <p:cNvSpPr txBox="1"/>
            <p:nvPr/>
          </p:nvSpPr>
          <p:spPr>
            <a:xfrm>
              <a:off x="4267200" y="3124200"/>
              <a:ext cx="3264979" cy="1828800"/>
            </a:xfrm>
            <a:prstGeom prst="rect">
              <a:avLst/>
            </a:prstGeom>
            <a:noFill/>
            <a:ln>
              <a:noFill/>
            </a:ln>
          </p:spPr>
          <p:txBody>
            <a:bodyPr wrap="none" lIns="0" tIns="0" rIns="0" bIns="0" anchor="t" anchorCtr="0">
              <a:spAutoFit/>
            </a:bodyPr>
            <a:lstStyle/>
            <a:p>
              <a:pPr algn="l"/>
              <a:r>
                <a:rPr lang="zh-CN" sz="9000" b="1" dirty="0">
                  <a:solidFill>
                    <a:srgbClr val="A8C575"/>
                  </a:solidFill>
                  <a:latin typeface="Georgia"/>
                  <a:ea typeface="SimSun"/>
                  <a:cs typeface="Georgia"/>
                </a:rPr>
                <a:t>−40</a:t>
              </a:r>
              <a:r>
                <a:rPr lang="zh-CN" sz="4200" b="1" dirty="0">
                  <a:solidFill>
                    <a:srgbClr val="F5F2EC"/>
                  </a:solidFill>
                  <a:latin typeface="Georgia"/>
                  <a:ea typeface="SimSun"/>
                  <a:cs typeface="Georgia"/>
                </a:rPr>
                <a:t>%</a:t>
              </a:r>
            </a:p>
          </p:txBody>
        </p:sp>
        <p:sp>
          <p:nvSpPr>
            <p:cNvPr id="21" name="Line 21"/>
            <p:cNvSpPr/>
            <p:nvPr/>
          </p:nvSpPr>
          <p:spPr>
            <a:xfrm>
              <a:off x="4381500" y="4381500"/>
              <a:ext cx="571500" cy="9525"/>
            </a:xfrm>
            <a:custGeom>
              <a:avLst/>
              <a:gdLst/>
              <a:ahLst/>
              <a:cxnLst/>
              <a:rect l="l" t="t" r="r" b="b"/>
              <a:pathLst>
                <a:path w="571500" h="9525">
                  <a:moveTo>
                    <a:pt x="0" y="0"/>
                  </a:moveTo>
                  <a:lnTo>
                    <a:pt x="571500" y="0"/>
                  </a:lnTo>
                </a:path>
              </a:pathLst>
            </a:custGeom>
            <a:noFill/>
            <a:ln w="9525">
              <a:solidFill>
                <a:srgbClr val="F5F2EC"/>
              </a:solidFill>
            </a:ln>
          </p:spPr>
        </p:sp>
        <p:sp>
          <p:nvSpPr>
            <p:cNvPr id="22" name="TextBox 22"/>
            <p:cNvSpPr txBox="1"/>
            <p:nvPr/>
          </p:nvSpPr>
          <p:spPr>
            <a:xfrm>
              <a:off x="4365308" y="4548664"/>
              <a:ext cx="618958" cy="259080"/>
            </a:xfrm>
            <a:prstGeom prst="rect">
              <a:avLst/>
            </a:prstGeom>
            <a:noFill/>
            <a:ln>
              <a:noFill/>
            </a:ln>
          </p:spPr>
          <p:txBody>
            <a:bodyPr wrap="none" lIns="0" tIns="0" rIns="0" bIns="0" anchor="t" anchorCtr="0">
              <a:spAutoFit/>
            </a:bodyPr>
            <a:lstStyle/>
            <a:p>
              <a:pPr algn="l"/>
              <a:r>
                <a:rPr lang="zh-CN" sz="1275" b="1" dirty="0">
                  <a:solidFill>
                    <a:srgbClr val="F5F2EC"/>
                  </a:solidFill>
                  <a:latin typeface="Segoe UI"/>
                  <a:ea typeface="Microsoft YaHei"/>
                  <a:cs typeface="Segoe UI"/>
                </a:rPr>
                <a:t>碳排放</a:t>
              </a:r>
            </a:p>
          </p:txBody>
        </p:sp>
        <p:sp>
          <p:nvSpPr>
            <p:cNvPr id="23" name="TextBox 23"/>
            <p:cNvSpPr txBox="1"/>
            <p:nvPr/>
          </p:nvSpPr>
          <p:spPr>
            <a:xfrm>
              <a:off x="4369118" y="4809649"/>
              <a:ext cx="1306354"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相较于推倒重建模式</a:t>
              </a:r>
            </a:p>
          </p:txBody>
        </p:sp>
        <p:sp>
          <p:nvSpPr>
            <p:cNvPr id="24" name="TextBox 24"/>
            <p:cNvSpPr txBox="1"/>
            <p:nvPr/>
          </p:nvSpPr>
          <p:spPr>
            <a:xfrm>
              <a:off x="4369118" y="5000149"/>
              <a:ext cx="1733550"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显著降低全生命周期碳足迹</a:t>
              </a:r>
            </a:p>
          </p:txBody>
        </p:sp>
      </p:grpSp>
      <p:grpSp>
        <p:nvGrpSpPr>
          <p:cNvPr id="31" name="Group 31"/>
          <p:cNvGrpSpPr/>
          <p:nvPr/>
        </p:nvGrpSpPr>
        <p:grpSpPr>
          <a:xfrm>
            <a:off x="8077200" y="3124200"/>
            <a:ext cx="3264979" cy="2074069"/>
            <a:chOff x="8077200" y="3124200"/>
            <a:chExt cx="3264979" cy="2074069"/>
          </a:xfrm>
        </p:grpSpPr>
        <p:sp>
          <p:nvSpPr>
            <p:cNvPr id="26" name="TextBox 26"/>
            <p:cNvSpPr txBox="1"/>
            <p:nvPr/>
          </p:nvSpPr>
          <p:spPr>
            <a:xfrm>
              <a:off x="8077200" y="3124200"/>
              <a:ext cx="3264979" cy="1828800"/>
            </a:xfrm>
            <a:prstGeom prst="rect">
              <a:avLst/>
            </a:prstGeom>
            <a:noFill/>
            <a:ln>
              <a:noFill/>
            </a:ln>
          </p:spPr>
          <p:txBody>
            <a:bodyPr wrap="none" lIns="0" tIns="0" rIns="0" bIns="0" anchor="t" anchorCtr="0">
              <a:spAutoFit/>
            </a:bodyPr>
            <a:lstStyle/>
            <a:p>
              <a:pPr algn="l"/>
              <a:r>
                <a:rPr lang="zh-CN" sz="9000" b="1" dirty="0">
                  <a:solidFill>
                    <a:srgbClr val="A8C575"/>
                  </a:solidFill>
                  <a:latin typeface="Georgia"/>
                  <a:ea typeface="SimSun"/>
                  <a:cs typeface="Georgia"/>
                </a:rPr>
                <a:t>−30</a:t>
              </a:r>
              <a:r>
                <a:rPr lang="zh-CN" sz="4200" b="1" dirty="0">
                  <a:solidFill>
                    <a:srgbClr val="F5F2EC"/>
                  </a:solidFill>
                  <a:latin typeface="Georgia"/>
                  <a:ea typeface="SimSun"/>
                  <a:cs typeface="Georgia"/>
                </a:rPr>
                <a:t>%</a:t>
              </a:r>
            </a:p>
          </p:txBody>
        </p:sp>
        <p:sp>
          <p:nvSpPr>
            <p:cNvPr id="27" name="Line 27"/>
            <p:cNvSpPr/>
            <p:nvPr/>
          </p:nvSpPr>
          <p:spPr>
            <a:xfrm>
              <a:off x="8191500" y="4381500"/>
              <a:ext cx="571500" cy="9525"/>
            </a:xfrm>
            <a:custGeom>
              <a:avLst/>
              <a:gdLst/>
              <a:ahLst/>
              <a:cxnLst/>
              <a:rect l="l" t="t" r="r" b="b"/>
              <a:pathLst>
                <a:path w="571500" h="9525">
                  <a:moveTo>
                    <a:pt x="0" y="0"/>
                  </a:moveTo>
                  <a:lnTo>
                    <a:pt x="571500" y="0"/>
                  </a:lnTo>
                </a:path>
              </a:pathLst>
            </a:custGeom>
            <a:noFill/>
            <a:ln w="9525">
              <a:solidFill>
                <a:srgbClr val="F5F2EC"/>
              </a:solidFill>
            </a:ln>
          </p:spPr>
        </p:sp>
        <p:sp>
          <p:nvSpPr>
            <p:cNvPr id="28" name="TextBox 28"/>
            <p:cNvSpPr txBox="1"/>
            <p:nvPr/>
          </p:nvSpPr>
          <p:spPr>
            <a:xfrm>
              <a:off x="8175308" y="4548664"/>
              <a:ext cx="814483" cy="259080"/>
            </a:xfrm>
            <a:prstGeom prst="rect">
              <a:avLst/>
            </a:prstGeom>
            <a:noFill/>
            <a:ln>
              <a:noFill/>
            </a:ln>
          </p:spPr>
          <p:txBody>
            <a:bodyPr wrap="none" lIns="0" tIns="0" rIns="0" bIns="0" anchor="t" anchorCtr="0">
              <a:spAutoFit/>
            </a:bodyPr>
            <a:lstStyle/>
            <a:p>
              <a:pPr algn="l"/>
              <a:r>
                <a:rPr lang="zh-CN" sz="1275" b="1" dirty="0">
                  <a:solidFill>
                    <a:srgbClr val="F5F2EC"/>
                  </a:solidFill>
                  <a:latin typeface="Segoe UI"/>
                  <a:ea typeface="Microsoft YaHei"/>
                  <a:cs typeface="Segoe UI"/>
                </a:rPr>
                <a:t>能源消耗</a:t>
              </a:r>
            </a:p>
          </p:txBody>
        </p:sp>
        <p:sp>
          <p:nvSpPr>
            <p:cNvPr id="29" name="TextBox 29"/>
            <p:cNvSpPr txBox="1"/>
            <p:nvPr/>
          </p:nvSpPr>
          <p:spPr>
            <a:xfrm>
              <a:off x="8179118" y="4809649"/>
              <a:ext cx="1612511"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智能通风系统 · 光伏幕墙</a:t>
              </a:r>
            </a:p>
          </p:txBody>
        </p:sp>
        <p:sp>
          <p:nvSpPr>
            <p:cNvPr id="30" name="TextBox 30"/>
            <p:cNvSpPr txBox="1"/>
            <p:nvPr/>
          </p:nvSpPr>
          <p:spPr>
            <a:xfrm>
              <a:off x="8179118" y="5000149"/>
              <a:ext cx="1448752"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雨水回收装置共同作用</a:t>
              </a:r>
            </a:p>
          </p:txBody>
        </p:sp>
      </p:grpSp>
      <p:grpSp>
        <p:nvGrpSpPr>
          <p:cNvPr id="35" name="Group 35"/>
          <p:cNvGrpSpPr/>
          <p:nvPr/>
        </p:nvGrpSpPr>
        <p:grpSpPr>
          <a:xfrm>
            <a:off x="559118" y="6191250"/>
            <a:ext cx="11072812" cy="511969"/>
            <a:chOff x="559118" y="6191250"/>
            <a:chExt cx="11072812" cy="511969"/>
          </a:xfrm>
        </p:grpSpPr>
        <p:sp>
          <p:nvSpPr>
            <p:cNvPr id="32" name="Line 32"/>
            <p:cNvSpPr/>
            <p:nvPr/>
          </p:nvSpPr>
          <p:spPr>
            <a:xfrm>
              <a:off x="571500" y="6191250"/>
              <a:ext cx="11049000" cy="9525"/>
            </a:xfrm>
            <a:custGeom>
              <a:avLst/>
              <a:gdLst/>
              <a:ahLst/>
              <a:cxnLst/>
              <a:rect l="l" t="t" r="r" b="b"/>
              <a:pathLst>
                <a:path w="11049000" h="9525">
                  <a:moveTo>
                    <a:pt x="0" y="0"/>
                  </a:moveTo>
                  <a:lnTo>
                    <a:pt x="11049000" y="0"/>
                  </a:lnTo>
                </a:path>
              </a:pathLst>
            </a:custGeom>
            <a:noFill/>
            <a:ln w="9525">
              <a:solidFill>
                <a:srgbClr val="F5F2EC">
                  <a:alpha val="20000"/>
                </a:srgbClr>
              </a:solidFill>
            </a:ln>
          </p:spPr>
        </p:sp>
        <p:sp>
          <p:nvSpPr>
            <p:cNvPr id="33" name="TextBox 33"/>
            <p:cNvSpPr txBox="1"/>
            <p:nvPr/>
          </p:nvSpPr>
          <p:spPr>
            <a:xfrm>
              <a:off x="559118" y="6505099"/>
              <a:ext cx="5613916" cy="198120"/>
            </a:xfrm>
            <a:prstGeom prst="rect">
              <a:avLst/>
            </a:prstGeom>
            <a:noFill/>
            <a:ln>
              <a:noFill/>
            </a:ln>
          </p:spPr>
          <p:txBody>
            <a:bodyPr wrap="none" lIns="0" tIns="0" rIns="0" bIns="0" anchor="t" anchorCtr="0">
              <a:spAutoFit/>
            </a:bodyPr>
            <a:lstStyle/>
            <a:p>
              <a:pPr algn="l"/>
              <a:r>
                <a:rPr lang="zh-CN" sz="975" dirty="0">
                  <a:solidFill>
                    <a:srgbClr val="A8B0B8"/>
                  </a:solidFill>
                  <a:latin typeface="Segoe UI"/>
                  <a:ea typeface="Microsoft YaHei"/>
                  <a:cs typeface="Segoe UI"/>
                </a:rPr>
                <a:t>老旧的超高层并非"包袱" — 通过科学改造，完全可以重获新生，甚至成为新的城市地标。</a:t>
              </a:r>
            </a:p>
          </p:txBody>
        </p:sp>
        <p:sp>
          <p:nvSpPr>
            <p:cNvPr id="34" name="TextBox 34"/>
            <p:cNvSpPr txBox="1"/>
            <p:nvPr/>
          </p:nvSpPr>
          <p:spPr>
            <a:xfrm>
              <a:off x="11201590" y="6513195"/>
              <a:ext cx="430340" cy="182880"/>
            </a:xfrm>
            <a:prstGeom prst="rect">
              <a:avLst/>
            </a:prstGeom>
            <a:noFill/>
            <a:ln>
              <a:noFill/>
            </a:ln>
          </p:spPr>
          <p:txBody>
            <a:bodyPr wrap="none" lIns="0" tIns="0" rIns="0" bIns="0" anchor="t" anchorCtr="0">
              <a:spAutoFit/>
            </a:bodyPr>
            <a:lstStyle/>
            <a:p>
              <a:pPr algn="r"/>
              <a:r>
                <a:rPr lang="zh-CN" sz="900" dirty="0">
                  <a:solidFill>
                    <a:srgbClr val="A8B0B8"/>
                  </a:solidFill>
                  <a:latin typeface="Georgia"/>
                  <a:ea typeface="SimSun"/>
                  <a:cs typeface="Georgia"/>
                </a:rPr>
                <a:t>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ox(in)">
                                      <p:cBhvr>
                                        <p:cTn id="11" dur="400"/>
                                        <p:tgtEl>
                                          <p:spTgt spid="19"/>
                                        </p:tgtEl>
                                      </p:cBhvr>
                                    </p:animEffect>
                                  </p:childTnLst>
                                </p:cTn>
                              </p:par>
                            </p:childTnLst>
                          </p:cTn>
                        </p:par>
                        <p:par>
                          <p:cTn id="12" fill="hold">
                            <p:stCondLst>
                              <p:cond delay="1800"/>
                            </p:stCondLst>
                            <p:childTnLst>
                              <p:par>
                                <p:cTn id="13" presetID="16" presetClass="entr" presetSubtype="2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barn(inVertical)">
                                      <p:cBhvr>
                                        <p:cTn id="15" dur="400"/>
                                        <p:tgtEl>
                                          <p:spTgt spid="25"/>
                                        </p:tgtEl>
                                      </p:cBhvr>
                                    </p:animEffect>
                                  </p:childTnLst>
                                </p:cTn>
                              </p:par>
                            </p:childTnLst>
                          </p:cTn>
                        </p:par>
                        <p:par>
                          <p:cTn id="16" fill="hold">
                            <p:stCondLst>
                              <p:cond delay="2700"/>
                            </p:stCondLst>
                            <p:childTnLst>
                              <p:par>
                                <p:cTn id="17" presetID="18" presetClass="entr" presetSubtype="12"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trips(downRight)">
                                      <p:cBhvr>
                                        <p:cTn id="1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5"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3" cy="321469"/>
            <a:chOff x="571500" y="571500"/>
            <a:chExt cx="11061383" cy="321469"/>
          </a:xfrm>
        </p:grpSpPr>
        <p:sp>
          <p:nvSpPr>
            <p:cNvPr id="3" name="Rectangle 3"/>
            <p:cNvSpPr/>
            <p:nvPr/>
          </p:nvSpPr>
          <p:spPr>
            <a:xfrm>
              <a:off x="571500" y="571500"/>
              <a:ext cx="28575" cy="304800"/>
            </a:xfrm>
            <a:prstGeom prst="rect">
              <a:avLst/>
            </a:prstGeom>
            <a:solidFill>
              <a:srgbClr val="6B7A4F"/>
            </a:solidFill>
            <a:ln>
              <a:noFill/>
            </a:ln>
          </p:spPr>
        </p:sp>
        <p:sp>
          <p:nvSpPr>
            <p:cNvPr id="4" name="TextBox 4"/>
            <p:cNvSpPr txBox="1"/>
            <p:nvPr/>
          </p:nvSpPr>
          <p:spPr>
            <a:xfrm>
              <a:off x="711518" y="694849"/>
              <a:ext cx="1303150"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III · 巡览 · CASE 01</a:t>
              </a:r>
            </a:p>
          </p:txBody>
        </p:sp>
        <p:sp>
          <p:nvSpPr>
            <p:cNvPr id="5" name="TextBox 5"/>
            <p:cNvSpPr txBox="1"/>
            <p:nvPr/>
          </p:nvSpPr>
          <p:spPr>
            <a:xfrm>
              <a:off x="9500616" y="694849"/>
              <a:ext cx="2132267"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SHENZHEN · MVRDV · 1994 → NOW</a:t>
              </a:r>
            </a:p>
          </p:txBody>
        </p:sp>
      </p:grpSp>
      <p:grpSp>
        <p:nvGrpSpPr>
          <p:cNvPr id="10" name="Group 10"/>
          <p:cNvGrpSpPr/>
          <p:nvPr/>
        </p:nvGrpSpPr>
        <p:grpSpPr>
          <a:xfrm>
            <a:off x="537210" y="1118235"/>
            <a:ext cx="5906710" cy="901065"/>
            <a:chOff x="537210" y="1118235"/>
            <a:chExt cx="5906710" cy="901065"/>
          </a:xfrm>
        </p:grpSpPr>
        <p:sp>
          <p:nvSpPr>
            <p:cNvPr id="7" name="TextBox 7"/>
            <p:cNvSpPr txBox="1"/>
            <p:nvPr/>
          </p:nvSpPr>
          <p:spPr>
            <a:xfrm>
              <a:off x="537210" y="1118235"/>
              <a:ext cx="5906710"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给老建筑穿一件</a:t>
              </a:r>
              <a:r>
                <a:rPr lang="zh-CN" sz="2700" b="1" dirty="0">
                  <a:solidFill>
                    <a:srgbClr val="6B7A4F"/>
                  </a:solidFill>
                  <a:latin typeface="Georgia"/>
                  <a:ea typeface="KaiTi"/>
                  <a:cs typeface="Georgia"/>
                </a:rPr>
                <a:t>"彩色网格外衣"</a:t>
              </a:r>
            </a:p>
          </p:txBody>
        </p:sp>
        <p:sp>
          <p:nvSpPr>
            <p:cNvPr id="8" name="Line 8"/>
            <p:cNvSpPr/>
            <p:nvPr/>
          </p:nvSpPr>
          <p:spPr>
            <a:xfrm>
              <a:off x="571500" y="1638300"/>
              <a:ext cx="952500" cy="9525"/>
            </a:xfrm>
            <a:custGeom>
              <a:avLst/>
              <a:gdLst/>
              <a:ahLst/>
              <a:cxnLst/>
              <a:rect l="l" t="t" r="r" b="b"/>
              <a:pathLst>
                <a:path w="952500" h="9525">
                  <a:moveTo>
                    <a:pt x="0" y="0"/>
                  </a:moveTo>
                  <a:lnTo>
                    <a:pt x="952500" y="0"/>
                  </a:lnTo>
                </a:path>
              </a:pathLst>
            </a:custGeom>
            <a:noFill/>
            <a:ln w="19050">
              <a:solidFill>
                <a:srgbClr val="6B7A4F"/>
              </a:solidFill>
            </a:ln>
          </p:spPr>
        </p:sp>
        <p:sp>
          <p:nvSpPr>
            <p:cNvPr id="9" name="TextBox 9"/>
            <p:cNvSpPr txBox="1"/>
            <p:nvPr/>
          </p:nvSpPr>
          <p:spPr>
            <a:xfrm>
              <a:off x="556260" y="1775460"/>
              <a:ext cx="4981575"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Segoe UI"/>
                  <a:ea typeface="Microsoft YaHei"/>
                  <a:cs typeface="Segoe UI"/>
                </a:rPr>
                <a:t>深圳妇儿大厦 · "适应性再利用"模式在城市更新领域的典范之作</a:t>
              </a:r>
            </a:p>
          </p:txBody>
        </p:sp>
      </p:grpSp>
      <p:grpSp>
        <p:nvGrpSpPr>
          <p:cNvPr id="17" name="Group 17"/>
          <p:cNvGrpSpPr/>
          <p:nvPr/>
        </p:nvGrpSpPr>
        <p:grpSpPr>
          <a:xfrm>
            <a:off x="571500" y="2286000"/>
            <a:ext cx="5143500" cy="2667000"/>
            <a:chOff x="571500" y="2286000"/>
            <a:chExt cx="5143500" cy="2667000"/>
          </a:xfrm>
        </p:grpSpPr>
        <p:pic>
          <p:nvPicPr>
            <p:cNvPr id="11" name="Image 11"/>
            <p:cNvPicPr>
              <a:picLocks noChangeAspect="1"/>
            </p:cNvPicPr>
            <p:nvPr/>
          </p:nvPicPr>
          <p:blipFill>
            <a:blip r:embed="rId2"/>
            <a:srcRect l="0" t="1906" r="0" b="1906"/>
            <a:stretch>
              <a:fillRect/>
            </a:stretch>
          </p:blipFill>
          <p:spPr>
            <a:xfrm>
              <a:off x="571500" y="2286000"/>
              <a:ext cx="5143500" cy="2667000"/>
            </a:xfrm>
            <a:prstGeom prst="roundRect">
              <a:avLst>
                <a:gd name="adj" fmla="val 2142"/>
              </a:avLst>
            </a:prstGeom>
          </p:spPr>
        </p:pic>
        <p:sp>
          <p:nvSpPr>
            <p:cNvPr id="12" name="Rectangle 12"/>
            <p:cNvSpPr/>
            <p:nvPr/>
          </p:nvSpPr>
          <p:spPr>
            <a:xfrm>
              <a:off x="571500" y="2286000"/>
              <a:ext cx="5143500" cy="952500"/>
            </a:xfrm>
            <a:prstGeom prst="rect">
              <a:avLst/>
            </a:prstGeom>
            <a:gradFill>
              <a:gsLst>
                <a:gs pos="0">
                  <a:srgbClr val="5A6B7A">
                    <a:alpha val="55000"/>
                  </a:srgbClr>
                </a:gs>
                <a:gs pos="40000">
                  <a:srgbClr val="5A6B7A">
                    <a:alpha val="0"/>
                  </a:srgbClr>
                </a:gs>
              </a:gsLst>
              <a:lin ang="5400000" scaled="1"/>
            </a:gradFill>
            <a:ln>
              <a:noFill/>
            </a:ln>
          </p:spPr>
        </p:sp>
        <p:sp>
          <p:nvSpPr>
            <p:cNvPr id="13" name="Rectangle 13"/>
            <p:cNvSpPr/>
            <p:nvPr/>
          </p:nvSpPr>
          <p:spPr>
            <a:xfrm>
              <a:off x="571500" y="4286250"/>
              <a:ext cx="5143500" cy="666750"/>
            </a:xfrm>
            <a:prstGeom prst="rect">
              <a:avLst/>
            </a:prstGeom>
            <a:gradFill>
              <a:gsLst>
                <a:gs pos="0">
                  <a:srgbClr val="F5F2EC">
                    <a:alpha val="0"/>
                  </a:srgbClr>
                </a:gs>
                <a:gs pos="100000">
                  <a:srgbClr val="F5F2EC">
                    <a:alpha val="95000"/>
                  </a:srgbClr>
                </a:gs>
              </a:gsLst>
              <a:lin ang="5400000" scaled="1"/>
            </a:gradFill>
            <a:ln>
              <a:noFill/>
            </a:ln>
          </p:spPr>
        </p:sp>
        <p:grpSp>
          <p:nvGrpSpPr>
            <p:cNvPr id="16" name="Group 16"/>
            <p:cNvGrpSpPr/>
            <p:nvPr/>
          </p:nvGrpSpPr>
          <p:grpSpPr>
            <a:xfrm>
              <a:off x="762000" y="2476500"/>
              <a:ext cx="1112844" cy="190500"/>
              <a:chOff x="762000" y="2476500"/>
              <a:chExt cx="1112844" cy="190500"/>
            </a:xfrm>
          </p:grpSpPr>
          <p:sp>
            <p:nvSpPr>
              <p:cNvPr id="14" name="Rectangle 14"/>
              <p:cNvSpPr/>
              <p:nvPr/>
            </p:nvSpPr>
            <p:spPr>
              <a:xfrm>
                <a:off x="762000" y="2476500"/>
                <a:ext cx="114300" cy="114300"/>
              </a:xfrm>
              <a:prstGeom prst="rect">
                <a:avLst/>
              </a:prstGeom>
              <a:solidFill>
                <a:srgbClr val="F5F2EC"/>
              </a:solidFill>
              <a:ln>
                <a:noFill/>
              </a:ln>
            </p:spPr>
          </p:sp>
          <p:sp>
            <p:nvSpPr>
              <p:cNvPr id="15" name="TextBox 15"/>
              <p:cNvSpPr txBox="1"/>
              <p:nvPr/>
            </p:nvSpPr>
            <p:spPr>
              <a:xfrm>
                <a:off x="941070" y="2484120"/>
                <a:ext cx="933774"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BEFORE · 1994</a:t>
                </a:r>
              </a:p>
            </p:txBody>
          </p:sp>
        </p:grpSp>
      </p:grpSp>
      <p:grpSp>
        <p:nvGrpSpPr>
          <p:cNvPr id="24" name="Group 24"/>
          <p:cNvGrpSpPr/>
          <p:nvPr/>
        </p:nvGrpSpPr>
        <p:grpSpPr>
          <a:xfrm>
            <a:off x="571500" y="5143500"/>
            <a:ext cx="5153977" cy="1697831"/>
            <a:chOff x="571500" y="5143500"/>
            <a:chExt cx="5153977" cy="1697831"/>
          </a:xfrm>
        </p:grpSpPr>
        <p:pic>
          <p:nvPicPr>
            <p:cNvPr id="18" name="Image 18"/>
            <p:cNvPicPr>
              <a:picLocks noChangeAspect="1"/>
            </p:cNvPicPr>
            <p:nvPr/>
          </p:nvPicPr>
          <p:blipFill>
            <a:blip r:embed="rId3"/>
            <a:srcRect l="0" t="40868" r="0" b="40868"/>
            <a:stretch>
              <a:fillRect/>
            </a:stretch>
          </p:blipFill>
          <p:spPr>
            <a:xfrm>
              <a:off x="571500" y="5143500"/>
              <a:ext cx="5143500" cy="1409700"/>
            </a:xfrm>
            <a:prstGeom prst="roundRect">
              <a:avLst>
                <a:gd name="adj" fmla="val 4054"/>
              </a:avLst>
            </a:prstGeom>
          </p:spPr>
        </p:pic>
        <p:sp>
          <p:nvSpPr>
            <p:cNvPr id="19" name="Rectangle 19"/>
            <p:cNvSpPr/>
            <p:nvPr/>
          </p:nvSpPr>
          <p:spPr>
            <a:xfrm>
              <a:off x="571500" y="5143500"/>
              <a:ext cx="5143500" cy="571500"/>
            </a:xfrm>
            <a:prstGeom prst="rect">
              <a:avLst/>
            </a:prstGeom>
            <a:gradFill>
              <a:gsLst>
                <a:gs pos="0">
                  <a:srgbClr val="6B7A4F">
                    <a:alpha val="55000"/>
                  </a:srgbClr>
                </a:gs>
                <a:gs pos="55000">
                  <a:srgbClr val="6B7A4F">
                    <a:alpha val="0"/>
                  </a:srgbClr>
                </a:gs>
              </a:gsLst>
              <a:lin ang="5400000" scaled="1"/>
            </a:gradFill>
            <a:ln>
              <a:noFill/>
            </a:ln>
          </p:spPr>
        </p:sp>
        <p:grpSp>
          <p:nvGrpSpPr>
            <p:cNvPr id="22" name="Group 22"/>
            <p:cNvGrpSpPr/>
            <p:nvPr/>
          </p:nvGrpSpPr>
          <p:grpSpPr>
            <a:xfrm>
              <a:off x="762000" y="5314950"/>
              <a:ext cx="581477" cy="190500"/>
              <a:chOff x="762000" y="5314950"/>
              <a:chExt cx="581477" cy="190500"/>
            </a:xfrm>
          </p:grpSpPr>
          <p:sp>
            <p:nvSpPr>
              <p:cNvPr id="20" name="Rectangle 20"/>
              <p:cNvSpPr/>
              <p:nvPr/>
            </p:nvSpPr>
            <p:spPr>
              <a:xfrm>
                <a:off x="762000" y="5314950"/>
                <a:ext cx="114300" cy="114300"/>
              </a:xfrm>
              <a:prstGeom prst="rect">
                <a:avLst/>
              </a:prstGeom>
              <a:solidFill>
                <a:srgbClr val="6B7A4F"/>
              </a:solidFill>
              <a:ln>
                <a:noFill/>
              </a:ln>
            </p:spPr>
          </p:sp>
          <p:sp>
            <p:nvSpPr>
              <p:cNvPr id="21" name="TextBox 21"/>
              <p:cNvSpPr txBox="1"/>
              <p:nvPr/>
            </p:nvSpPr>
            <p:spPr>
              <a:xfrm>
                <a:off x="941070" y="5322570"/>
                <a:ext cx="402407"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AFTER</a:t>
                </a:r>
              </a:p>
            </p:txBody>
          </p:sp>
        </p:grpSp>
        <p:sp>
          <p:nvSpPr>
            <p:cNvPr id="23" name="TextBox 23"/>
            <p:cNvSpPr txBox="1"/>
            <p:nvPr/>
          </p:nvSpPr>
          <p:spPr>
            <a:xfrm>
              <a:off x="4361045" y="6673691"/>
              <a:ext cx="1364432" cy="167640"/>
            </a:xfrm>
            <a:prstGeom prst="rect">
              <a:avLst/>
            </a:prstGeom>
            <a:noFill/>
            <a:ln>
              <a:noFill/>
            </a:ln>
          </p:spPr>
          <p:txBody>
            <a:bodyPr wrap="none" lIns="0" tIns="0" rIns="0" bIns="0" anchor="t" anchorCtr="0">
              <a:spAutoFit/>
            </a:bodyPr>
            <a:lstStyle/>
            <a:p>
              <a:pPr algn="r"/>
              <a:r>
                <a:rPr lang="zh-CN" sz="825" dirty="0">
                  <a:solidFill>
                    <a:srgbClr val="8A8275"/>
                  </a:solidFill>
                  <a:latin typeface="Segoe UI"/>
                  <a:ea typeface="Microsoft YaHei"/>
                  <a:cs typeface="Segoe UI"/>
                </a:rPr>
                <a:t>改造后立面 · 摄影：夏至</a:t>
              </a:r>
            </a:p>
          </p:txBody>
        </p:sp>
      </p:grpSp>
      <p:grpSp>
        <p:nvGrpSpPr>
          <p:cNvPr id="42" name="Group 42"/>
          <p:cNvGrpSpPr/>
          <p:nvPr/>
        </p:nvGrpSpPr>
        <p:grpSpPr>
          <a:xfrm>
            <a:off x="6286500" y="2286000"/>
            <a:ext cx="5334000" cy="1809750"/>
            <a:chOff x="6286500" y="2286000"/>
            <a:chExt cx="5334000" cy="1809750"/>
          </a:xfrm>
        </p:grpSpPr>
        <p:sp>
          <p:nvSpPr>
            <p:cNvPr id="25" name="Rectangle 25"/>
            <p:cNvSpPr/>
            <p:nvPr/>
          </p:nvSpPr>
          <p:spPr>
            <a:xfrm>
              <a:off x="6286500" y="2286000"/>
              <a:ext cx="5334000" cy="1809750"/>
            </a:xfrm>
            <a:prstGeom prst="roundRect">
              <a:avLst>
                <a:gd name="adj" fmla="val 3158"/>
              </a:avLst>
            </a:prstGeom>
            <a:solidFill>
              <a:srgbClr val="EBE6DC"/>
            </a:solidFill>
            <a:ln>
              <a:noFill/>
            </a:ln>
          </p:spPr>
        </p:sp>
        <p:grpSp>
          <p:nvGrpSpPr>
            <p:cNvPr id="35" name="Group 35"/>
            <p:cNvGrpSpPr/>
            <p:nvPr/>
          </p:nvGrpSpPr>
          <p:grpSpPr>
            <a:xfrm>
              <a:off x="6559550" y="2540000"/>
              <a:ext cx="177800" cy="177800"/>
              <a:chOff x="6559550" y="2540000"/>
              <a:chExt cx="177800" cy="177800"/>
            </a:xfrm>
          </p:grpSpPr>
          <p:sp>
            <p:nvSpPr>
              <p:cNvPr id="26" name="Freeform 26"/>
              <p:cNvSpPr/>
              <p:nvPr/>
            </p:nvSpPr>
            <p:spPr>
              <a:xfrm>
                <a:off x="6559550" y="2540000"/>
                <a:ext cx="22225" cy="22225"/>
              </a:xfrm>
              <a:custGeom>
                <a:avLst/>
                <a:gdLst/>
                <a:ahLst/>
                <a:cxnLst/>
                <a:rect l="l" t="t" r="r" b="b"/>
                <a:pathLst>
                  <a:path w="22225" h="22225">
                    <a:moveTo>
                      <a:pt x="0" y="11112"/>
                    </a:moveTo>
                    <a:cubicBezTo>
                      <a:pt x="0" y="17250"/>
                      <a:pt x="4975" y="22225"/>
                      <a:pt x="11113" y="22225"/>
                    </a:cubicBezTo>
                    <a:cubicBezTo>
                      <a:pt x="17250" y="22225"/>
                      <a:pt x="22225" y="17250"/>
                      <a:pt x="22225" y="11112"/>
                    </a:cubicBezTo>
                    <a:cubicBezTo>
                      <a:pt x="22225" y="4975"/>
                      <a:pt x="17250" y="0"/>
                      <a:pt x="11113" y="0"/>
                    </a:cubicBezTo>
                    <a:cubicBezTo>
                      <a:pt x="4975" y="0"/>
                      <a:pt x="0" y="4975"/>
                      <a:pt x="0" y="11112"/>
                    </a:cubicBezTo>
                  </a:path>
                </a:pathLst>
              </a:custGeom>
              <a:noFill/>
              <a:ln w="19050">
                <a:solidFill>
                  <a:srgbClr val="6B7A4F"/>
                </a:solidFill>
              </a:ln>
            </p:spPr>
          </p:sp>
          <p:sp>
            <p:nvSpPr>
              <p:cNvPr id="27" name="Freeform 27"/>
              <p:cNvSpPr/>
              <p:nvPr/>
            </p:nvSpPr>
            <p:spPr>
              <a:xfrm>
                <a:off x="6637338" y="2540000"/>
                <a:ext cx="22225" cy="22225"/>
              </a:xfrm>
              <a:custGeom>
                <a:avLst/>
                <a:gdLst/>
                <a:ahLst/>
                <a:cxnLst/>
                <a:rect l="l" t="t" r="r" b="b"/>
                <a:pathLst>
                  <a:path w="22225" h="22225">
                    <a:moveTo>
                      <a:pt x="0" y="11112"/>
                    </a:moveTo>
                    <a:cubicBezTo>
                      <a:pt x="0" y="17250"/>
                      <a:pt x="4975" y="22225"/>
                      <a:pt x="11112" y="22225"/>
                    </a:cubicBezTo>
                    <a:cubicBezTo>
                      <a:pt x="17250" y="22225"/>
                      <a:pt x="22225" y="17250"/>
                      <a:pt x="22225" y="11112"/>
                    </a:cubicBezTo>
                    <a:cubicBezTo>
                      <a:pt x="22225" y="4975"/>
                      <a:pt x="17250" y="0"/>
                      <a:pt x="11112" y="0"/>
                    </a:cubicBezTo>
                    <a:cubicBezTo>
                      <a:pt x="4975" y="0"/>
                      <a:pt x="0" y="4975"/>
                      <a:pt x="0" y="11112"/>
                    </a:cubicBezTo>
                  </a:path>
                </a:pathLst>
              </a:custGeom>
              <a:noFill/>
              <a:ln w="19050">
                <a:solidFill>
                  <a:srgbClr val="6B7A4F"/>
                </a:solidFill>
              </a:ln>
            </p:spPr>
          </p:sp>
          <p:sp>
            <p:nvSpPr>
              <p:cNvPr id="28" name="Freeform 28"/>
              <p:cNvSpPr/>
              <p:nvPr/>
            </p:nvSpPr>
            <p:spPr>
              <a:xfrm>
                <a:off x="6715125" y="2540000"/>
                <a:ext cx="22225" cy="22225"/>
              </a:xfrm>
              <a:custGeom>
                <a:avLst/>
                <a:gdLst/>
                <a:ahLst/>
                <a:cxnLst/>
                <a:rect l="l" t="t" r="r" b="b"/>
                <a:pathLst>
                  <a:path w="22225" h="22225">
                    <a:moveTo>
                      <a:pt x="0" y="11112"/>
                    </a:moveTo>
                    <a:cubicBezTo>
                      <a:pt x="0" y="17250"/>
                      <a:pt x="4975" y="22225"/>
                      <a:pt x="11112" y="22225"/>
                    </a:cubicBezTo>
                    <a:cubicBezTo>
                      <a:pt x="17250" y="22225"/>
                      <a:pt x="22225" y="17250"/>
                      <a:pt x="22225" y="11112"/>
                    </a:cubicBezTo>
                    <a:cubicBezTo>
                      <a:pt x="22225" y="4975"/>
                      <a:pt x="17250" y="0"/>
                      <a:pt x="11112" y="0"/>
                    </a:cubicBezTo>
                    <a:cubicBezTo>
                      <a:pt x="4975" y="0"/>
                      <a:pt x="0" y="4975"/>
                      <a:pt x="0" y="11112"/>
                    </a:cubicBezTo>
                  </a:path>
                </a:pathLst>
              </a:custGeom>
              <a:noFill/>
              <a:ln w="19050">
                <a:solidFill>
                  <a:srgbClr val="6B7A4F"/>
                </a:solidFill>
              </a:ln>
            </p:spPr>
          </p:sp>
          <p:sp>
            <p:nvSpPr>
              <p:cNvPr id="29" name="Freeform 29"/>
              <p:cNvSpPr/>
              <p:nvPr/>
            </p:nvSpPr>
            <p:spPr>
              <a:xfrm>
                <a:off x="6559550" y="261778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19050">
                <a:solidFill>
                  <a:srgbClr val="6B7A4F"/>
                </a:solidFill>
              </a:ln>
            </p:spPr>
          </p:sp>
          <p:sp>
            <p:nvSpPr>
              <p:cNvPr id="30" name="Freeform 30"/>
              <p:cNvSpPr/>
              <p:nvPr/>
            </p:nvSpPr>
            <p:spPr>
              <a:xfrm>
                <a:off x="6637338" y="2617788"/>
                <a:ext cx="22225" cy="22225"/>
              </a:xfrm>
              <a:custGeom>
                <a:avLst/>
                <a:gdLst/>
                <a:ahLst/>
                <a:cxnLst/>
                <a:rect l="l" t="t" r="r" b="b"/>
                <a:pathLst>
                  <a:path w="22225" h="22225">
                    <a:moveTo>
                      <a:pt x="0" y="11113"/>
                    </a:moveTo>
                    <a:cubicBezTo>
                      <a:pt x="0" y="17250"/>
                      <a:pt x="4975" y="22225"/>
                      <a:pt x="11112" y="22225"/>
                    </a:cubicBezTo>
                    <a:cubicBezTo>
                      <a:pt x="17250" y="22225"/>
                      <a:pt x="22225" y="17250"/>
                      <a:pt x="22225" y="11113"/>
                    </a:cubicBezTo>
                    <a:cubicBezTo>
                      <a:pt x="22225" y="4975"/>
                      <a:pt x="17250" y="0"/>
                      <a:pt x="11112" y="0"/>
                    </a:cubicBezTo>
                    <a:cubicBezTo>
                      <a:pt x="4975" y="0"/>
                      <a:pt x="0" y="4975"/>
                      <a:pt x="0" y="11113"/>
                    </a:cubicBezTo>
                  </a:path>
                </a:pathLst>
              </a:custGeom>
              <a:noFill/>
              <a:ln w="19050">
                <a:solidFill>
                  <a:srgbClr val="6B7A4F"/>
                </a:solidFill>
              </a:ln>
            </p:spPr>
          </p:sp>
          <p:sp>
            <p:nvSpPr>
              <p:cNvPr id="31" name="Freeform 31"/>
              <p:cNvSpPr/>
              <p:nvPr/>
            </p:nvSpPr>
            <p:spPr>
              <a:xfrm>
                <a:off x="6715125" y="2617788"/>
                <a:ext cx="22225" cy="22225"/>
              </a:xfrm>
              <a:custGeom>
                <a:avLst/>
                <a:gdLst/>
                <a:ahLst/>
                <a:cxnLst/>
                <a:rect l="l" t="t" r="r" b="b"/>
                <a:pathLst>
                  <a:path w="22225" h="22225">
                    <a:moveTo>
                      <a:pt x="0" y="11113"/>
                    </a:moveTo>
                    <a:cubicBezTo>
                      <a:pt x="0" y="17250"/>
                      <a:pt x="4975" y="22225"/>
                      <a:pt x="11112" y="22225"/>
                    </a:cubicBezTo>
                    <a:cubicBezTo>
                      <a:pt x="17250" y="22225"/>
                      <a:pt x="22225" y="17250"/>
                      <a:pt x="22225" y="11113"/>
                    </a:cubicBezTo>
                    <a:cubicBezTo>
                      <a:pt x="22225" y="4975"/>
                      <a:pt x="17250" y="0"/>
                      <a:pt x="11112" y="0"/>
                    </a:cubicBezTo>
                    <a:cubicBezTo>
                      <a:pt x="4975" y="0"/>
                      <a:pt x="0" y="4975"/>
                      <a:pt x="0" y="11113"/>
                    </a:cubicBezTo>
                  </a:path>
                </a:pathLst>
              </a:custGeom>
              <a:noFill/>
              <a:ln w="19050">
                <a:solidFill>
                  <a:srgbClr val="6B7A4F"/>
                </a:solidFill>
              </a:ln>
            </p:spPr>
          </p:sp>
          <p:sp>
            <p:nvSpPr>
              <p:cNvPr id="32" name="Freeform 32"/>
              <p:cNvSpPr/>
              <p:nvPr/>
            </p:nvSpPr>
            <p:spPr>
              <a:xfrm>
                <a:off x="6559550" y="2695575"/>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19050">
                <a:solidFill>
                  <a:srgbClr val="6B7A4F"/>
                </a:solidFill>
              </a:ln>
            </p:spPr>
          </p:sp>
          <p:sp>
            <p:nvSpPr>
              <p:cNvPr id="33" name="Freeform 33"/>
              <p:cNvSpPr/>
              <p:nvPr/>
            </p:nvSpPr>
            <p:spPr>
              <a:xfrm>
                <a:off x="6637338" y="2695575"/>
                <a:ext cx="22225" cy="22225"/>
              </a:xfrm>
              <a:custGeom>
                <a:avLst/>
                <a:gdLst/>
                <a:ahLst/>
                <a:cxnLst/>
                <a:rect l="l" t="t" r="r" b="b"/>
                <a:pathLst>
                  <a:path w="22225" h="22225">
                    <a:moveTo>
                      <a:pt x="0" y="11113"/>
                    </a:moveTo>
                    <a:cubicBezTo>
                      <a:pt x="0" y="17250"/>
                      <a:pt x="4975" y="22225"/>
                      <a:pt x="11112" y="22225"/>
                    </a:cubicBezTo>
                    <a:cubicBezTo>
                      <a:pt x="17250" y="22225"/>
                      <a:pt x="22225" y="17250"/>
                      <a:pt x="22225" y="11113"/>
                    </a:cubicBezTo>
                    <a:cubicBezTo>
                      <a:pt x="22225" y="4975"/>
                      <a:pt x="17250" y="0"/>
                      <a:pt x="11112" y="0"/>
                    </a:cubicBezTo>
                    <a:cubicBezTo>
                      <a:pt x="4975" y="0"/>
                      <a:pt x="0" y="4975"/>
                      <a:pt x="0" y="11113"/>
                    </a:cubicBezTo>
                  </a:path>
                </a:pathLst>
              </a:custGeom>
              <a:noFill/>
              <a:ln w="19050">
                <a:solidFill>
                  <a:srgbClr val="6B7A4F"/>
                </a:solidFill>
              </a:ln>
            </p:spPr>
          </p:sp>
          <p:sp>
            <p:nvSpPr>
              <p:cNvPr id="34" name="Freeform 34"/>
              <p:cNvSpPr/>
              <p:nvPr/>
            </p:nvSpPr>
            <p:spPr>
              <a:xfrm>
                <a:off x="6715125" y="2695575"/>
                <a:ext cx="22225" cy="22225"/>
              </a:xfrm>
              <a:custGeom>
                <a:avLst/>
                <a:gdLst/>
                <a:ahLst/>
                <a:cxnLst/>
                <a:rect l="l" t="t" r="r" b="b"/>
                <a:pathLst>
                  <a:path w="22225" h="22225">
                    <a:moveTo>
                      <a:pt x="0" y="11113"/>
                    </a:moveTo>
                    <a:cubicBezTo>
                      <a:pt x="0" y="17250"/>
                      <a:pt x="4975" y="22225"/>
                      <a:pt x="11112" y="22225"/>
                    </a:cubicBezTo>
                    <a:cubicBezTo>
                      <a:pt x="17250" y="22225"/>
                      <a:pt x="22225" y="17250"/>
                      <a:pt x="22225" y="11113"/>
                    </a:cubicBezTo>
                    <a:cubicBezTo>
                      <a:pt x="22225" y="4975"/>
                      <a:pt x="17250" y="0"/>
                      <a:pt x="11112" y="0"/>
                    </a:cubicBezTo>
                    <a:cubicBezTo>
                      <a:pt x="4975" y="0"/>
                      <a:pt x="0" y="4975"/>
                      <a:pt x="0" y="11113"/>
                    </a:cubicBezTo>
                  </a:path>
                </a:pathLst>
              </a:custGeom>
              <a:noFill/>
              <a:ln w="19050">
                <a:solidFill>
                  <a:srgbClr val="6B7A4F"/>
                </a:solidFill>
              </a:ln>
            </p:spPr>
          </p:sp>
        </p:grpSp>
        <p:sp>
          <p:nvSpPr>
            <p:cNvPr id="36" name="TextBox 36"/>
            <p:cNvSpPr txBox="1"/>
            <p:nvPr/>
          </p:nvSpPr>
          <p:spPr>
            <a:xfrm>
              <a:off x="6878955" y="2559368"/>
              <a:ext cx="1276445" cy="274320"/>
            </a:xfrm>
            <a:prstGeom prst="rect">
              <a:avLst/>
            </a:prstGeom>
            <a:noFill/>
            <a:ln>
              <a:noFill/>
            </a:ln>
          </p:spPr>
          <p:txBody>
            <a:bodyPr wrap="none" lIns="0" tIns="0" rIns="0" bIns="0" anchor="t" anchorCtr="0">
              <a:spAutoFit/>
            </a:bodyPr>
            <a:lstStyle/>
            <a:p>
              <a:pPr algn="l"/>
              <a:r>
                <a:rPr lang="zh-CN" sz="1350" b="1" dirty="0">
                  <a:solidFill>
                    <a:srgbClr val="2B3A4A"/>
                  </a:solidFill>
                  <a:latin typeface="Segoe UI"/>
                  <a:ea typeface="Microsoft YaHei"/>
                  <a:cs typeface="Segoe UI"/>
                </a:rPr>
                <a:t>彩色网格框架</a:t>
              </a:r>
            </a:p>
          </p:txBody>
        </p:sp>
        <p:sp>
          <p:nvSpPr>
            <p:cNvPr id="37" name="TextBox 37"/>
            <p:cNvSpPr txBox="1"/>
            <p:nvPr/>
          </p:nvSpPr>
          <p:spPr>
            <a:xfrm>
              <a:off x="6500812" y="2964656"/>
              <a:ext cx="2739628"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 xml:space="preserve">立面增加 </a:t>
              </a:r>
              <a:r>
                <a:rPr lang="zh-CN" sz="1125" b="1" dirty="0">
                  <a:solidFill>
                    <a:srgbClr val="6B7A4F"/>
                  </a:solidFill>
                  <a:latin typeface="Segoe UI"/>
                  <a:ea typeface="Microsoft YaHei"/>
                  <a:cs typeface="Segoe UI"/>
                </a:rPr>
                <a:t>近 1 米</a:t>
              </a:r>
              <a:r>
                <a:rPr lang="zh-CN" sz="1125" dirty="0">
                  <a:solidFill>
                    <a:srgbClr val="5A6B7A"/>
                  </a:solidFill>
                  <a:latin typeface="Segoe UI"/>
                  <a:ea typeface="Microsoft YaHei"/>
                  <a:cs typeface="Segoe UI"/>
                </a:rPr>
                <a:t xml:space="preserve"> 进深，起到遮阳作用</a:t>
              </a:r>
            </a:p>
          </p:txBody>
        </p:sp>
        <p:sp>
          <p:nvSpPr>
            <p:cNvPr id="38" name="TextBox 38"/>
            <p:cNvSpPr txBox="1"/>
            <p:nvPr/>
          </p:nvSpPr>
          <p:spPr>
            <a:xfrm>
              <a:off x="6500812" y="3212306"/>
              <a:ext cx="2493169"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内侧设可打开面板，</a:t>
              </a:r>
              <a:r>
                <a:rPr lang="zh-CN" sz="1125" b="1" dirty="0">
                  <a:solidFill>
                    <a:srgbClr val="6B7A4F"/>
                  </a:solidFill>
                  <a:latin typeface="Segoe UI"/>
                  <a:ea typeface="Microsoft YaHei"/>
                  <a:cs typeface="Segoe UI"/>
                </a:rPr>
                <a:t>促进自然通风</a:t>
              </a:r>
            </a:p>
          </p:txBody>
        </p:sp>
        <p:sp>
          <p:nvSpPr>
            <p:cNvPr id="39" name="TextBox 39"/>
            <p:cNvSpPr txBox="1"/>
            <p:nvPr/>
          </p:nvSpPr>
          <p:spPr>
            <a:xfrm>
              <a:off x="6500812" y="3459956"/>
              <a:ext cx="1671638"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显著降低对空调的依赖</a:t>
              </a:r>
            </a:p>
          </p:txBody>
        </p:sp>
        <p:sp>
          <p:nvSpPr>
            <p:cNvPr id="40" name="Line 40"/>
            <p:cNvSpPr/>
            <p:nvPr/>
          </p:nvSpPr>
          <p:spPr>
            <a:xfrm>
              <a:off x="6515100" y="3752850"/>
              <a:ext cx="571500" cy="9525"/>
            </a:xfrm>
            <a:custGeom>
              <a:avLst/>
              <a:gdLst/>
              <a:ahLst/>
              <a:cxnLst/>
              <a:rect l="l" t="t" r="r" b="b"/>
              <a:pathLst>
                <a:path w="571500" h="9525">
                  <a:moveTo>
                    <a:pt x="0" y="0"/>
                  </a:moveTo>
                  <a:lnTo>
                    <a:pt x="571500" y="0"/>
                  </a:lnTo>
                </a:path>
              </a:pathLst>
            </a:custGeom>
            <a:noFill/>
            <a:ln w="19050">
              <a:solidFill>
                <a:srgbClr val="6B7A4F"/>
              </a:solidFill>
            </a:ln>
          </p:spPr>
        </p:sp>
        <p:sp>
          <p:nvSpPr>
            <p:cNvPr id="41" name="TextBox 41"/>
            <p:cNvSpPr txBox="1"/>
            <p:nvPr/>
          </p:nvSpPr>
          <p:spPr>
            <a:xfrm>
              <a:off x="6502718" y="3857149"/>
              <a:ext cx="1726430" cy="198120"/>
            </a:xfrm>
            <a:prstGeom prst="rect">
              <a:avLst/>
            </a:prstGeom>
            <a:noFill/>
            <a:ln>
              <a:noFill/>
            </a:ln>
          </p:spPr>
          <p:txBody>
            <a:bodyPr wrap="none" lIns="0" tIns="0" rIns="0" bIns="0" anchor="t" anchorCtr="0">
              <a:spAutoFit/>
            </a:bodyPr>
            <a:lstStyle/>
            <a:p>
              <a:pPr algn="l"/>
              <a:r>
                <a:rPr lang="zh-CN" sz="975" i="1" dirty="0">
                  <a:solidFill>
                    <a:srgbClr val="8B7355"/>
                  </a:solidFill>
                  <a:latin typeface="Georgia"/>
                  <a:ea typeface="KaiTi"/>
                  <a:cs typeface="Georgia"/>
                </a:rPr>
                <a:t>— "适应性再利用"模式典范</a:t>
              </a:r>
            </a:p>
          </p:txBody>
        </p:sp>
      </p:grpSp>
      <p:grpSp>
        <p:nvGrpSpPr>
          <p:cNvPr id="57" name="Group 57"/>
          <p:cNvGrpSpPr/>
          <p:nvPr/>
        </p:nvGrpSpPr>
        <p:grpSpPr>
          <a:xfrm>
            <a:off x="6286500" y="4286250"/>
            <a:ext cx="5334000" cy="2286000"/>
            <a:chOff x="6286500" y="4286250"/>
            <a:chExt cx="5334000" cy="2286000"/>
          </a:xfrm>
        </p:grpSpPr>
        <p:sp>
          <p:nvSpPr>
            <p:cNvPr id="43" name="Rectangle 43"/>
            <p:cNvSpPr/>
            <p:nvPr/>
          </p:nvSpPr>
          <p:spPr>
            <a:xfrm>
              <a:off x="6286500" y="4286250"/>
              <a:ext cx="5334000" cy="2286000"/>
            </a:xfrm>
            <a:prstGeom prst="roundRect">
              <a:avLst>
                <a:gd name="adj" fmla="val 2500"/>
              </a:avLst>
            </a:prstGeom>
            <a:solidFill>
              <a:srgbClr val="FFFFFF"/>
            </a:solidFill>
            <a:ln w="9525">
              <a:solidFill>
                <a:srgbClr val="D6CFC0"/>
              </a:solidFill>
            </a:ln>
          </p:spPr>
        </p:sp>
        <p:sp>
          <p:nvSpPr>
            <p:cNvPr id="44" name="TextBox 44"/>
            <p:cNvSpPr txBox="1"/>
            <p:nvPr/>
          </p:nvSpPr>
          <p:spPr>
            <a:xfrm>
              <a:off x="6502718" y="4542949"/>
              <a:ext cx="1392861" cy="198120"/>
            </a:xfrm>
            <a:prstGeom prst="rect">
              <a:avLst/>
            </a:prstGeom>
            <a:noFill/>
            <a:ln>
              <a:noFill/>
            </a:ln>
          </p:spPr>
          <p:txBody>
            <a:bodyPr wrap="none" lIns="0" tIns="0" rIns="0" bIns="0" anchor="t" anchorCtr="0">
              <a:spAutoFit/>
            </a:bodyPr>
            <a:lstStyle/>
            <a:p>
              <a:pPr algn="l"/>
              <a:r>
                <a:rPr lang="zh-CN" sz="975" b="1" dirty="0">
                  <a:solidFill>
                    <a:srgbClr val="6B7A4F"/>
                  </a:solidFill>
                  <a:latin typeface="Segoe UI"/>
                  <a:ea typeface="Microsoft YaHei"/>
                  <a:cs typeface="Segoe UI"/>
                </a:rPr>
                <a:t>业态再造 · 五大功能</a:t>
              </a:r>
            </a:p>
          </p:txBody>
        </p:sp>
        <p:grpSp>
          <p:nvGrpSpPr>
            <p:cNvPr id="55" name="Group 55"/>
            <p:cNvGrpSpPr/>
            <p:nvPr/>
          </p:nvGrpSpPr>
          <p:grpSpPr>
            <a:xfrm>
              <a:off x="6515100" y="4857750"/>
              <a:ext cx="4953000" cy="895350"/>
              <a:chOff x="6515100" y="4857750"/>
              <a:chExt cx="4953000" cy="895350"/>
            </a:xfrm>
          </p:grpSpPr>
          <p:sp>
            <p:nvSpPr>
              <p:cNvPr id="45" name="Rectangle 45"/>
              <p:cNvSpPr/>
              <p:nvPr/>
            </p:nvSpPr>
            <p:spPr>
              <a:xfrm>
                <a:off x="6515100" y="4857750"/>
                <a:ext cx="1524000" cy="361950"/>
              </a:xfrm>
              <a:prstGeom prst="roundRect">
                <a:avLst>
                  <a:gd name="adj" fmla="val 15789"/>
                </a:avLst>
              </a:prstGeom>
              <a:solidFill>
                <a:srgbClr val="F5F2EC"/>
              </a:solidFill>
              <a:ln>
                <a:noFill/>
              </a:ln>
            </p:spPr>
          </p:sp>
          <p:sp>
            <p:nvSpPr>
              <p:cNvPr id="46" name="TextBox 46"/>
              <p:cNvSpPr txBox="1"/>
              <p:nvPr/>
            </p:nvSpPr>
            <p:spPr>
              <a:xfrm>
                <a:off x="6868882" y="4973002"/>
                <a:ext cx="816435" cy="213360"/>
              </a:xfrm>
              <a:prstGeom prst="rect">
                <a:avLst/>
              </a:prstGeom>
              <a:noFill/>
              <a:ln>
                <a:noFill/>
              </a:ln>
            </p:spPr>
            <p:txBody>
              <a:bodyPr wrap="none" lIns="0" tIns="0" rIns="0" bIns="0" anchor="t" anchorCtr="0">
                <a:spAutoFit/>
              </a:bodyPr>
              <a:lstStyle/>
              <a:p>
                <a:pPr algn="ctr"/>
                <a:r>
                  <a:rPr lang="zh-CN" sz="1050" dirty="0">
                    <a:solidFill>
                      <a:srgbClr val="2B3A4A"/>
                    </a:solidFill>
                    <a:latin typeface="Segoe UI"/>
                    <a:ea typeface="Microsoft YaHei"/>
                    <a:cs typeface="Segoe UI"/>
                  </a:rPr>
                  <a:t>酒店 · 餐饮</a:t>
                </a:r>
              </a:p>
            </p:txBody>
          </p:sp>
          <p:sp>
            <p:nvSpPr>
              <p:cNvPr id="47" name="Rectangle 47"/>
              <p:cNvSpPr/>
              <p:nvPr/>
            </p:nvSpPr>
            <p:spPr>
              <a:xfrm>
                <a:off x="8229600" y="4857750"/>
                <a:ext cx="1524000" cy="361950"/>
              </a:xfrm>
              <a:prstGeom prst="roundRect">
                <a:avLst>
                  <a:gd name="adj" fmla="val 15789"/>
                </a:avLst>
              </a:prstGeom>
              <a:solidFill>
                <a:srgbClr val="F5F2EC"/>
              </a:solidFill>
              <a:ln>
                <a:noFill/>
              </a:ln>
            </p:spPr>
          </p:sp>
          <p:sp>
            <p:nvSpPr>
              <p:cNvPr id="48" name="TextBox 48"/>
              <p:cNvSpPr txBox="1"/>
              <p:nvPr/>
            </p:nvSpPr>
            <p:spPr>
              <a:xfrm>
                <a:off x="8594884" y="4973002"/>
                <a:ext cx="793432" cy="213360"/>
              </a:xfrm>
              <a:prstGeom prst="rect">
                <a:avLst/>
              </a:prstGeom>
              <a:noFill/>
              <a:ln>
                <a:noFill/>
              </a:ln>
            </p:spPr>
            <p:txBody>
              <a:bodyPr wrap="none" lIns="0" tIns="0" rIns="0" bIns="0" anchor="t" anchorCtr="0">
                <a:spAutoFit/>
              </a:bodyPr>
              <a:lstStyle/>
              <a:p>
                <a:pPr algn="ctr"/>
                <a:r>
                  <a:rPr lang="zh-CN" sz="1050" dirty="0">
                    <a:solidFill>
                      <a:srgbClr val="2B3A4A"/>
                    </a:solidFill>
                    <a:latin typeface="Segoe UI"/>
                    <a:ea typeface="Microsoft YaHei"/>
                    <a:cs typeface="Segoe UI"/>
                  </a:rPr>
                  <a:t>儿童探索馆</a:t>
                </a:r>
              </a:p>
            </p:txBody>
          </p:sp>
          <p:sp>
            <p:nvSpPr>
              <p:cNvPr id="49" name="Rectangle 49"/>
              <p:cNvSpPr/>
              <p:nvPr/>
            </p:nvSpPr>
            <p:spPr>
              <a:xfrm>
                <a:off x="9944100" y="4857750"/>
                <a:ext cx="1524000" cy="361950"/>
              </a:xfrm>
              <a:prstGeom prst="roundRect">
                <a:avLst>
                  <a:gd name="adj" fmla="val 15789"/>
                </a:avLst>
              </a:prstGeom>
              <a:solidFill>
                <a:srgbClr val="F5F2EC"/>
              </a:solidFill>
              <a:ln>
                <a:noFill/>
              </a:ln>
            </p:spPr>
          </p:sp>
          <p:sp>
            <p:nvSpPr>
              <p:cNvPr id="50" name="TextBox 50"/>
              <p:cNvSpPr txBox="1"/>
              <p:nvPr/>
            </p:nvSpPr>
            <p:spPr>
              <a:xfrm>
                <a:off x="10232708" y="4973002"/>
                <a:ext cx="946785" cy="213360"/>
              </a:xfrm>
              <a:prstGeom prst="rect">
                <a:avLst/>
              </a:prstGeom>
              <a:noFill/>
              <a:ln>
                <a:noFill/>
              </a:ln>
            </p:spPr>
            <p:txBody>
              <a:bodyPr wrap="none" lIns="0" tIns="0" rIns="0" bIns="0" anchor="t" anchorCtr="0">
                <a:spAutoFit/>
              </a:bodyPr>
              <a:lstStyle/>
              <a:p>
                <a:pPr algn="ctr"/>
                <a:r>
                  <a:rPr lang="zh-CN" sz="1050" dirty="0">
                    <a:solidFill>
                      <a:srgbClr val="2B3A4A"/>
                    </a:solidFill>
                    <a:latin typeface="Segoe UI"/>
                    <a:ea typeface="Microsoft YaHei"/>
                    <a:cs typeface="Segoe UI"/>
                  </a:rPr>
                  <a:t>图画书博物馆</a:t>
                </a:r>
              </a:p>
            </p:txBody>
          </p:sp>
          <p:sp>
            <p:nvSpPr>
              <p:cNvPr id="51" name="Rectangle 51"/>
              <p:cNvSpPr/>
              <p:nvPr/>
            </p:nvSpPr>
            <p:spPr>
              <a:xfrm>
                <a:off x="6515100" y="5391150"/>
                <a:ext cx="2286000" cy="361950"/>
              </a:xfrm>
              <a:prstGeom prst="roundRect">
                <a:avLst>
                  <a:gd name="adj" fmla="val 15789"/>
                </a:avLst>
              </a:prstGeom>
              <a:solidFill>
                <a:srgbClr val="F5F2EC"/>
              </a:solidFill>
              <a:ln>
                <a:noFill/>
              </a:ln>
            </p:spPr>
          </p:sp>
          <p:sp>
            <p:nvSpPr>
              <p:cNvPr id="52" name="TextBox 52"/>
              <p:cNvSpPr txBox="1"/>
              <p:nvPr/>
            </p:nvSpPr>
            <p:spPr>
              <a:xfrm>
                <a:off x="7184708" y="5506402"/>
                <a:ext cx="946785" cy="213360"/>
              </a:xfrm>
              <a:prstGeom prst="rect">
                <a:avLst/>
              </a:prstGeom>
              <a:noFill/>
              <a:ln>
                <a:noFill/>
              </a:ln>
            </p:spPr>
            <p:txBody>
              <a:bodyPr wrap="none" lIns="0" tIns="0" rIns="0" bIns="0" anchor="t" anchorCtr="0">
                <a:spAutoFit/>
              </a:bodyPr>
              <a:lstStyle/>
              <a:p>
                <a:pPr algn="ctr"/>
                <a:r>
                  <a:rPr lang="zh-CN" sz="1050" dirty="0">
                    <a:solidFill>
                      <a:srgbClr val="2B3A4A"/>
                    </a:solidFill>
                    <a:latin typeface="Segoe UI"/>
                    <a:ea typeface="Microsoft YaHei"/>
                    <a:cs typeface="Segoe UI"/>
                  </a:rPr>
                  <a:t>婴幼儿托育馆</a:t>
                </a:r>
              </a:p>
            </p:txBody>
          </p:sp>
          <p:sp>
            <p:nvSpPr>
              <p:cNvPr id="53" name="Rectangle 53"/>
              <p:cNvSpPr/>
              <p:nvPr/>
            </p:nvSpPr>
            <p:spPr>
              <a:xfrm>
                <a:off x="8991600" y="5391150"/>
                <a:ext cx="2476500" cy="361950"/>
              </a:xfrm>
              <a:prstGeom prst="roundRect">
                <a:avLst>
                  <a:gd name="adj" fmla="val 15789"/>
                </a:avLst>
              </a:prstGeom>
              <a:solidFill>
                <a:srgbClr val="F5F2EC"/>
              </a:solidFill>
              <a:ln>
                <a:noFill/>
              </a:ln>
            </p:spPr>
          </p:sp>
          <p:sp>
            <p:nvSpPr>
              <p:cNvPr id="54" name="TextBox 54"/>
              <p:cNvSpPr txBox="1"/>
              <p:nvPr/>
            </p:nvSpPr>
            <p:spPr>
              <a:xfrm>
                <a:off x="9514927" y="5506402"/>
                <a:ext cx="1429845" cy="213360"/>
              </a:xfrm>
              <a:prstGeom prst="rect">
                <a:avLst/>
              </a:prstGeom>
              <a:noFill/>
              <a:ln>
                <a:noFill/>
              </a:ln>
            </p:spPr>
            <p:txBody>
              <a:bodyPr wrap="none" lIns="0" tIns="0" rIns="0" bIns="0" anchor="t" anchorCtr="0">
                <a:spAutoFit/>
              </a:bodyPr>
              <a:lstStyle/>
              <a:p>
                <a:pPr algn="ctr"/>
                <a:r>
                  <a:rPr lang="zh-CN" sz="1050" dirty="0">
                    <a:solidFill>
                      <a:srgbClr val="2B3A4A"/>
                    </a:solidFill>
                    <a:latin typeface="Segoe UI"/>
                    <a:ea typeface="Microsoft YaHei"/>
                    <a:cs typeface="Segoe UI"/>
                  </a:rPr>
                  <a:t>妇儿剧场 · 公共活动</a:t>
                </a:r>
              </a:p>
            </p:txBody>
          </p:sp>
        </p:grpSp>
        <p:sp>
          <p:nvSpPr>
            <p:cNvPr id="56" name="TextBox 56"/>
            <p:cNvSpPr txBox="1"/>
            <p:nvPr/>
          </p:nvSpPr>
          <p:spPr>
            <a:xfrm>
              <a:off x="6501765" y="6230302"/>
              <a:ext cx="3262408" cy="213360"/>
            </a:xfrm>
            <a:prstGeom prst="rect">
              <a:avLst/>
            </a:prstGeom>
            <a:noFill/>
            <a:ln>
              <a:noFill/>
            </a:ln>
          </p:spPr>
          <p:txBody>
            <a:bodyPr wrap="none" lIns="0" tIns="0" rIns="0" bIns="0" anchor="t" anchorCtr="0">
              <a:spAutoFit/>
            </a:bodyPr>
            <a:lstStyle/>
            <a:p>
              <a:pPr algn="l"/>
              <a:r>
                <a:rPr lang="zh-CN" sz="1050" i="1" dirty="0">
                  <a:solidFill>
                    <a:srgbClr val="5A6B7A"/>
                  </a:solidFill>
                  <a:latin typeface="Georgia"/>
                  <a:ea typeface="KaiTi"/>
                  <a:cs typeface="Georgia"/>
                </a:rPr>
                <a:t>从单一办公塔楼，转型为充满活力的"垂直社区"</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edge">
                                      <p:cBhvr>
                                        <p:cTn id="11" dur="400"/>
                                        <p:tgtEl>
                                          <p:spTgt spid="17"/>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heel(4)">
                                      <p:cBhvr>
                                        <p:cTn id="15" dur="400"/>
                                        <p:tgtEl>
                                          <p:spTgt spid="2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400"/>
                                        <p:tgtEl>
                                          <p:spTgt spid="42"/>
                                        </p:tgtEl>
                                      </p:cBhvr>
                                    </p:animEffect>
                                  </p:childTnLst>
                                </p:cTn>
                              </p:par>
                            </p:childTnLst>
                          </p:cTn>
                        </p:par>
                        <p:par>
                          <p:cTn id="20" fill="hold">
                            <p:stCondLst>
                              <p:cond delay="3600"/>
                            </p:stCondLst>
                            <p:childTnLst>
                              <p:par>
                                <p:cTn id="21" presetID="50"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stretch(across)">
                                      <p:cBhvr>
                                        <p:cTn id="23"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P spid="24" grpId="0"/>
      <p:bldP spid="42" grpId="0"/>
      <p:bldP spid="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3" cy="321469"/>
            <a:chOff x="571500" y="571500"/>
            <a:chExt cx="11061383" cy="321469"/>
          </a:xfrm>
        </p:grpSpPr>
        <p:sp>
          <p:nvSpPr>
            <p:cNvPr id="3" name="Rectangle 3"/>
            <p:cNvSpPr/>
            <p:nvPr/>
          </p:nvSpPr>
          <p:spPr>
            <a:xfrm>
              <a:off x="571500" y="571500"/>
              <a:ext cx="28575" cy="304800"/>
            </a:xfrm>
            <a:prstGeom prst="rect">
              <a:avLst/>
            </a:prstGeom>
            <a:solidFill>
              <a:srgbClr val="6B7A4F"/>
            </a:solidFill>
            <a:ln>
              <a:noFill/>
            </a:ln>
          </p:spPr>
        </p:sp>
        <p:sp>
          <p:nvSpPr>
            <p:cNvPr id="4" name="TextBox 4"/>
            <p:cNvSpPr txBox="1"/>
            <p:nvPr/>
          </p:nvSpPr>
          <p:spPr>
            <a:xfrm>
              <a:off x="711518" y="694849"/>
              <a:ext cx="1340529"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III · 巡览 · CASE 02</a:t>
              </a:r>
            </a:p>
          </p:txBody>
        </p:sp>
        <p:sp>
          <p:nvSpPr>
            <p:cNvPr id="5" name="TextBox 5"/>
            <p:cNvSpPr txBox="1"/>
            <p:nvPr/>
          </p:nvSpPr>
          <p:spPr>
            <a:xfrm>
              <a:off x="9657255" y="694849"/>
              <a:ext cx="1975628"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SHANGHAI · 1988 → 2018 → 2023</a:t>
              </a:r>
            </a:p>
          </p:txBody>
        </p:sp>
      </p:grpSp>
      <p:grpSp>
        <p:nvGrpSpPr>
          <p:cNvPr id="10" name="Group 10"/>
          <p:cNvGrpSpPr/>
          <p:nvPr/>
        </p:nvGrpSpPr>
        <p:grpSpPr>
          <a:xfrm>
            <a:off x="537210" y="1118235"/>
            <a:ext cx="4209098" cy="986790"/>
            <a:chOff x="537210" y="1118235"/>
            <a:chExt cx="4209098" cy="986790"/>
          </a:xfrm>
        </p:grpSpPr>
        <p:sp>
          <p:nvSpPr>
            <p:cNvPr id="7" name="TextBox 7"/>
            <p:cNvSpPr txBox="1"/>
            <p:nvPr/>
          </p:nvSpPr>
          <p:spPr>
            <a:xfrm>
              <a:off x="537210" y="1118235"/>
              <a:ext cx="4209098"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全国首家城市更新领域</a:t>
              </a:r>
            </a:p>
          </p:txBody>
        </p:sp>
        <p:sp>
          <p:nvSpPr>
            <p:cNvPr id="8" name="TextBox 8"/>
            <p:cNvSpPr txBox="1"/>
            <p:nvPr/>
          </p:nvSpPr>
          <p:spPr>
            <a:xfrm>
              <a:off x="537210" y="1556385"/>
              <a:ext cx="2138839" cy="548640"/>
            </a:xfrm>
            <a:prstGeom prst="rect">
              <a:avLst/>
            </a:prstGeom>
            <a:noFill/>
            <a:ln>
              <a:noFill/>
            </a:ln>
          </p:spPr>
          <p:txBody>
            <a:bodyPr wrap="none" lIns="0" tIns="0" rIns="0" bIns="0" anchor="t" anchorCtr="0">
              <a:spAutoFit/>
            </a:bodyPr>
            <a:lstStyle/>
            <a:p>
              <a:pPr algn="l"/>
              <a:r>
                <a:rPr lang="zh-CN" sz="2700" b="1" dirty="0">
                  <a:solidFill>
                    <a:srgbClr val="6B7A4F"/>
                  </a:solidFill>
                  <a:latin typeface="Georgia"/>
                  <a:ea typeface="KaiTi"/>
                  <a:cs typeface="Georgia"/>
                </a:rPr>
                <a:t>碳中和酒店</a:t>
              </a:r>
            </a:p>
          </p:txBody>
        </p:sp>
        <p:sp>
          <p:nvSpPr>
            <p:cNvPr id="9" name="Line 9"/>
            <p:cNvSpPr/>
            <p:nvPr/>
          </p:nvSpPr>
          <p:spPr>
            <a:xfrm>
              <a:off x="571500" y="2095500"/>
              <a:ext cx="952500" cy="9525"/>
            </a:xfrm>
            <a:custGeom>
              <a:avLst/>
              <a:gdLst/>
              <a:ahLst/>
              <a:cxnLst/>
              <a:rect l="l" t="t" r="r" b="b"/>
              <a:pathLst>
                <a:path w="952500" h="9525">
                  <a:moveTo>
                    <a:pt x="0" y="0"/>
                  </a:moveTo>
                  <a:lnTo>
                    <a:pt x="952500" y="0"/>
                  </a:lnTo>
                </a:path>
              </a:pathLst>
            </a:custGeom>
            <a:noFill/>
            <a:ln w="19050">
              <a:solidFill>
                <a:srgbClr val="6B7A4F"/>
              </a:solidFill>
            </a:ln>
          </p:spPr>
        </p:sp>
      </p:grpSp>
      <p:grpSp>
        <p:nvGrpSpPr>
          <p:cNvPr id="19" name="Group 19"/>
          <p:cNvGrpSpPr/>
          <p:nvPr/>
        </p:nvGrpSpPr>
        <p:grpSpPr>
          <a:xfrm>
            <a:off x="559118" y="2476500"/>
            <a:ext cx="2679382" cy="4155281"/>
            <a:chOff x="559118" y="2476500"/>
            <a:chExt cx="2679382" cy="4155281"/>
          </a:xfrm>
        </p:grpSpPr>
        <p:pic>
          <p:nvPicPr>
            <p:cNvPr id="11" name="Image 11"/>
            <p:cNvPicPr>
              <a:picLocks noChangeAspect="1"/>
            </p:cNvPicPr>
            <p:nvPr/>
          </p:nvPicPr>
          <p:blipFill>
            <a:blip r:embed="rId2"/>
            <a:srcRect l="2044" t="0" r="2044" b="0"/>
            <a:stretch>
              <a:fillRect/>
            </a:stretch>
          </p:blipFill>
          <p:spPr>
            <a:xfrm>
              <a:off x="571500" y="2476500"/>
              <a:ext cx="2667000" cy="3619500"/>
            </a:xfrm>
            <a:prstGeom prst="roundRect">
              <a:avLst>
                <a:gd name="adj" fmla="val 2142"/>
              </a:avLst>
            </a:prstGeom>
          </p:spPr>
        </p:pic>
        <p:sp>
          <p:nvSpPr>
            <p:cNvPr id="12" name="Rectangle 12"/>
            <p:cNvSpPr/>
            <p:nvPr/>
          </p:nvSpPr>
          <p:spPr>
            <a:xfrm>
              <a:off x="571500" y="2476500"/>
              <a:ext cx="2667000" cy="1143000"/>
            </a:xfrm>
            <a:prstGeom prst="rect">
              <a:avLst/>
            </a:prstGeom>
            <a:gradFill>
              <a:gsLst>
                <a:gs pos="0">
                  <a:srgbClr val="5A6B7A">
                    <a:alpha val="55000"/>
                  </a:srgbClr>
                </a:gs>
                <a:gs pos="35000">
                  <a:srgbClr val="5A6B7A">
                    <a:alpha val="0"/>
                  </a:srgbClr>
                </a:gs>
              </a:gsLst>
              <a:lin ang="5400000" scaled="1"/>
            </a:gradFill>
            <a:ln>
              <a:noFill/>
            </a:ln>
          </p:spPr>
        </p:sp>
        <p:sp>
          <p:nvSpPr>
            <p:cNvPr id="13" name="Rectangle 13"/>
            <p:cNvSpPr/>
            <p:nvPr/>
          </p:nvSpPr>
          <p:spPr>
            <a:xfrm>
              <a:off x="571500" y="5334000"/>
              <a:ext cx="26670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16" name="Group 16"/>
            <p:cNvGrpSpPr/>
            <p:nvPr/>
          </p:nvGrpSpPr>
          <p:grpSpPr>
            <a:xfrm>
              <a:off x="762000" y="2667000"/>
              <a:ext cx="1112844" cy="190500"/>
              <a:chOff x="762000" y="2667000"/>
              <a:chExt cx="1112844" cy="190500"/>
            </a:xfrm>
          </p:grpSpPr>
          <p:sp>
            <p:nvSpPr>
              <p:cNvPr id="14" name="Rectangle 14"/>
              <p:cNvSpPr/>
              <p:nvPr/>
            </p:nvSpPr>
            <p:spPr>
              <a:xfrm>
                <a:off x="762000" y="2667000"/>
                <a:ext cx="114300" cy="114300"/>
              </a:xfrm>
              <a:prstGeom prst="rect">
                <a:avLst/>
              </a:prstGeom>
              <a:solidFill>
                <a:srgbClr val="F5F2EC"/>
              </a:solidFill>
              <a:ln>
                <a:noFill/>
              </a:ln>
            </p:spPr>
          </p:sp>
          <p:sp>
            <p:nvSpPr>
              <p:cNvPr id="15" name="TextBox 15"/>
              <p:cNvSpPr txBox="1"/>
              <p:nvPr/>
            </p:nvSpPr>
            <p:spPr>
              <a:xfrm>
                <a:off x="941070" y="2674620"/>
                <a:ext cx="933774"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BEFORE · 1988</a:t>
                </a:r>
              </a:p>
            </p:txBody>
          </p:sp>
        </p:grpSp>
        <p:sp>
          <p:nvSpPr>
            <p:cNvPr id="17" name="TextBox 17"/>
            <p:cNvSpPr txBox="1"/>
            <p:nvPr/>
          </p:nvSpPr>
          <p:spPr>
            <a:xfrm>
              <a:off x="559118" y="6238399"/>
              <a:ext cx="1569791"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原华东电力大楼 · 126 米</a:t>
              </a:r>
            </a:p>
          </p:txBody>
        </p:sp>
        <p:sp>
          <p:nvSpPr>
            <p:cNvPr id="18" name="TextBox 18"/>
            <p:cNvSpPr txBox="1"/>
            <p:nvPr/>
          </p:nvSpPr>
          <p:spPr>
            <a:xfrm>
              <a:off x="561022" y="6464141"/>
              <a:ext cx="2087380" cy="167640"/>
            </a:xfrm>
            <a:prstGeom prst="rect">
              <a:avLst/>
            </a:prstGeom>
            <a:noFill/>
            <a:ln>
              <a:noFill/>
            </a:ln>
          </p:spPr>
          <p:txBody>
            <a:bodyPr wrap="none" lIns="0" tIns="0" rIns="0" bIns="0" anchor="t" anchorCtr="0">
              <a:spAutoFit/>
            </a:bodyPr>
            <a:lstStyle/>
            <a:p>
              <a:pPr algn="l"/>
              <a:r>
                <a:rPr lang="zh-CN" sz="825" dirty="0">
                  <a:solidFill>
                    <a:srgbClr val="8A8275"/>
                  </a:solidFill>
                  <a:latin typeface="Segoe UI"/>
                  <a:ea typeface="Microsoft YaHei"/>
                  <a:cs typeface="Segoe UI"/>
                </a:rPr>
                <a:t>南京路上第一栋高层 · 图源：百度百科</a:t>
              </a:r>
            </a:p>
          </p:txBody>
        </p:sp>
      </p:grpSp>
      <p:grpSp>
        <p:nvGrpSpPr>
          <p:cNvPr id="28" name="Group 28"/>
          <p:cNvGrpSpPr/>
          <p:nvPr/>
        </p:nvGrpSpPr>
        <p:grpSpPr>
          <a:xfrm>
            <a:off x="3416618" y="2476500"/>
            <a:ext cx="2679382" cy="4155281"/>
            <a:chOff x="3416618" y="2476500"/>
            <a:chExt cx="2679382" cy="4155281"/>
          </a:xfrm>
        </p:grpSpPr>
        <p:pic>
          <p:nvPicPr>
            <p:cNvPr id="20" name="Image 20"/>
            <p:cNvPicPr>
              <a:picLocks noChangeAspect="1"/>
            </p:cNvPicPr>
            <p:nvPr/>
          </p:nvPicPr>
          <p:blipFill>
            <a:blip r:embed="rId3"/>
            <a:srcRect l="25439" t="0" r="25439" b="0"/>
            <a:stretch>
              <a:fillRect/>
            </a:stretch>
          </p:blipFill>
          <p:spPr>
            <a:xfrm>
              <a:off x="3429000" y="2476500"/>
              <a:ext cx="2667000" cy="3619500"/>
            </a:xfrm>
            <a:prstGeom prst="roundRect">
              <a:avLst>
                <a:gd name="adj" fmla="val 2142"/>
              </a:avLst>
            </a:prstGeom>
          </p:spPr>
        </p:pic>
        <p:sp>
          <p:nvSpPr>
            <p:cNvPr id="21" name="Rectangle 21"/>
            <p:cNvSpPr/>
            <p:nvPr/>
          </p:nvSpPr>
          <p:spPr>
            <a:xfrm>
              <a:off x="3429000" y="2476500"/>
              <a:ext cx="2667000" cy="1143000"/>
            </a:xfrm>
            <a:prstGeom prst="rect">
              <a:avLst/>
            </a:prstGeom>
            <a:gradFill>
              <a:gsLst>
                <a:gs pos="0">
                  <a:srgbClr val="6B7A4F">
                    <a:alpha val="55000"/>
                  </a:srgbClr>
                </a:gs>
                <a:gs pos="35000">
                  <a:srgbClr val="6B7A4F">
                    <a:alpha val="0"/>
                  </a:srgbClr>
                </a:gs>
              </a:gsLst>
              <a:lin ang="5400000" scaled="1"/>
            </a:gradFill>
            <a:ln>
              <a:noFill/>
            </a:ln>
          </p:spPr>
        </p:sp>
        <p:sp>
          <p:nvSpPr>
            <p:cNvPr id="22" name="Rectangle 22"/>
            <p:cNvSpPr/>
            <p:nvPr/>
          </p:nvSpPr>
          <p:spPr>
            <a:xfrm>
              <a:off x="3429000" y="5334000"/>
              <a:ext cx="2667000" cy="762000"/>
            </a:xfrm>
            <a:prstGeom prst="rect">
              <a:avLst/>
            </a:prstGeom>
            <a:gradFill>
              <a:gsLst>
                <a:gs pos="0">
                  <a:srgbClr val="F5F2EC">
                    <a:alpha val="0"/>
                  </a:srgbClr>
                </a:gs>
                <a:gs pos="100000">
                  <a:srgbClr val="F5F2EC">
                    <a:alpha val="95000"/>
                  </a:srgbClr>
                </a:gs>
              </a:gsLst>
              <a:lin ang="5400000" scaled="1"/>
            </a:gradFill>
            <a:ln>
              <a:noFill/>
            </a:ln>
          </p:spPr>
        </p:sp>
        <p:grpSp>
          <p:nvGrpSpPr>
            <p:cNvPr id="25" name="Group 25"/>
            <p:cNvGrpSpPr/>
            <p:nvPr/>
          </p:nvGrpSpPr>
          <p:grpSpPr>
            <a:xfrm>
              <a:off x="3619500" y="2667000"/>
              <a:ext cx="1043835" cy="190500"/>
              <a:chOff x="3619500" y="2667000"/>
              <a:chExt cx="1043835" cy="190500"/>
            </a:xfrm>
          </p:grpSpPr>
          <p:sp>
            <p:nvSpPr>
              <p:cNvPr id="23" name="Rectangle 23"/>
              <p:cNvSpPr/>
              <p:nvPr/>
            </p:nvSpPr>
            <p:spPr>
              <a:xfrm>
                <a:off x="3619500" y="2667000"/>
                <a:ext cx="114300" cy="114300"/>
              </a:xfrm>
              <a:prstGeom prst="rect">
                <a:avLst/>
              </a:prstGeom>
              <a:solidFill>
                <a:srgbClr val="6B7A4F"/>
              </a:solidFill>
              <a:ln>
                <a:noFill/>
              </a:ln>
            </p:spPr>
          </p:sp>
          <p:sp>
            <p:nvSpPr>
              <p:cNvPr id="24" name="TextBox 24"/>
              <p:cNvSpPr txBox="1"/>
              <p:nvPr/>
            </p:nvSpPr>
            <p:spPr>
              <a:xfrm>
                <a:off x="3798570" y="2674620"/>
                <a:ext cx="864765" cy="182880"/>
              </a:xfrm>
              <a:prstGeom prst="rect">
                <a:avLst/>
              </a:prstGeom>
              <a:noFill/>
              <a:ln>
                <a:noFill/>
              </a:ln>
            </p:spPr>
            <p:txBody>
              <a:bodyPr wrap="none" lIns="0" tIns="0" rIns="0" bIns="0" anchor="t" anchorCtr="0">
                <a:spAutoFit/>
              </a:bodyPr>
              <a:lstStyle/>
              <a:p>
                <a:pPr algn="l"/>
                <a:r>
                  <a:rPr lang="zh-CN" sz="900" b="1" dirty="0">
                    <a:solidFill>
                      <a:srgbClr val="F5F2EC"/>
                    </a:solidFill>
                    <a:latin typeface="Georgia"/>
                    <a:ea typeface="SimSun"/>
                    <a:cs typeface="Georgia"/>
                  </a:rPr>
                  <a:t>AFTER · 2023</a:t>
                </a:r>
              </a:p>
            </p:txBody>
          </p:sp>
        </p:grpSp>
        <p:sp>
          <p:nvSpPr>
            <p:cNvPr id="26" name="TextBox 26"/>
            <p:cNvSpPr txBox="1"/>
            <p:nvPr/>
          </p:nvSpPr>
          <p:spPr>
            <a:xfrm>
              <a:off x="3416618" y="6238399"/>
              <a:ext cx="1754910"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艾迪逊酒店 · 节能改造完成</a:t>
              </a:r>
            </a:p>
          </p:txBody>
        </p:sp>
        <p:sp>
          <p:nvSpPr>
            <p:cNvPr id="27" name="TextBox 27"/>
            <p:cNvSpPr txBox="1"/>
            <p:nvPr/>
          </p:nvSpPr>
          <p:spPr>
            <a:xfrm>
              <a:off x="3418522" y="6464141"/>
              <a:ext cx="918615" cy="167640"/>
            </a:xfrm>
            <a:prstGeom prst="rect">
              <a:avLst/>
            </a:prstGeom>
            <a:noFill/>
            <a:ln>
              <a:noFill/>
            </a:ln>
          </p:spPr>
          <p:txBody>
            <a:bodyPr wrap="none" lIns="0" tIns="0" rIns="0" bIns="0" anchor="t" anchorCtr="0">
              <a:spAutoFit/>
            </a:bodyPr>
            <a:lstStyle/>
            <a:p>
              <a:pPr algn="l"/>
              <a:r>
                <a:rPr lang="zh-CN" sz="825" dirty="0">
                  <a:solidFill>
                    <a:srgbClr val="8A8275"/>
                  </a:solidFill>
                  <a:latin typeface="Segoe UI"/>
                  <a:ea typeface="Microsoft YaHei"/>
                  <a:cs typeface="Segoe UI"/>
                </a:rPr>
                <a:t>图源：Archdaily</a:t>
              </a:r>
            </a:p>
          </p:txBody>
        </p:sp>
      </p:grpSp>
      <p:grpSp>
        <p:nvGrpSpPr>
          <p:cNvPr id="45" name="Group 45"/>
          <p:cNvGrpSpPr/>
          <p:nvPr/>
        </p:nvGrpSpPr>
        <p:grpSpPr>
          <a:xfrm>
            <a:off x="6477000" y="2476500"/>
            <a:ext cx="5143500" cy="3619500"/>
            <a:chOff x="6477000" y="2476500"/>
            <a:chExt cx="5143500" cy="3619500"/>
          </a:xfrm>
        </p:grpSpPr>
        <p:sp>
          <p:nvSpPr>
            <p:cNvPr id="29" name="Rectangle 29"/>
            <p:cNvSpPr/>
            <p:nvPr/>
          </p:nvSpPr>
          <p:spPr>
            <a:xfrm>
              <a:off x="6477000" y="2476500"/>
              <a:ext cx="5143500" cy="3619500"/>
            </a:xfrm>
            <a:prstGeom prst="roundRect">
              <a:avLst>
                <a:gd name="adj" fmla="val 1579"/>
              </a:avLst>
            </a:prstGeom>
            <a:solidFill>
              <a:srgbClr val="EBE6DC"/>
            </a:solidFill>
            <a:ln>
              <a:noFill/>
            </a:ln>
          </p:spPr>
        </p:sp>
        <p:sp>
          <p:nvSpPr>
            <p:cNvPr id="30" name="TextBox 30"/>
            <p:cNvSpPr txBox="1"/>
            <p:nvPr/>
          </p:nvSpPr>
          <p:spPr>
            <a:xfrm>
              <a:off x="6693218" y="2733199"/>
              <a:ext cx="1153631" cy="198120"/>
            </a:xfrm>
            <a:prstGeom prst="rect">
              <a:avLst/>
            </a:prstGeom>
            <a:noFill/>
            <a:ln>
              <a:noFill/>
            </a:ln>
          </p:spPr>
          <p:txBody>
            <a:bodyPr wrap="none" lIns="0" tIns="0" rIns="0" bIns="0" anchor="t" anchorCtr="0">
              <a:spAutoFit/>
            </a:bodyPr>
            <a:lstStyle/>
            <a:p>
              <a:pPr algn="l"/>
              <a:r>
                <a:rPr lang="zh-CN" sz="975" b="1" dirty="0">
                  <a:solidFill>
                    <a:srgbClr val="6B7A4F"/>
                  </a:solidFill>
                  <a:latin typeface="Segoe UI"/>
                  <a:ea typeface="Microsoft YaHei"/>
                  <a:cs typeface="Segoe UI"/>
                </a:rPr>
                <a:t>35 年 · 三段历史</a:t>
              </a:r>
            </a:p>
          </p:txBody>
        </p:sp>
        <p:sp>
          <p:nvSpPr>
            <p:cNvPr id="31" name="Line 31"/>
            <p:cNvSpPr/>
            <p:nvPr/>
          </p:nvSpPr>
          <p:spPr>
            <a:xfrm>
              <a:off x="6896100" y="3238500"/>
              <a:ext cx="9525" cy="2476500"/>
            </a:xfrm>
            <a:custGeom>
              <a:avLst/>
              <a:gdLst/>
              <a:ahLst/>
              <a:cxnLst/>
              <a:rect l="l" t="t" r="r" b="b"/>
              <a:pathLst>
                <a:path w="9525" h="2476500">
                  <a:moveTo>
                    <a:pt x="0" y="0"/>
                  </a:moveTo>
                  <a:lnTo>
                    <a:pt x="0" y="2476500"/>
                  </a:lnTo>
                </a:path>
              </a:pathLst>
            </a:custGeom>
            <a:noFill/>
            <a:ln w="19050">
              <a:solidFill>
                <a:srgbClr val="6B7A4F">
                  <a:alpha val="50000"/>
                </a:srgbClr>
              </a:solidFill>
            </a:ln>
          </p:spPr>
        </p:sp>
        <p:sp>
          <p:nvSpPr>
            <p:cNvPr id="32" name="Ellipse 32"/>
            <p:cNvSpPr/>
            <p:nvPr/>
          </p:nvSpPr>
          <p:spPr>
            <a:xfrm>
              <a:off x="6819900" y="3257550"/>
              <a:ext cx="152400" cy="152400"/>
            </a:xfrm>
            <a:prstGeom prst="ellipse">
              <a:avLst/>
            </a:prstGeom>
            <a:solidFill>
              <a:srgbClr val="5A6B7A"/>
            </a:solidFill>
            <a:ln>
              <a:noFill/>
            </a:ln>
          </p:spPr>
        </p:sp>
        <p:sp>
          <p:nvSpPr>
            <p:cNvPr id="33" name="TextBox 33"/>
            <p:cNvSpPr txBox="1"/>
            <p:nvPr/>
          </p:nvSpPr>
          <p:spPr>
            <a:xfrm>
              <a:off x="7141845" y="3117532"/>
              <a:ext cx="535322" cy="335280"/>
            </a:xfrm>
            <a:prstGeom prst="rect">
              <a:avLst/>
            </a:prstGeom>
            <a:noFill/>
            <a:ln>
              <a:noFill/>
            </a:ln>
          </p:spPr>
          <p:txBody>
            <a:bodyPr wrap="none" lIns="0" tIns="0" rIns="0" bIns="0" anchor="t" anchorCtr="0">
              <a:spAutoFit/>
            </a:bodyPr>
            <a:lstStyle/>
            <a:p>
              <a:pPr algn="l"/>
              <a:r>
                <a:rPr lang="zh-CN" sz="1650" b="1" dirty="0">
                  <a:solidFill>
                    <a:srgbClr val="2B3A4A"/>
                  </a:solidFill>
                  <a:latin typeface="Georgia"/>
                  <a:ea typeface="SimSun"/>
                  <a:cs typeface="Georgia"/>
                </a:rPr>
                <a:t>1988</a:t>
              </a:r>
            </a:p>
          </p:txBody>
        </p:sp>
        <p:sp>
          <p:nvSpPr>
            <p:cNvPr id="34" name="TextBox 34"/>
            <p:cNvSpPr txBox="1"/>
            <p:nvPr/>
          </p:nvSpPr>
          <p:spPr>
            <a:xfrm>
              <a:off x="7149465" y="3429952"/>
              <a:ext cx="125349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华东电力大楼建成</a:t>
              </a:r>
            </a:p>
          </p:txBody>
        </p:sp>
        <p:sp>
          <p:nvSpPr>
            <p:cNvPr id="35" name="TextBox 35"/>
            <p:cNvSpPr txBox="1"/>
            <p:nvPr/>
          </p:nvSpPr>
          <p:spPr>
            <a:xfrm>
              <a:off x="7150418" y="3628549"/>
              <a:ext cx="1754910" cy="198120"/>
            </a:xfrm>
            <a:prstGeom prst="rect">
              <a:avLst/>
            </a:prstGeom>
            <a:noFill/>
            <a:ln>
              <a:noFill/>
            </a:ln>
          </p:spPr>
          <p:txBody>
            <a:bodyPr wrap="none" lIns="0" tIns="0" rIns="0" bIns="0" anchor="t" anchorCtr="0">
              <a:spAutoFit/>
            </a:bodyPr>
            <a:lstStyle/>
            <a:p>
              <a:pPr algn="l"/>
              <a:r>
                <a:rPr lang="zh-CN" sz="975" dirty="0">
                  <a:solidFill>
                    <a:srgbClr val="8A8275"/>
                  </a:solidFill>
                  <a:latin typeface="Segoe UI"/>
                  <a:ea typeface="Microsoft YaHei"/>
                  <a:cs typeface="Segoe UI"/>
                </a:rPr>
                <a:t>南京东路 201 号 · 高 126 米</a:t>
              </a:r>
            </a:p>
          </p:txBody>
        </p:sp>
        <p:sp>
          <p:nvSpPr>
            <p:cNvPr id="36" name="Ellipse 36"/>
            <p:cNvSpPr/>
            <p:nvPr/>
          </p:nvSpPr>
          <p:spPr>
            <a:xfrm>
              <a:off x="6819900" y="4210050"/>
              <a:ext cx="152400" cy="152400"/>
            </a:xfrm>
            <a:prstGeom prst="ellipse">
              <a:avLst/>
            </a:prstGeom>
            <a:solidFill>
              <a:srgbClr val="8B7355"/>
            </a:solidFill>
            <a:ln>
              <a:noFill/>
            </a:ln>
          </p:spPr>
        </p:sp>
        <p:sp>
          <p:nvSpPr>
            <p:cNvPr id="37" name="TextBox 37"/>
            <p:cNvSpPr txBox="1"/>
            <p:nvPr/>
          </p:nvSpPr>
          <p:spPr>
            <a:xfrm>
              <a:off x="7141845" y="4070032"/>
              <a:ext cx="535322" cy="335280"/>
            </a:xfrm>
            <a:prstGeom prst="rect">
              <a:avLst/>
            </a:prstGeom>
            <a:noFill/>
            <a:ln>
              <a:noFill/>
            </a:ln>
          </p:spPr>
          <p:txBody>
            <a:bodyPr wrap="none" lIns="0" tIns="0" rIns="0" bIns="0" anchor="t" anchorCtr="0">
              <a:spAutoFit/>
            </a:bodyPr>
            <a:lstStyle/>
            <a:p>
              <a:pPr algn="l"/>
              <a:r>
                <a:rPr lang="zh-CN" sz="1650" b="1" dirty="0">
                  <a:solidFill>
                    <a:srgbClr val="2B3A4A"/>
                  </a:solidFill>
                  <a:latin typeface="Georgia"/>
                  <a:ea typeface="SimSun"/>
                  <a:cs typeface="Georgia"/>
                </a:rPr>
                <a:t>2018</a:t>
              </a:r>
            </a:p>
          </p:txBody>
        </p:sp>
        <p:sp>
          <p:nvSpPr>
            <p:cNvPr id="38" name="TextBox 38"/>
            <p:cNvSpPr txBox="1"/>
            <p:nvPr/>
          </p:nvSpPr>
          <p:spPr>
            <a:xfrm>
              <a:off x="7149465" y="4382452"/>
              <a:ext cx="1406842"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改扩建为艾迪逊酒店</a:t>
              </a:r>
            </a:p>
          </p:txBody>
        </p:sp>
        <p:sp>
          <p:nvSpPr>
            <p:cNvPr id="39" name="TextBox 39"/>
            <p:cNvSpPr txBox="1"/>
            <p:nvPr/>
          </p:nvSpPr>
          <p:spPr>
            <a:xfrm>
              <a:off x="7150418" y="4581049"/>
              <a:ext cx="1413153" cy="198120"/>
            </a:xfrm>
            <a:prstGeom prst="rect">
              <a:avLst/>
            </a:prstGeom>
            <a:noFill/>
            <a:ln>
              <a:noFill/>
            </a:ln>
          </p:spPr>
          <p:txBody>
            <a:bodyPr wrap="none" lIns="0" tIns="0" rIns="0" bIns="0" anchor="t" anchorCtr="0">
              <a:spAutoFit/>
            </a:bodyPr>
            <a:lstStyle/>
            <a:p>
              <a:pPr algn="l"/>
              <a:r>
                <a:rPr lang="zh-CN" sz="975" dirty="0">
                  <a:solidFill>
                    <a:srgbClr val="8A8275"/>
                  </a:solidFill>
                  <a:latin typeface="Segoe UI"/>
                  <a:ea typeface="Microsoft YaHei"/>
                  <a:cs typeface="Segoe UI"/>
                </a:rPr>
                <a:t>与 181 号大楼合并改造</a:t>
              </a:r>
            </a:p>
          </p:txBody>
        </p:sp>
        <p:sp>
          <p:nvSpPr>
            <p:cNvPr id="40" name="Ellipse 40"/>
            <p:cNvSpPr/>
            <p:nvPr/>
          </p:nvSpPr>
          <p:spPr>
            <a:xfrm>
              <a:off x="6800850" y="5143500"/>
              <a:ext cx="190500" cy="190500"/>
            </a:xfrm>
            <a:prstGeom prst="ellipse">
              <a:avLst/>
            </a:prstGeom>
            <a:solidFill>
              <a:srgbClr val="6B7A4F"/>
            </a:solidFill>
            <a:ln>
              <a:noFill/>
            </a:ln>
          </p:spPr>
        </p:sp>
        <p:sp>
          <p:nvSpPr>
            <p:cNvPr id="41" name="TextBox 41"/>
            <p:cNvSpPr txBox="1"/>
            <p:nvPr/>
          </p:nvSpPr>
          <p:spPr>
            <a:xfrm>
              <a:off x="7141845" y="5041582"/>
              <a:ext cx="598580" cy="335280"/>
            </a:xfrm>
            <a:prstGeom prst="rect">
              <a:avLst/>
            </a:prstGeom>
            <a:noFill/>
            <a:ln>
              <a:noFill/>
            </a:ln>
          </p:spPr>
          <p:txBody>
            <a:bodyPr wrap="none" lIns="0" tIns="0" rIns="0" bIns="0" anchor="t" anchorCtr="0">
              <a:spAutoFit/>
            </a:bodyPr>
            <a:lstStyle/>
            <a:p>
              <a:pPr algn="l"/>
              <a:r>
                <a:rPr lang="zh-CN" sz="1650" b="1" dirty="0">
                  <a:solidFill>
                    <a:srgbClr val="6B7A4F"/>
                  </a:solidFill>
                  <a:latin typeface="Georgia"/>
                  <a:ea typeface="SimSun"/>
                  <a:cs typeface="Georgia"/>
                </a:rPr>
                <a:t>2023</a:t>
              </a:r>
            </a:p>
          </p:txBody>
        </p:sp>
        <p:sp>
          <p:nvSpPr>
            <p:cNvPr id="42" name="TextBox 42"/>
            <p:cNvSpPr txBox="1"/>
            <p:nvPr/>
          </p:nvSpPr>
          <p:spPr>
            <a:xfrm>
              <a:off x="7149465" y="5354002"/>
              <a:ext cx="1958912" cy="213360"/>
            </a:xfrm>
            <a:prstGeom prst="rect">
              <a:avLst/>
            </a:prstGeom>
            <a:noFill/>
            <a:ln>
              <a:noFill/>
            </a:ln>
          </p:spPr>
          <p:txBody>
            <a:bodyPr wrap="none" lIns="0" tIns="0" rIns="0" bIns="0" anchor="t" anchorCtr="0">
              <a:spAutoFit/>
            </a:bodyPr>
            <a:lstStyle/>
            <a:p>
              <a:pPr algn="l"/>
              <a:r>
                <a:rPr lang="zh-CN" sz="1050" b="1" dirty="0">
                  <a:solidFill>
                    <a:srgbClr val="2B3A4A"/>
                  </a:solidFill>
                  <a:latin typeface="Segoe UI"/>
                  <a:ea typeface="Microsoft YaHei"/>
                  <a:cs typeface="Segoe UI"/>
                </a:rPr>
                <a:t>完成节能改造，实现碳中和</a:t>
              </a:r>
            </a:p>
          </p:txBody>
        </p:sp>
        <p:sp>
          <p:nvSpPr>
            <p:cNvPr id="43" name="TextBox 43"/>
            <p:cNvSpPr txBox="1"/>
            <p:nvPr/>
          </p:nvSpPr>
          <p:spPr>
            <a:xfrm>
              <a:off x="7150418" y="5571649"/>
              <a:ext cx="1612511"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高性能外窗 · 空气源热泵</a:t>
              </a:r>
            </a:p>
          </p:txBody>
        </p:sp>
        <p:sp>
          <p:nvSpPr>
            <p:cNvPr id="44" name="TextBox 44"/>
            <p:cNvSpPr txBox="1"/>
            <p:nvPr/>
          </p:nvSpPr>
          <p:spPr>
            <a:xfrm>
              <a:off x="7150418" y="5762149"/>
              <a:ext cx="1327714"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节能电梯 · 节水器具</a:t>
              </a:r>
            </a:p>
          </p:txBody>
        </p:sp>
      </p:grpSp>
      <p:sp>
        <p:nvSpPr>
          <p:cNvPr id="46" name="TextBox 46"/>
          <p:cNvSpPr txBox="1"/>
          <p:nvPr/>
        </p:nvSpPr>
        <p:spPr>
          <a:xfrm>
            <a:off x="11234452" y="6665595"/>
            <a:ext cx="397478"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10 / 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800"/>
                            </p:stCondLst>
                            <p:childTnLst>
                              <p:par>
                                <p:cTn id="13" presetID="19"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heel(1)">
                                      <p:cBhvr>
                                        <p:cTn id="15" dur="400"/>
                                        <p:tgtEl>
                                          <p:spTgt spid="28"/>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image">
                                      <p:cBhvr>
                                        <p:cTn id="1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p:bldP spid="28"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3" cy="321469"/>
            <a:chOff x="571500" y="571500"/>
            <a:chExt cx="11061383" cy="321469"/>
          </a:xfrm>
        </p:grpSpPr>
        <p:sp>
          <p:nvSpPr>
            <p:cNvPr id="3" name="Rectangle 3"/>
            <p:cNvSpPr/>
            <p:nvPr/>
          </p:nvSpPr>
          <p:spPr>
            <a:xfrm>
              <a:off x="571500" y="571500"/>
              <a:ext cx="28575" cy="304800"/>
            </a:xfrm>
            <a:prstGeom prst="rect">
              <a:avLst/>
            </a:prstGeom>
            <a:solidFill>
              <a:srgbClr val="6B7A4F"/>
            </a:solidFill>
            <a:ln>
              <a:noFill/>
            </a:ln>
          </p:spPr>
        </p:sp>
        <p:sp>
          <p:nvSpPr>
            <p:cNvPr id="4" name="TextBox 4"/>
            <p:cNvSpPr txBox="1"/>
            <p:nvPr/>
          </p:nvSpPr>
          <p:spPr>
            <a:xfrm>
              <a:off x="711518" y="694849"/>
              <a:ext cx="1340529"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III · 巡览 · CASE 03</a:t>
              </a:r>
            </a:p>
          </p:txBody>
        </p:sp>
        <p:sp>
          <p:nvSpPr>
            <p:cNvPr id="5" name="TextBox 5"/>
            <p:cNvSpPr txBox="1"/>
            <p:nvPr/>
          </p:nvSpPr>
          <p:spPr>
            <a:xfrm>
              <a:off x="10098691" y="694849"/>
              <a:ext cx="1534192"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NEW YORK · 1931 → NOW</a:t>
              </a:r>
            </a:p>
          </p:txBody>
        </p:sp>
      </p:grpSp>
      <p:grpSp>
        <p:nvGrpSpPr>
          <p:cNvPr id="11" name="Group 11"/>
          <p:cNvGrpSpPr/>
          <p:nvPr/>
        </p:nvGrpSpPr>
        <p:grpSpPr>
          <a:xfrm>
            <a:off x="537210" y="1118235"/>
            <a:ext cx="4623149" cy="1389221"/>
            <a:chOff x="537210" y="1118235"/>
            <a:chExt cx="4623149" cy="1389221"/>
          </a:xfrm>
        </p:grpSpPr>
        <p:sp>
          <p:nvSpPr>
            <p:cNvPr id="7" name="TextBox 7"/>
            <p:cNvSpPr txBox="1"/>
            <p:nvPr/>
          </p:nvSpPr>
          <p:spPr>
            <a:xfrm>
              <a:off x="537210" y="1118235"/>
              <a:ext cx="4623149"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1931 年的装饰艺术摩天楼</a:t>
              </a:r>
            </a:p>
          </p:txBody>
        </p:sp>
        <p:sp>
          <p:nvSpPr>
            <p:cNvPr id="8" name="TextBox 8"/>
            <p:cNvSpPr txBox="1"/>
            <p:nvPr/>
          </p:nvSpPr>
          <p:spPr>
            <a:xfrm>
              <a:off x="537210" y="1556385"/>
              <a:ext cx="3070455" cy="548640"/>
            </a:xfrm>
            <a:prstGeom prst="rect">
              <a:avLst/>
            </a:prstGeom>
            <a:noFill/>
            <a:ln>
              <a:noFill/>
            </a:ln>
          </p:spPr>
          <p:txBody>
            <a:bodyPr wrap="none" lIns="0" tIns="0" rIns="0" bIns="0" anchor="t" anchorCtr="0">
              <a:spAutoFit/>
            </a:bodyPr>
            <a:lstStyle/>
            <a:p>
              <a:pPr algn="l"/>
              <a:r>
                <a:rPr lang="zh-CN" sz="2700" b="1" dirty="0">
                  <a:solidFill>
                    <a:srgbClr val="6B7A4F"/>
                  </a:solidFill>
                  <a:latin typeface="Georgia"/>
                  <a:ea typeface="KaiTi"/>
                  <a:cs typeface="Georgia"/>
                </a:rPr>
                <a:t>变成 566 套公寓</a:t>
              </a:r>
            </a:p>
          </p:txBody>
        </p:sp>
        <p:sp>
          <p:nvSpPr>
            <p:cNvPr id="9" name="Line 9"/>
            <p:cNvSpPr/>
            <p:nvPr/>
          </p:nvSpPr>
          <p:spPr>
            <a:xfrm>
              <a:off x="571500" y="2095500"/>
              <a:ext cx="952500" cy="9525"/>
            </a:xfrm>
            <a:custGeom>
              <a:avLst/>
              <a:gdLst/>
              <a:ahLst/>
              <a:cxnLst/>
              <a:rect l="l" t="t" r="r" b="b"/>
              <a:pathLst>
                <a:path w="952500" h="9525">
                  <a:moveTo>
                    <a:pt x="0" y="0"/>
                  </a:moveTo>
                  <a:lnTo>
                    <a:pt x="952500" y="0"/>
                  </a:lnTo>
                </a:path>
              </a:pathLst>
            </a:custGeom>
            <a:noFill/>
            <a:ln w="19050">
              <a:solidFill>
                <a:srgbClr val="6B7A4F"/>
              </a:solidFill>
            </a:ln>
          </p:spPr>
        </p:sp>
        <p:sp>
          <p:nvSpPr>
            <p:cNvPr id="10" name="TextBox 10"/>
            <p:cNvSpPr txBox="1"/>
            <p:nvPr/>
          </p:nvSpPr>
          <p:spPr>
            <a:xfrm>
              <a:off x="557212" y="2278856"/>
              <a:ext cx="4136231"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One Wall Street · 曼哈顿金融区 · 设计：Ralph Walker</a:t>
              </a:r>
            </a:p>
          </p:txBody>
        </p:sp>
      </p:grpSp>
      <p:grpSp>
        <p:nvGrpSpPr>
          <p:cNvPr id="16" name="Group 16"/>
          <p:cNvGrpSpPr/>
          <p:nvPr/>
        </p:nvGrpSpPr>
        <p:grpSpPr>
          <a:xfrm>
            <a:off x="559118" y="2762250"/>
            <a:ext cx="5155882" cy="3883819"/>
            <a:chOff x="559118" y="2762250"/>
            <a:chExt cx="5155882" cy="3883819"/>
          </a:xfrm>
        </p:grpSpPr>
        <p:pic>
          <p:nvPicPr>
            <p:cNvPr id="12" name="Image 12"/>
            <p:cNvPicPr>
              <a:picLocks noChangeAspect="1"/>
            </p:cNvPicPr>
            <p:nvPr/>
          </p:nvPicPr>
          <p:blipFill>
            <a:blip r:embed="rId2"/>
            <a:srcRect l="1486" t="0" r="1486" b="0"/>
            <a:stretch>
              <a:fillRect/>
            </a:stretch>
          </p:blipFill>
          <p:spPr>
            <a:xfrm>
              <a:off x="571500" y="2762250"/>
              <a:ext cx="5143500" cy="3524250"/>
            </a:xfrm>
            <a:prstGeom prst="roundRect">
              <a:avLst>
                <a:gd name="adj" fmla="val 1621"/>
              </a:avLst>
            </a:prstGeom>
          </p:spPr>
        </p:pic>
        <p:sp>
          <p:nvSpPr>
            <p:cNvPr id="13" name="Rectangle 13"/>
            <p:cNvSpPr/>
            <p:nvPr/>
          </p:nvSpPr>
          <p:spPr>
            <a:xfrm>
              <a:off x="571500" y="4762500"/>
              <a:ext cx="5143500" cy="1524000"/>
            </a:xfrm>
            <a:prstGeom prst="rect">
              <a:avLst/>
            </a:prstGeom>
            <a:gradFill>
              <a:gsLst>
                <a:gs pos="0">
                  <a:srgbClr val="1A2530">
                    <a:alpha val="0"/>
                  </a:srgbClr>
                </a:gs>
                <a:gs pos="100000">
                  <a:srgbClr val="1A2530">
                    <a:alpha val="55000"/>
                  </a:srgbClr>
                </a:gs>
              </a:gsLst>
              <a:lin ang="5400000" scaled="1"/>
            </a:gradFill>
            <a:ln>
              <a:noFill/>
            </a:ln>
          </p:spPr>
        </p:sp>
        <p:sp>
          <p:nvSpPr>
            <p:cNvPr id="14" name="TextBox 14"/>
            <p:cNvSpPr txBox="1"/>
            <p:nvPr/>
          </p:nvSpPr>
          <p:spPr>
            <a:xfrm>
              <a:off x="749618" y="5990749"/>
              <a:ext cx="1954268" cy="198120"/>
            </a:xfrm>
            <a:prstGeom prst="rect">
              <a:avLst/>
            </a:prstGeom>
            <a:noFill/>
            <a:ln>
              <a:noFill/>
            </a:ln>
          </p:spPr>
          <p:txBody>
            <a:bodyPr wrap="none" lIns="0" tIns="0" rIns="0" bIns="0" anchor="t" anchorCtr="0">
              <a:spAutoFit/>
            </a:bodyPr>
            <a:lstStyle/>
            <a:p>
              <a:pPr algn="l"/>
              <a:r>
                <a:rPr lang="zh-CN" sz="975" dirty="0">
                  <a:solidFill>
                    <a:srgbClr val="F5F2EC"/>
                  </a:solidFill>
                  <a:latin typeface="Georgia"/>
                  <a:ea typeface="SimSun"/>
                  <a:cs typeface="Georgia"/>
                </a:rPr>
                <a:t>DECO LANDMARK · 50 FLOORS</a:t>
              </a:r>
            </a:p>
          </p:txBody>
        </p:sp>
        <p:sp>
          <p:nvSpPr>
            <p:cNvPr id="15" name="TextBox 15"/>
            <p:cNvSpPr txBox="1"/>
            <p:nvPr/>
          </p:nvSpPr>
          <p:spPr>
            <a:xfrm>
              <a:off x="559118" y="6447949"/>
              <a:ext cx="2886980"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改造后的 One Wall Street · 装饰艺术摩天楼</a:t>
              </a:r>
            </a:p>
          </p:txBody>
        </p:sp>
      </p:grpSp>
      <p:grpSp>
        <p:nvGrpSpPr>
          <p:cNvPr id="23" name="Group 23"/>
          <p:cNvGrpSpPr/>
          <p:nvPr/>
        </p:nvGrpSpPr>
        <p:grpSpPr>
          <a:xfrm>
            <a:off x="6177915" y="2762250"/>
            <a:ext cx="2775585" cy="2233612"/>
            <a:chOff x="6177915" y="2762250"/>
            <a:chExt cx="2775585" cy="2233612"/>
          </a:xfrm>
          <a:effectLst>
            <a:outerShdw blurRad="114300" dist="28575" dir="5400000" algn="ctr" rotWithShape="0">
              <a:srgbClr val="000000">
                <a:alpha val="7500"/>
              </a:srgbClr>
            </a:outerShdw>
          </a:effectLst>
        </p:grpSpPr>
        <p:pic>
          <p:nvPicPr>
            <p:cNvPr id="17" name="Image 17"/>
            <p:cNvPicPr>
              <a:picLocks noChangeAspect="1"/>
            </p:cNvPicPr>
            <p:nvPr/>
          </p:nvPicPr>
          <p:blipFill>
            <a:blip r:embed="rId3"/>
            <a:srcRect l="9185" t="0" r="9185" b="0"/>
            <a:stretch>
              <a:fillRect/>
            </a:stretch>
          </p:blipFill>
          <p:spPr>
            <a:xfrm>
              <a:off x="6191250" y="2762250"/>
              <a:ext cx="2762250" cy="1905000"/>
            </a:xfrm>
            <a:prstGeom prst="roundRect">
              <a:avLst>
                <a:gd name="adj" fmla="val 3000"/>
              </a:avLst>
            </a:prstGeom>
          </p:spPr>
        </p:pic>
        <p:sp>
          <p:nvSpPr>
            <p:cNvPr id="18" name="Rectangle 18"/>
            <p:cNvSpPr/>
            <p:nvPr/>
          </p:nvSpPr>
          <p:spPr>
            <a:xfrm>
              <a:off x="6191250" y="2762250"/>
              <a:ext cx="2762250" cy="762000"/>
            </a:xfrm>
            <a:prstGeom prst="rect">
              <a:avLst/>
            </a:prstGeom>
            <a:gradFill>
              <a:gsLst>
                <a:gs pos="0">
                  <a:srgbClr val="5A6B7A">
                    <a:alpha val="45000"/>
                  </a:srgbClr>
                </a:gs>
                <a:gs pos="50000">
                  <a:srgbClr val="5A6B7A">
                    <a:alpha val="0"/>
                  </a:srgbClr>
                </a:gs>
              </a:gsLst>
              <a:lin ang="5400000" scaled="1"/>
            </a:gradFill>
            <a:ln>
              <a:noFill/>
            </a:ln>
            <a:effectLst>
              <a:outerShdw blurRad="114300" dist="28575" dir="5400000" algn="ctr" rotWithShape="0">
                <a:srgbClr val="000000">
                  <a:alpha val="7500"/>
                </a:srgbClr>
              </a:outerShdw>
            </a:effectLst>
          </p:spPr>
        </p:sp>
        <p:grpSp>
          <p:nvGrpSpPr>
            <p:cNvPr id="21" name="Group 21"/>
            <p:cNvGrpSpPr/>
            <p:nvPr/>
          </p:nvGrpSpPr>
          <p:grpSpPr>
            <a:xfrm>
              <a:off x="6343650" y="2914650"/>
              <a:ext cx="1516741" cy="183356"/>
              <a:chOff x="6343650" y="2914650"/>
              <a:chExt cx="1516741" cy="183356"/>
            </a:xfrm>
          </p:grpSpPr>
          <p:sp>
            <p:nvSpPr>
              <p:cNvPr id="19" name="Rectangle 19"/>
              <p:cNvSpPr/>
              <p:nvPr/>
            </p:nvSpPr>
            <p:spPr>
              <a:xfrm>
                <a:off x="6343650" y="2914650"/>
                <a:ext cx="114300" cy="114300"/>
              </a:xfrm>
              <a:prstGeom prst="rect">
                <a:avLst/>
              </a:prstGeom>
              <a:solidFill>
                <a:srgbClr val="F5F2EC"/>
              </a:solidFill>
              <a:ln>
                <a:noFill/>
              </a:ln>
              <a:effectLst>
                <a:outerShdw blurRad="114300" dist="28575" dir="5400000" algn="ctr" rotWithShape="0">
                  <a:srgbClr val="000000">
                    <a:alpha val="7500"/>
                  </a:srgbClr>
                </a:outerShdw>
              </a:effectLst>
            </p:spPr>
          </p:sp>
          <p:sp>
            <p:nvSpPr>
              <p:cNvPr id="20" name="TextBox 20"/>
              <p:cNvSpPr txBox="1"/>
              <p:nvPr/>
            </p:nvSpPr>
            <p:spPr>
              <a:xfrm>
                <a:off x="6523672" y="2930366"/>
                <a:ext cx="1336719" cy="167640"/>
              </a:xfrm>
              <a:prstGeom prst="rect">
                <a:avLst/>
              </a:prstGeom>
              <a:noFill/>
              <a:ln>
                <a:noFill/>
              </a:ln>
              <a:effectLst>
                <a:outerShdw blurRad="114300" dist="28575" dir="5400000" algn="ctr" rotWithShape="0">
                  <a:srgbClr val="000000">
                    <a:alpha val="7500"/>
                  </a:srgbClr>
                </a:outerShdw>
              </a:effectLst>
            </p:spPr>
            <p:txBody>
              <a:bodyPr wrap="none" lIns="0" tIns="0" rIns="0" bIns="0" anchor="t" anchorCtr="0">
                <a:spAutoFit/>
              </a:bodyPr>
              <a:lstStyle/>
              <a:p>
                <a:pPr algn="l"/>
                <a:r>
                  <a:rPr lang="zh-CN" sz="825" b="1" dirty="0">
                    <a:solidFill>
                      <a:srgbClr val="F5F2EC"/>
                    </a:solidFill>
                    <a:latin typeface="Georgia"/>
                    <a:ea typeface="SimSun"/>
                    <a:cs typeface="Georgia"/>
                  </a:rPr>
                  <a:t>INTERIOR · APARTMENT</a:t>
                </a:r>
              </a:p>
            </p:txBody>
          </p:sp>
        </p:grpSp>
        <p:sp>
          <p:nvSpPr>
            <p:cNvPr id="22" name="TextBox 22"/>
            <p:cNvSpPr txBox="1"/>
            <p:nvPr/>
          </p:nvSpPr>
          <p:spPr>
            <a:xfrm>
              <a:off x="6177915" y="4782502"/>
              <a:ext cx="1736550" cy="213360"/>
            </a:xfrm>
            <a:prstGeom prst="rect">
              <a:avLst/>
            </a:prstGeom>
            <a:noFill/>
            <a:ln>
              <a:noFill/>
            </a:ln>
            <a:effectLst>
              <a:outerShdw blurRad="114300" dist="28575" dir="5400000" algn="ctr" rotWithShape="0">
                <a:srgbClr val="000000">
                  <a:alpha val="7500"/>
                </a:srgbClr>
              </a:outerShdw>
            </a:effectLst>
          </p:spPr>
          <p:txBody>
            <a:bodyPr wrap="none" lIns="0" tIns="0" rIns="0" bIns="0" anchor="t" anchorCtr="0">
              <a:spAutoFit/>
            </a:bodyPr>
            <a:lstStyle/>
            <a:p>
              <a:pPr algn="l"/>
              <a:r>
                <a:rPr lang="zh-CN" sz="1050" dirty="0">
                  <a:solidFill>
                    <a:srgbClr val="5A6B7A"/>
                  </a:solidFill>
                  <a:latin typeface="Georgia"/>
                  <a:ea typeface="KaiTi"/>
                  <a:cs typeface="Georgia"/>
                </a:rPr>
                <a:t>公寓内景 · 单间到四居室</a:t>
              </a:r>
            </a:p>
          </p:txBody>
        </p:sp>
      </p:grpSp>
      <p:grpSp>
        <p:nvGrpSpPr>
          <p:cNvPr id="33" name="Group 33"/>
          <p:cNvGrpSpPr/>
          <p:nvPr/>
        </p:nvGrpSpPr>
        <p:grpSpPr>
          <a:xfrm>
            <a:off x="9144000" y="2762250"/>
            <a:ext cx="2476500" cy="2588419"/>
            <a:chOff x="9144000" y="2762250"/>
            <a:chExt cx="2476500" cy="2588419"/>
          </a:xfrm>
        </p:grpSpPr>
        <p:sp>
          <p:nvSpPr>
            <p:cNvPr id="24" name="Rectangle 24"/>
            <p:cNvSpPr/>
            <p:nvPr/>
          </p:nvSpPr>
          <p:spPr>
            <a:xfrm>
              <a:off x="9144000" y="2762250"/>
              <a:ext cx="2476500" cy="2571750"/>
            </a:xfrm>
            <a:prstGeom prst="roundRect">
              <a:avLst>
                <a:gd name="adj" fmla="val 2308"/>
              </a:avLst>
            </a:prstGeom>
            <a:solidFill>
              <a:srgbClr val="EBE6DC"/>
            </a:solidFill>
            <a:ln>
              <a:noFill/>
            </a:ln>
          </p:spPr>
        </p:sp>
        <p:sp>
          <p:nvSpPr>
            <p:cNvPr id="25" name="TextBox 25"/>
            <p:cNvSpPr txBox="1"/>
            <p:nvPr/>
          </p:nvSpPr>
          <p:spPr>
            <a:xfrm>
              <a:off x="9360218" y="3018949"/>
              <a:ext cx="622840" cy="198120"/>
            </a:xfrm>
            <a:prstGeom prst="rect">
              <a:avLst/>
            </a:prstGeom>
            <a:noFill/>
            <a:ln>
              <a:noFill/>
            </a:ln>
          </p:spPr>
          <p:txBody>
            <a:bodyPr wrap="none" lIns="0" tIns="0" rIns="0" bIns="0" anchor="t" anchorCtr="0">
              <a:spAutoFit/>
            </a:bodyPr>
            <a:lstStyle/>
            <a:p>
              <a:pPr algn="l"/>
              <a:r>
                <a:rPr lang="zh-CN" sz="975" b="1" dirty="0">
                  <a:solidFill>
                    <a:srgbClr val="6B7A4F"/>
                  </a:solidFill>
                  <a:latin typeface="Segoe UI"/>
                  <a:ea typeface="Microsoft YaHei"/>
                  <a:cs typeface="Segoe UI"/>
                </a:rPr>
                <a:t>改造数据</a:t>
              </a:r>
            </a:p>
          </p:txBody>
        </p:sp>
        <p:sp>
          <p:nvSpPr>
            <p:cNvPr id="26" name="TextBox 26"/>
            <p:cNvSpPr txBox="1"/>
            <p:nvPr/>
          </p:nvSpPr>
          <p:spPr>
            <a:xfrm>
              <a:off x="9334500" y="3352800"/>
              <a:ext cx="1042321" cy="609600"/>
            </a:xfrm>
            <a:prstGeom prst="rect">
              <a:avLst/>
            </a:prstGeom>
            <a:noFill/>
            <a:ln>
              <a:noFill/>
            </a:ln>
          </p:spPr>
          <p:txBody>
            <a:bodyPr wrap="none" lIns="0" tIns="0" rIns="0" bIns="0" anchor="t" anchorCtr="0">
              <a:spAutoFit/>
            </a:bodyPr>
            <a:lstStyle/>
            <a:p>
              <a:pPr algn="l"/>
              <a:r>
                <a:rPr lang="zh-CN" sz="3000" b="1" dirty="0">
                  <a:solidFill>
                    <a:srgbClr val="2B3A4A"/>
                  </a:solidFill>
                  <a:latin typeface="Georgia"/>
                  <a:ea typeface="SimSun"/>
                  <a:cs typeface="Georgia"/>
                </a:rPr>
                <a:t>50</a:t>
              </a:r>
              <a:r>
                <a:rPr lang="zh-CN" sz="1350" b="1" dirty="0">
                  <a:solidFill>
                    <a:srgbClr val="5A6B7A"/>
                  </a:solidFill>
                  <a:latin typeface="Georgia"/>
                  <a:ea typeface="SimSun"/>
                  <a:cs typeface="Georgia"/>
                </a:rPr>
                <a:t>层</a:t>
              </a:r>
            </a:p>
          </p:txBody>
        </p:sp>
        <p:sp>
          <p:nvSpPr>
            <p:cNvPr id="27" name="TextBox 27"/>
            <p:cNvSpPr txBox="1"/>
            <p:nvPr/>
          </p:nvSpPr>
          <p:spPr>
            <a:xfrm>
              <a:off x="9360218" y="3819049"/>
              <a:ext cx="1163955"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原办公建筑总层数</a:t>
              </a:r>
            </a:p>
          </p:txBody>
        </p:sp>
        <p:sp>
          <p:nvSpPr>
            <p:cNvPr id="28" name="Line 28"/>
            <p:cNvSpPr/>
            <p:nvPr/>
          </p:nvSpPr>
          <p:spPr>
            <a:xfrm>
              <a:off x="9372600" y="4095750"/>
              <a:ext cx="2019300" cy="9525"/>
            </a:xfrm>
            <a:custGeom>
              <a:avLst/>
              <a:gdLst/>
              <a:ahLst/>
              <a:cxnLst/>
              <a:rect l="l" t="t" r="r" b="b"/>
              <a:pathLst>
                <a:path w="2019300" h="9525">
                  <a:moveTo>
                    <a:pt x="0" y="0"/>
                  </a:moveTo>
                  <a:lnTo>
                    <a:pt x="2019300" y="0"/>
                  </a:lnTo>
                </a:path>
              </a:pathLst>
            </a:custGeom>
            <a:noFill/>
            <a:ln w="9525">
              <a:solidFill>
                <a:srgbClr val="D6CFC0"/>
              </a:solidFill>
            </a:ln>
          </p:spPr>
        </p:sp>
        <p:sp>
          <p:nvSpPr>
            <p:cNvPr id="29" name="TextBox 29"/>
            <p:cNvSpPr txBox="1"/>
            <p:nvPr/>
          </p:nvSpPr>
          <p:spPr>
            <a:xfrm>
              <a:off x="9334500" y="4229100"/>
              <a:ext cx="1295352" cy="609600"/>
            </a:xfrm>
            <a:prstGeom prst="rect">
              <a:avLst/>
            </a:prstGeom>
            <a:noFill/>
            <a:ln>
              <a:noFill/>
            </a:ln>
          </p:spPr>
          <p:txBody>
            <a:bodyPr wrap="none" lIns="0" tIns="0" rIns="0" bIns="0" anchor="t" anchorCtr="0">
              <a:spAutoFit/>
            </a:bodyPr>
            <a:lstStyle/>
            <a:p>
              <a:pPr algn="l"/>
              <a:r>
                <a:rPr lang="zh-CN" sz="3000" b="1" dirty="0">
                  <a:solidFill>
                    <a:srgbClr val="6B7A4F"/>
                  </a:solidFill>
                  <a:latin typeface="Georgia"/>
                  <a:ea typeface="SimSun"/>
                  <a:cs typeface="Georgia"/>
                </a:rPr>
                <a:t>566</a:t>
              </a:r>
              <a:r>
                <a:rPr lang="zh-CN" sz="1350" b="1" dirty="0">
                  <a:solidFill>
                    <a:srgbClr val="5A6B7A"/>
                  </a:solidFill>
                  <a:latin typeface="Georgia"/>
                  <a:ea typeface="SimSun"/>
                  <a:cs typeface="Georgia"/>
                </a:rPr>
                <a:t>套</a:t>
              </a:r>
            </a:p>
          </p:txBody>
        </p:sp>
        <p:sp>
          <p:nvSpPr>
            <p:cNvPr id="30" name="TextBox 30"/>
            <p:cNvSpPr txBox="1"/>
            <p:nvPr/>
          </p:nvSpPr>
          <p:spPr>
            <a:xfrm>
              <a:off x="9360218" y="4695349"/>
              <a:ext cx="1021556"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改造后公寓数量</a:t>
              </a:r>
            </a:p>
          </p:txBody>
        </p:sp>
        <p:sp>
          <p:nvSpPr>
            <p:cNvPr id="31" name="Line 31"/>
            <p:cNvSpPr/>
            <p:nvPr/>
          </p:nvSpPr>
          <p:spPr>
            <a:xfrm>
              <a:off x="9372600" y="4972050"/>
              <a:ext cx="2019300" cy="9525"/>
            </a:xfrm>
            <a:custGeom>
              <a:avLst/>
              <a:gdLst/>
              <a:ahLst/>
              <a:cxnLst/>
              <a:rect l="l" t="t" r="r" b="b"/>
              <a:pathLst>
                <a:path w="2019300" h="9525">
                  <a:moveTo>
                    <a:pt x="0" y="0"/>
                  </a:moveTo>
                  <a:lnTo>
                    <a:pt x="2019300" y="0"/>
                  </a:lnTo>
                </a:path>
              </a:pathLst>
            </a:custGeom>
            <a:noFill/>
            <a:ln w="9525">
              <a:solidFill>
                <a:srgbClr val="D6CFC0"/>
              </a:solidFill>
            </a:ln>
          </p:spPr>
        </p:sp>
        <p:sp>
          <p:nvSpPr>
            <p:cNvPr id="32" name="TextBox 32"/>
            <p:cNvSpPr txBox="1"/>
            <p:nvPr/>
          </p:nvSpPr>
          <p:spPr>
            <a:xfrm>
              <a:off x="9360218" y="5152549"/>
              <a:ext cx="1875949" cy="198120"/>
            </a:xfrm>
            <a:prstGeom prst="rect">
              <a:avLst/>
            </a:prstGeom>
            <a:noFill/>
            <a:ln>
              <a:noFill/>
            </a:ln>
          </p:spPr>
          <p:txBody>
            <a:bodyPr wrap="none" lIns="0" tIns="0" rIns="0" bIns="0" anchor="t" anchorCtr="0">
              <a:spAutoFit/>
            </a:bodyPr>
            <a:lstStyle/>
            <a:p>
              <a:pPr algn="l"/>
              <a:r>
                <a:rPr lang="zh-CN" sz="975" dirty="0">
                  <a:solidFill>
                    <a:srgbClr val="5A6B7A"/>
                  </a:solidFill>
                  <a:latin typeface="Segoe UI"/>
                  <a:ea typeface="Microsoft YaHei"/>
                  <a:cs typeface="Segoe UI"/>
                </a:rPr>
                <a:t>户型涵盖单间至四居室全谱系</a:t>
              </a:r>
            </a:p>
          </p:txBody>
        </p:sp>
      </p:grpSp>
      <p:grpSp>
        <p:nvGrpSpPr>
          <p:cNvPr id="42" name="Group 42"/>
          <p:cNvGrpSpPr/>
          <p:nvPr/>
        </p:nvGrpSpPr>
        <p:grpSpPr>
          <a:xfrm>
            <a:off x="6191250" y="5524500"/>
            <a:ext cx="5429250" cy="835819"/>
            <a:chOff x="6191250" y="5524500"/>
            <a:chExt cx="5429250" cy="835819"/>
          </a:xfrm>
        </p:grpSpPr>
        <p:sp>
          <p:nvSpPr>
            <p:cNvPr id="34" name="Rectangle 34"/>
            <p:cNvSpPr/>
            <p:nvPr/>
          </p:nvSpPr>
          <p:spPr>
            <a:xfrm>
              <a:off x="6191250" y="5524500"/>
              <a:ext cx="5429250" cy="762000"/>
            </a:xfrm>
            <a:prstGeom prst="roundRect">
              <a:avLst>
                <a:gd name="adj" fmla="val 7500"/>
              </a:avLst>
            </a:prstGeom>
            <a:solidFill>
              <a:srgbClr val="2B3A4A"/>
            </a:solidFill>
            <a:ln>
              <a:noFill/>
            </a:ln>
          </p:spPr>
        </p:sp>
        <p:grpSp>
          <p:nvGrpSpPr>
            <p:cNvPr id="38" name="Group 38"/>
            <p:cNvGrpSpPr/>
            <p:nvPr/>
          </p:nvGrpSpPr>
          <p:grpSpPr>
            <a:xfrm>
              <a:off x="6434138" y="5748338"/>
              <a:ext cx="200025" cy="200025"/>
              <a:chOff x="6434138" y="5748338"/>
              <a:chExt cx="200025" cy="200025"/>
            </a:xfrm>
          </p:grpSpPr>
          <p:sp>
            <p:nvSpPr>
              <p:cNvPr id="35" name="Freeform 35"/>
              <p:cNvSpPr/>
              <p:nvPr/>
            </p:nvSpPr>
            <p:spPr>
              <a:xfrm>
                <a:off x="6434138" y="5748338"/>
                <a:ext cx="200025" cy="100012"/>
              </a:xfrm>
              <a:custGeom>
                <a:avLst/>
                <a:gdLst/>
                <a:ahLst/>
                <a:cxnLst/>
                <a:rect l="l" t="t" r="r" b="b"/>
                <a:pathLst>
                  <a:path w="200025" h="100012">
                    <a:moveTo>
                      <a:pt x="0" y="100012"/>
                    </a:moveTo>
                    <a:lnTo>
                      <a:pt x="11112" y="100012"/>
                    </a:lnTo>
                    <a:moveTo>
                      <a:pt x="100012" y="0"/>
                    </a:moveTo>
                    <a:lnTo>
                      <a:pt x="100012" y="11112"/>
                    </a:lnTo>
                    <a:moveTo>
                      <a:pt x="188913" y="100012"/>
                    </a:moveTo>
                    <a:lnTo>
                      <a:pt x="200025" y="100012"/>
                    </a:lnTo>
                    <a:moveTo>
                      <a:pt x="28892" y="28892"/>
                    </a:moveTo>
                    <a:lnTo>
                      <a:pt x="36671" y="36671"/>
                    </a:lnTo>
                    <a:moveTo>
                      <a:pt x="171133" y="28892"/>
                    </a:moveTo>
                    <a:lnTo>
                      <a:pt x="163354" y="36671"/>
                    </a:lnTo>
                  </a:path>
                </a:pathLst>
              </a:custGeom>
              <a:noFill/>
              <a:ln w="19050">
                <a:solidFill>
                  <a:srgbClr val="A8C575"/>
                </a:solidFill>
              </a:ln>
            </p:spPr>
          </p:sp>
          <p:sp>
            <p:nvSpPr>
              <p:cNvPr id="36" name="Freeform 36"/>
              <p:cNvSpPr/>
              <p:nvPr/>
            </p:nvSpPr>
            <p:spPr>
              <a:xfrm>
                <a:off x="6473876" y="5792788"/>
                <a:ext cx="120548" cy="155575"/>
              </a:xfrm>
              <a:custGeom>
                <a:avLst/>
                <a:gdLst/>
                <a:ahLst/>
                <a:cxnLst/>
                <a:rect l="l" t="t" r="r" b="b"/>
                <a:pathLst>
                  <a:path w="120548" h="155575">
                    <a:moveTo>
                      <a:pt x="26937" y="100012"/>
                    </a:moveTo>
                    <a:cubicBezTo>
                      <a:pt x="7804" y="85663"/>
                      <a:pt x="0" y="60681"/>
                      <a:pt x="7563" y="37992"/>
                    </a:cubicBezTo>
                    <a:cubicBezTo>
                      <a:pt x="15126" y="15304"/>
                      <a:pt x="36358" y="0"/>
                      <a:pt x="60274" y="0"/>
                    </a:cubicBezTo>
                    <a:cubicBezTo>
                      <a:pt x="84190" y="0"/>
                      <a:pt x="105422" y="15304"/>
                      <a:pt x="112985" y="37992"/>
                    </a:cubicBezTo>
                    <a:cubicBezTo>
                      <a:pt x="120548" y="60681"/>
                      <a:pt x="112744" y="85663"/>
                      <a:pt x="93612" y="100012"/>
                    </a:cubicBezTo>
                    <a:cubicBezTo>
                      <a:pt x="84812" y="108723"/>
                      <a:pt x="80686" y="121102"/>
                      <a:pt x="82499" y="133350"/>
                    </a:cubicBezTo>
                    <a:cubicBezTo>
                      <a:pt x="82499" y="145625"/>
                      <a:pt x="72549" y="155575"/>
                      <a:pt x="60274" y="155575"/>
                    </a:cubicBezTo>
                    <a:cubicBezTo>
                      <a:pt x="48000" y="155575"/>
                      <a:pt x="38049" y="145625"/>
                      <a:pt x="38049" y="133350"/>
                    </a:cubicBezTo>
                    <a:cubicBezTo>
                      <a:pt x="39862" y="121102"/>
                      <a:pt x="35736" y="108723"/>
                      <a:pt x="26937" y="100012"/>
                    </a:cubicBezTo>
                  </a:path>
                </a:pathLst>
              </a:custGeom>
              <a:noFill/>
              <a:ln w="19050">
                <a:solidFill>
                  <a:srgbClr val="A8C575"/>
                </a:solidFill>
              </a:ln>
            </p:spPr>
          </p:sp>
          <p:sp>
            <p:nvSpPr>
              <p:cNvPr id="37" name="Freeform 37"/>
              <p:cNvSpPr/>
              <p:nvPr/>
            </p:nvSpPr>
            <p:spPr>
              <a:xfrm>
                <a:off x="6508591" y="5903912"/>
                <a:ext cx="51117" cy="9525"/>
              </a:xfrm>
              <a:custGeom>
                <a:avLst/>
                <a:gdLst/>
                <a:ahLst/>
                <a:cxnLst/>
                <a:rect l="l" t="t" r="r" b="b"/>
                <a:pathLst>
                  <a:path w="51117" h="9525">
                    <a:moveTo>
                      <a:pt x="0" y="0"/>
                    </a:moveTo>
                    <a:lnTo>
                      <a:pt x="51117" y="0"/>
                    </a:lnTo>
                  </a:path>
                </a:pathLst>
              </a:custGeom>
              <a:noFill/>
              <a:ln w="19050">
                <a:solidFill>
                  <a:srgbClr val="A8C575"/>
                </a:solidFill>
              </a:ln>
            </p:spPr>
          </p:sp>
        </p:grpSp>
        <p:sp>
          <p:nvSpPr>
            <p:cNvPr id="39" name="TextBox 39"/>
            <p:cNvSpPr txBox="1"/>
            <p:nvPr/>
          </p:nvSpPr>
          <p:spPr>
            <a:xfrm>
              <a:off x="6749415" y="5735002"/>
              <a:ext cx="348710" cy="213360"/>
            </a:xfrm>
            <a:prstGeom prst="rect">
              <a:avLst/>
            </a:prstGeom>
            <a:noFill/>
            <a:ln>
              <a:noFill/>
            </a:ln>
          </p:spPr>
          <p:txBody>
            <a:bodyPr wrap="none" lIns="0" tIns="0" rIns="0" bIns="0" anchor="t" anchorCtr="0">
              <a:spAutoFit/>
            </a:bodyPr>
            <a:lstStyle/>
            <a:p>
              <a:pPr algn="l"/>
              <a:r>
                <a:rPr lang="zh-CN" sz="1050" b="1" dirty="0">
                  <a:solidFill>
                    <a:srgbClr val="A8C575"/>
                  </a:solidFill>
                  <a:latin typeface="Segoe UI"/>
                  <a:ea typeface="Microsoft YaHei"/>
                  <a:cs typeface="Segoe UI"/>
                </a:rPr>
                <a:t>观察</a:t>
              </a:r>
            </a:p>
          </p:txBody>
        </p:sp>
        <p:sp>
          <p:nvSpPr>
            <p:cNvPr id="40" name="TextBox 40"/>
            <p:cNvSpPr txBox="1"/>
            <p:nvPr/>
          </p:nvSpPr>
          <p:spPr>
            <a:xfrm>
              <a:off x="6749415" y="5982652"/>
              <a:ext cx="3837480" cy="213360"/>
            </a:xfrm>
            <a:prstGeom prst="rect">
              <a:avLst/>
            </a:prstGeom>
            <a:noFill/>
            <a:ln>
              <a:noFill/>
            </a:ln>
          </p:spPr>
          <p:txBody>
            <a:bodyPr wrap="none" lIns="0" tIns="0" rIns="0" bIns="0" anchor="t" anchorCtr="0">
              <a:spAutoFit/>
            </a:bodyPr>
            <a:lstStyle/>
            <a:p>
              <a:pPr algn="l"/>
              <a:r>
                <a:rPr lang="zh-CN" sz="1050" dirty="0">
                  <a:solidFill>
                    <a:srgbClr val="F5F2EC"/>
                  </a:solidFill>
                  <a:latin typeface="Segoe UI"/>
                  <a:ea typeface="Microsoft YaHei"/>
                  <a:cs typeface="Segoe UI"/>
                </a:rPr>
                <a:t>已成功的改造案例中，</a:t>
              </a:r>
              <a:r>
                <a:rPr lang="zh-CN" sz="1050" b="1" dirty="0">
                  <a:solidFill>
                    <a:srgbClr val="A8C575"/>
                  </a:solidFill>
                  <a:latin typeface="Segoe UI"/>
                  <a:ea typeface="Microsoft YaHei"/>
                  <a:cs typeface="Segoe UI"/>
                </a:rPr>
                <a:t>办公/商业建筑改其他用途</a:t>
              </a:r>
              <a:r>
                <a:rPr lang="zh-CN" sz="1050" dirty="0">
                  <a:solidFill>
                    <a:srgbClr val="F5F2EC"/>
                  </a:solidFill>
                  <a:latin typeface="Segoe UI"/>
                  <a:ea typeface="Microsoft YaHei"/>
                  <a:cs typeface="Segoe UI"/>
                </a:rPr>
                <a:t xml:space="preserve"> 占主流</a:t>
              </a:r>
            </a:p>
          </p:txBody>
        </p:sp>
        <p:sp>
          <p:nvSpPr>
            <p:cNvPr id="41" name="TextBox 41"/>
            <p:cNvSpPr txBox="1"/>
            <p:nvPr/>
          </p:nvSpPr>
          <p:spPr>
            <a:xfrm>
              <a:off x="6750368" y="6162199"/>
              <a:ext cx="4275368" cy="198120"/>
            </a:xfrm>
            <a:prstGeom prst="rect">
              <a:avLst/>
            </a:prstGeom>
            <a:noFill/>
            <a:ln>
              <a:noFill/>
            </a:ln>
          </p:spPr>
          <p:txBody>
            <a:bodyPr wrap="none" lIns="0" tIns="0" rIns="0" bIns="0" anchor="t" anchorCtr="0">
              <a:spAutoFit/>
            </a:bodyPr>
            <a:lstStyle/>
            <a:p>
              <a:pPr algn="l"/>
              <a:r>
                <a:rPr lang="zh-CN" sz="975" dirty="0">
                  <a:solidFill>
                    <a:srgbClr val="D6CFC0"/>
                  </a:solidFill>
                  <a:latin typeface="Segoe UI"/>
                  <a:ea typeface="Microsoft YaHei"/>
                  <a:cs typeface="Segoe UI"/>
                </a:rPr>
                <a:t>— 这类建筑的结构和强度都优于住宅，灵活性更高，便于引进新业态</a:t>
              </a:r>
            </a:p>
          </p:txBody>
        </p:sp>
      </p:grpSp>
      <p:sp>
        <p:nvSpPr>
          <p:cNvPr id="43" name="TextBox 43"/>
          <p:cNvSpPr txBox="1"/>
          <p:nvPr/>
        </p:nvSpPr>
        <p:spPr>
          <a:xfrm>
            <a:off x="11267313" y="6665595"/>
            <a:ext cx="364617"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11 / 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400"/>
                                        <p:tgtEl>
                                          <p:spTgt spid="16"/>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checkerboard(across)">
                                      <p:cBhvr>
                                        <p:cTn id="15" dur="400"/>
                                        <p:tgtEl>
                                          <p:spTgt spid="23"/>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dissolve">
                                      <p:cBhvr>
                                        <p:cTn id="19" dur="400"/>
                                        <p:tgtEl>
                                          <p:spTgt spid="3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slide(fromBottom)">
                                      <p:cBhvr>
                                        <p:cTn id="23"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23" grpId="0"/>
      <p:bldP spid="33"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A2530"/>
            </a:solidFill>
            <a:ln>
              <a:noFill/>
            </a:ln>
          </p:spPr>
        </p:sp>
        <p:pic>
          <p:nvPicPr>
            <p:cNvPr id="3" name="Image 3"/>
            <p:cNvPicPr>
              <a:picLocks noChangeAspect="1"/>
            </p:cNvPicPr>
            <p:nvPr/>
          </p:nvPicPr>
          <p:blipFill>
            <a:blip r:embed="rId2"/>
            <a:srcRect l="0" t="27297" r="0" b="27297"/>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A2530">
                    <a:alpha val="30000"/>
                  </a:srgbClr>
                </a:gs>
                <a:gs pos="100000">
                  <a:srgbClr val="1A2530">
                    <a:alpha val="85000"/>
                  </a:srgbClr>
                </a:gs>
              </a:gsLst>
              <a:path path="circle">
                <a:fillToRect l="50000" t="50000" r="50000" b="50000"/>
              </a:path>
            </a:gradFill>
            <a:ln>
              <a:noFill/>
            </a:ln>
          </p:spPr>
        </p:sp>
      </p:grpSp>
      <p:grpSp>
        <p:nvGrpSpPr>
          <p:cNvPr id="8" name="Group 8"/>
          <p:cNvGrpSpPr/>
          <p:nvPr/>
        </p:nvGrpSpPr>
        <p:grpSpPr>
          <a:xfrm>
            <a:off x="952500" y="952500"/>
            <a:ext cx="10287000" cy="4962525"/>
            <a:chOff x="952500" y="952500"/>
            <a:chExt cx="10287000" cy="4962525"/>
          </a:xfrm>
        </p:grpSpPr>
        <p:sp>
          <p:nvSpPr>
            <p:cNvPr id="6" name="Line 6"/>
            <p:cNvSpPr/>
            <p:nvPr/>
          </p:nvSpPr>
          <p:spPr>
            <a:xfrm>
              <a:off x="952500" y="952500"/>
              <a:ext cx="952500" cy="9525"/>
            </a:xfrm>
            <a:custGeom>
              <a:avLst/>
              <a:gdLst/>
              <a:ahLst/>
              <a:cxnLst/>
              <a:rect l="l" t="t" r="r" b="b"/>
              <a:pathLst>
                <a:path w="952500" h="9525">
                  <a:moveTo>
                    <a:pt x="0" y="0"/>
                  </a:moveTo>
                  <a:lnTo>
                    <a:pt x="952500" y="0"/>
                  </a:lnTo>
                </a:path>
              </a:pathLst>
            </a:custGeom>
            <a:noFill/>
            <a:ln w="19050">
              <a:solidFill>
                <a:srgbClr val="C2410C"/>
              </a:solidFill>
            </a:ln>
          </p:spPr>
        </p:sp>
        <p:sp>
          <p:nvSpPr>
            <p:cNvPr id="7" name="Line 7"/>
            <p:cNvSpPr/>
            <p:nvPr/>
          </p:nvSpPr>
          <p:spPr>
            <a:xfrm>
              <a:off x="10287000" y="5905500"/>
              <a:ext cx="952500" cy="9525"/>
            </a:xfrm>
            <a:custGeom>
              <a:avLst/>
              <a:gdLst/>
              <a:ahLst/>
              <a:cxnLst/>
              <a:rect l="l" t="t" r="r" b="b"/>
              <a:pathLst>
                <a:path w="952500" h="9525">
                  <a:moveTo>
                    <a:pt x="0" y="0"/>
                  </a:moveTo>
                  <a:lnTo>
                    <a:pt x="952500" y="0"/>
                  </a:lnTo>
                </a:path>
              </a:pathLst>
            </a:custGeom>
            <a:noFill/>
            <a:ln w="19050">
              <a:solidFill>
                <a:srgbClr val="C2410C"/>
              </a:solidFill>
            </a:ln>
          </p:spPr>
        </p:sp>
      </p:grpSp>
      <p:grpSp>
        <p:nvGrpSpPr>
          <p:cNvPr id="11" name="Group 11"/>
          <p:cNvGrpSpPr/>
          <p:nvPr/>
        </p:nvGrpSpPr>
        <p:grpSpPr>
          <a:xfrm>
            <a:off x="4525804" y="1828800"/>
            <a:ext cx="3140392" cy="4267200"/>
            <a:chOff x="4525804" y="1828800"/>
            <a:chExt cx="3140392" cy="4267200"/>
          </a:xfrm>
        </p:grpSpPr>
        <p:sp>
          <p:nvSpPr>
            <p:cNvPr id="9" name="TextBox 9"/>
            <p:cNvSpPr txBox="1"/>
            <p:nvPr/>
          </p:nvSpPr>
          <p:spPr>
            <a:xfrm>
              <a:off x="5772701" y="1982152"/>
              <a:ext cx="646597" cy="213360"/>
            </a:xfrm>
            <a:prstGeom prst="rect">
              <a:avLst/>
            </a:prstGeom>
            <a:noFill/>
            <a:ln>
              <a:noFill/>
            </a:ln>
          </p:spPr>
          <p:txBody>
            <a:bodyPr wrap="none" lIns="0" tIns="0" rIns="0" bIns="0" anchor="t" anchorCtr="0">
              <a:spAutoFit/>
            </a:bodyPr>
            <a:lstStyle/>
            <a:p>
              <a:pPr algn="ctr"/>
              <a:r>
                <a:rPr lang="zh-CN" sz="1050" b="1" dirty="0">
                  <a:solidFill>
                    <a:srgbClr val="C2410C"/>
                  </a:solidFill>
                  <a:latin typeface="Georgia"/>
                  <a:ea typeface="SimSun"/>
                  <a:cs typeface="Georgia"/>
                </a:rPr>
                <a:t>CHAPTER</a:t>
              </a:r>
            </a:p>
          </p:txBody>
        </p:sp>
        <p:sp>
          <p:nvSpPr>
            <p:cNvPr id="10" name="TextBox 10"/>
            <p:cNvSpPr txBox="1"/>
            <p:nvPr/>
          </p:nvSpPr>
          <p:spPr>
            <a:xfrm>
              <a:off x="4525804" y="1828800"/>
              <a:ext cx="3140392" cy="4267200"/>
            </a:xfrm>
            <a:prstGeom prst="rect">
              <a:avLst/>
            </a:prstGeom>
            <a:noFill/>
            <a:ln>
              <a:noFill/>
            </a:ln>
          </p:spPr>
          <p:txBody>
            <a:bodyPr wrap="none" lIns="0" tIns="0" rIns="0" bIns="0" anchor="t" anchorCtr="0">
              <a:spAutoFit/>
            </a:bodyPr>
            <a:lstStyle/>
            <a:p>
              <a:pPr algn="ctr"/>
              <a:r>
                <a:rPr lang="zh-CN" sz="21000" dirty="0">
                  <a:solidFill>
                    <a:srgbClr val="F5F2EC">
                      <a:alphaMod val="95000"/>
                    </a:srgbClr>
                  </a:solidFill>
                  <a:latin typeface="Georgia"/>
                  <a:ea typeface="SimSun"/>
                  <a:cs typeface="Georgia"/>
                </a:rPr>
                <a:t>IV</a:t>
              </a:r>
            </a:p>
          </p:txBody>
        </p:sp>
      </p:grpSp>
      <p:grpSp>
        <p:nvGrpSpPr>
          <p:cNvPr id="16" name="Group 16"/>
          <p:cNvGrpSpPr/>
          <p:nvPr/>
        </p:nvGrpSpPr>
        <p:grpSpPr>
          <a:xfrm>
            <a:off x="3776805" y="4501515"/>
            <a:ext cx="4638389" cy="1534954"/>
            <a:chOff x="3776805" y="4501515"/>
            <a:chExt cx="4638389" cy="1534954"/>
          </a:xfrm>
        </p:grpSpPr>
        <p:sp>
          <p:nvSpPr>
            <p:cNvPr id="12" name="TextBox 12"/>
            <p:cNvSpPr txBox="1"/>
            <p:nvPr/>
          </p:nvSpPr>
          <p:spPr>
            <a:xfrm>
              <a:off x="3776805" y="4501515"/>
              <a:ext cx="4638389" cy="670560"/>
            </a:xfrm>
            <a:prstGeom prst="rect">
              <a:avLst/>
            </a:prstGeom>
            <a:noFill/>
            <a:ln>
              <a:noFill/>
            </a:ln>
          </p:spPr>
          <p:txBody>
            <a:bodyPr wrap="none" lIns="0" tIns="0" rIns="0" bIns="0" anchor="t" anchorCtr="0">
              <a:spAutoFit/>
            </a:bodyPr>
            <a:lstStyle/>
            <a:p>
              <a:pPr algn="ctr"/>
              <a:r>
                <a:rPr lang="zh-CN" sz="3300" b="1" dirty="0">
                  <a:solidFill>
                    <a:srgbClr val="F5F2EC"/>
                  </a:solidFill>
                  <a:latin typeface="Georgia"/>
                  <a:ea typeface="KaiTi"/>
                  <a:cs typeface="Georgia"/>
                </a:rPr>
                <a:t>高层住宅老了、坏了</a:t>
              </a:r>
            </a:p>
          </p:txBody>
        </p:sp>
        <p:sp>
          <p:nvSpPr>
            <p:cNvPr id="13" name="TextBox 13"/>
            <p:cNvSpPr txBox="1"/>
            <p:nvPr/>
          </p:nvSpPr>
          <p:spPr>
            <a:xfrm>
              <a:off x="4788932" y="4958715"/>
              <a:ext cx="2614136" cy="670560"/>
            </a:xfrm>
            <a:prstGeom prst="rect">
              <a:avLst/>
            </a:prstGeom>
            <a:noFill/>
            <a:ln>
              <a:noFill/>
            </a:ln>
          </p:spPr>
          <p:txBody>
            <a:bodyPr wrap="none" lIns="0" tIns="0" rIns="0" bIns="0" anchor="t" anchorCtr="0">
              <a:spAutoFit/>
            </a:bodyPr>
            <a:lstStyle/>
            <a:p>
              <a:pPr algn="ctr"/>
              <a:r>
                <a:rPr lang="zh-CN" sz="3300" b="1" dirty="0">
                  <a:solidFill>
                    <a:srgbClr val="F5F2EC"/>
                  </a:solidFill>
                  <a:latin typeface="Georgia"/>
                  <a:ea typeface="KaiTi"/>
                  <a:cs typeface="Georgia"/>
                </a:rPr>
                <a:t>该</a:t>
              </a:r>
              <a:r>
                <a:rPr lang="zh-CN" sz="3300" b="1" dirty="0">
                  <a:solidFill>
                    <a:srgbClr val="C2410C"/>
                  </a:solidFill>
                  <a:latin typeface="Georgia"/>
                  <a:ea typeface="KaiTi"/>
                  <a:cs typeface="Georgia"/>
                </a:rPr>
                <a:t>怎么办？</a:t>
              </a:r>
            </a:p>
          </p:txBody>
        </p:sp>
        <p:sp>
          <p:nvSpPr>
            <p:cNvPr id="14" name="Line 14"/>
            <p:cNvSpPr/>
            <p:nvPr/>
          </p:nvSpPr>
          <p:spPr>
            <a:xfrm>
              <a:off x="5715000" y="5600700"/>
              <a:ext cx="762000" cy="9525"/>
            </a:xfrm>
            <a:custGeom>
              <a:avLst/>
              <a:gdLst/>
              <a:ahLst/>
              <a:cxnLst/>
              <a:rect l="l" t="t" r="r" b="b"/>
              <a:pathLst>
                <a:path w="762000" h="9525">
                  <a:moveTo>
                    <a:pt x="0" y="0"/>
                  </a:moveTo>
                  <a:lnTo>
                    <a:pt x="762000" y="0"/>
                  </a:lnTo>
                </a:path>
              </a:pathLst>
            </a:custGeom>
            <a:noFill/>
            <a:ln w="19050">
              <a:solidFill>
                <a:srgbClr val="C2410C"/>
              </a:solidFill>
            </a:ln>
          </p:spPr>
        </p:sp>
        <p:sp>
          <p:nvSpPr>
            <p:cNvPr id="15" name="TextBox 15"/>
            <p:cNvSpPr txBox="1"/>
            <p:nvPr/>
          </p:nvSpPr>
          <p:spPr>
            <a:xfrm>
              <a:off x="5336024" y="5838349"/>
              <a:ext cx="1519952" cy="198120"/>
            </a:xfrm>
            <a:prstGeom prst="rect">
              <a:avLst/>
            </a:prstGeom>
            <a:noFill/>
            <a:ln>
              <a:noFill/>
            </a:ln>
          </p:spPr>
          <p:txBody>
            <a:bodyPr wrap="none" lIns="0" tIns="0" rIns="0" bIns="0" anchor="t" anchorCtr="0">
              <a:spAutoFit/>
            </a:bodyPr>
            <a:lstStyle/>
            <a:p>
              <a:pPr algn="ctr"/>
              <a:r>
                <a:rPr lang="zh-CN" sz="975" i="1" dirty="0">
                  <a:solidFill>
                    <a:srgbClr val="D6CFC0"/>
                  </a:solidFill>
                  <a:latin typeface="Georgia"/>
                  <a:ea typeface="SimSun"/>
                  <a:cs typeface="Georgia"/>
                </a:rPr>
                <a:t>CHINA · THE HARD BONE</a:t>
              </a:r>
            </a:p>
          </p:txBody>
        </p:sp>
      </p:grpSp>
      <p:grpSp>
        <p:nvGrpSpPr>
          <p:cNvPr id="19" name="Group 19"/>
          <p:cNvGrpSpPr/>
          <p:nvPr/>
        </p:nvGrpSpPr>
        <p:grpSpPr>
          <a:xfrm>
            <a:off x="3513320" y="6466999"/>
            <a:ext cx="8118610" cy="381476"/>
            <a:chOff x="3513320" y="6466999"/>
            <a:chExt cx="8118610" cy="381476"/>
          </a:xfrm>
        </p:grpSpPr>
        <p:sp>
          <p:nvSpPr>
            <p:cNvPr id="17" name="TextBox 17"/>
            <p:cNvSpPr txBox="1"/>
            <p:nvPr/>
          </p:nvSpPr>
          <p:spPr>
            <a:xfrm>
              <a:off x="3513320" y="6466999"/>
              <a:ext cx="5165360" cy="198120"/>
            </a:xfrm>
            <a:prstGeom prst="rect">
              <a:avLst/>
            </a:prstGeom>
            <a:noFill/>
            <a:ln>
              <a:noFill/>
            </a:ln>
          </p:spPr>
          <p:txBody>
            <a:bodyPr wrap="none" lIns="0" tIns="0" rIns="0" bIns="0" anchor="t" anchorCtr="0">
              <a:spAutoFit/>
            </a:bodyPr>
            <a:lstStyle/>
            <a:p>
              <a:pPr algn="ctr"/>
              <a:r>
                <a:rPr lang="zh-CN" sz="975" i="1" dirty="0">
                  <a:solidFill>
                    <a:srgbClr val="A8B0B8"/>
                  </a:solidFill>
                  <a:latin typeface="Segoe UI"/>
                  <a:ea typeface="Microsoft YaHei"/>
                  <a:cs typeface="Segoe UI"/>
                </a:rPr>
                <a:t>资金雄厚、产权清晰的商业项目易办；老旧高层住宅的改造，才是真正的"硬骨头"</a:t>
              </a:r>
            </a:p>
          </p:txBody>
        </p:sp>
        <p:sp>
          <p:nvSpPr>
            <p:cNvPr id="18" name="TextBox 18"/>
            <p:cNvSpPr txBox="1"/>
            <p:nvPr/>
          </p:nvSpPr>
          <p:spPr>
            <a:xfrm>
              <a:off x="11234452" y="6665595"/>
              <a:ext cx="397478" cy="182880"/>
            </a:xfrm>
            <a:prstGeom prst="rect">
              <a:avLst/>
            </a:prstGeom>
            <a:noFill/>
            <a:ln>
              <a:noFill/>
            </a:ln>
          </p:spPr>
          <p:txBody>
            <a:bodyPr wrap="none" lIns="0" tIns="0" rIns="0" bIns="0" anchor="t" anchorCtr="0">
              <a:spAutoFit/>
            </a:bodyPr>
            <a:lstStyle/>
            <a:p>
              <a:pPr algn="r"/>
              <a:r>
                <a:rPr lang="zh-CN" sz="900" dirty="0">
                  <a:solidFill>
                    <a:srgbClr val="A8B0B8"/>
                  </a:solidFill>
                  <a:latin typeface="Georgia"/>
                  <a:ea typeface="SimSun"/>
                  <a:cs typeface="Georgia"/>
                </a:rPr>
                <a:t>12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lide(fromLeft)">
                                      <p:cBhvr>
                                        <p:cTn id="11"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2EC"/>
          </a:solidFill>
          <a:ln>
            <a:noFill/>
          </a:ln>
        </p:spPr>
      </p:sp>
      <p:grpSp>
        <p:nvGrpSpPr>
          <p:cNvPr id="6" name="Group 6"/>
          <p:cNvGrpSpPr/>
          <p:nvPr/>
        </p:nvGrpSpPr>
        <p:grpSpPr>
          <a:xfrm>
            <a:off x="571500" y="571500"/>
            <a:ext cx="11061382" cy="321469"/>
            <a:chOff x="571500" y="571500"/>
            <a:chExt cx="11061382" cy="321469"/>
          </a:xfrm>
        </p:grpSpPr>
        <p:sp>
          <p:nvSpPr>
            <p:cNvPr id="3" name="Rectangle 3"/>
            <p:cNvSpPr/>
            <p:nvPr/>
          </p:nvSpPr>
          <p:spPr>
            <a:xfrm>
              <a:off x="571500" y="571500"/>
              <a:ext cx="28575" cy="304800"/>
            </a:xfrm>
            <a:prstGeom prst="rect">
              <a:avLst/>
            </a:prstGeom>
            <a:solidFill>
              <a:srgbClr val="C2410C"/>
            </a:solidFill>
            <a:ln>
              <a:noFill/>
            </a:ln>
          </p:spPr>
        </p:sp>
        <p:sp>
          <p:nvSpPr>
            <p:cNvPr id="4" name="TextBox 4"/>
            <p:cNvSpPr txBox="1"/>
            <p:nvPr/>
          </p:nvSpPr>
          <p:spPr>
            <a:xfrm>
              <a:off x="711518" y="694849"/>
              <a:ext cx="1654519"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IV · 困局 · PILOT CASES</a:t>
              </a:r>
            </a:p>
          </p:txBody>
        </p:sp>
        <p:sp>
          <p:nvSpPr>
            <p:cNvPr id="5" name="TextBox 5"/>
            <p:cNvSpPr txBox="1"/>
            <p:nvPr/>
          </p:nvSpPr>
          <p:spPr>
            <a:xfrm>
              <a:off x="10376368" y="694849"/>
              <a:ext cx="1256514" cy="198120"/>
            </a:xfrm>
            <a:prstGeom prst="rect">
              <a:avLst/>
            </a:prstGeom>
            <a:noFill/>
            <a:ln>
              <a:noFill/>
            </a:ln>
          </p:spPr>
          <p:txBody>
            <a:bodyPr wrap="none" lIns="0" tIns="0" rIns="0" bIns="0" anchor="t" anchorCtr="0">
              <a:spAutoFit/>
            </a:bodyPr>
            <a:lstStyle/>
            <a:p>
              <a:pPr algn="r"/>
              <a:r>
                <a:rPr lang="zh-CN" sz="975" dirty="0">
                  <a:solidFill>
                    <a:srgbClr val="5A6B7A"/>
                  </a:solidFill>
                  <a:latin typeface="Georgia"/>
                  <a:ea typeface="SimSun"/>
                  <a:cs typeface="Georgia"/>
                </a:rPr>
                <a:t>已有的尝试 · CHINA</a:t>
              </a:r>
            </a:p>
          </p:txBody>
        </p:sp>
      </p:grpSp>
      <p:grpSp>
        <p:nvGrpSpPr>
          <p:cNvPr id="9" name="Group 9"/>
          <p:cNvGrpSpPr/>
          <p:nvPr/>
        </p:nvGrpSpPr>
        <p:grpSpPr>
          <a:xfrm>
            <a:off x="537210" y="1118235"/>
            <a:ext cx="6693408" cy="548640"/>
            <a:chOff x="537210" y="1118235"/>
            <a:chExt cx="6693408" cy="548640"/>
          </a:xfrm>
        </p:grpSpPr>
        <p:sp>
          <p:nvSpPr>
            <p:cNvPr id="7" name="TextBox 7"/>
            <p:cNvSpPr txBox="1"/>
            <p:nvPr/>
          </p:nvSpPr>
          <p:spPr>
            <a:xfrm>
              <a:off x="537210" y="1118235"/>
              <a:ext cx="6693408" cy="548640"/>
            </a:xfrm>
            <a:prstGeom prst="rect">
              <a:avLst/>
            </a:prstGeom>
            <a:noFill/>
            <a:ln>
              <a:noFill/>
            </a:ln>
          </p:spPr>
          <p:txBody>
            <a:bodyPr wrap="none" lIns="0" tIns="0" rIns="0" bIns="0" anchor="t" anchorCtr="0">
              <a:spAutoFit/>
            </a:bodyPr>
            <a:lstStyle/>
            <a:p>
              <a:pPr algn="l"/>
              <a:r>
                <a:rPr lang="zh-CN" sz="2700" b="1" dirty="0">
                  <a:solidFill>
                    <a:srgbClr val="2B3A4A"/>
                  </a:solidFill>
                  <a:latin typeface="Georgia"/>
                  <a:ea typeface="KaiTi"/>
                  <a:cs typeface="Georgia"/>
                </a:rPr>
                <a:t>已有的尝试：从</a:t>
              </a:r>
              <a:r>
                <a:rPr lang="zh-CN" sz="2700" b="1" dirty="0">
                  <a:solidFill>
                    <a:srgbClr val="8B7355"/>
                  </a:solidFill>
                  <a:latin typeface="Georgia"/>
                  <a:ea typeface="KaiTi"/>
                  <a:cs typeface="Georgia"/>
                </a:rPr>
                <a:t>功能再造</a:t>
              </a:r>
              <a:r>
                <a:rPr lang="zh-CN" sz="2700" b="1" dirty="0">
                  <a:solidFill>
                    <a:srgbClr val="2B3A4A"/>
                  </a:solidFill>
                  <a:latin typeface="Georgia"/>
                  <a:ea typeface="KaiTi"/>
                  <a:cs typeface="Georgia"/>
                </a:rPr>
                <a:t>到</a:t>
              </a:r>
              <a:r>
                <a:rPr lang="zh-CN" sz="2700" b="1" dirty="0">
                  <a:solidFill>
                    <a:srgbClr val="C2410C"/>
                  </a:solidFill>
                  <a:latin typeface="Georgia"/>
                  <a:ea typeface="KaiTi"/>
                  <a:cs typeface="Georgia"/>
                </a:rPr>
                <a:t>原拆原建</a:t>
              </a:r>
            </a:p>
          </p:txBody>
        </p:sp>
        <p:sp>
          <p:nvSpPr>
            <p:cNvPr id="8" name="Line 8"/>
            <p:cNvSpPr/>
            <p:nvPr/>
          </p:nvSpPr>
          <p:spPr>
            <a:xfrm>
              <a:off x="571500" y="1638300"/>
              <a:ext cx="952500" cy="9525"/>
            </a:xfrm>
            <a:custGeom>
              <a:avLst/>
              <a:gdLst/>
              <a:ahLst/>
              <a:cxnLst/>
              <a:rect l="l" t="t" r="r" b="b"/>
              <a:pathLst>
                <a:path w="952500" h="9525">
                  <a:moveTo>
                    <a:pt x="0" y="0"/>
                  </a:moveTo>
                  <a:lnTo>
                    <a:pt x="952500" y="0"/>
                  </a:lnTo>
                </a:path>
              </a:pathLst>
            </a:custGeom>
            <a:noFill/>
            <a:ln w="19050">
              <a:solidFill>
                <a:srgbClr val="C2410C"/>
              </a:solidFill>
            </a:ln>
          </p:spPr>
        </p:sp>
      </p:grpSp>
      <p:grpSp>
        <p:nvGrpSpPr>
          <p:cNvPr id="24" name="Group 24"/>
          <p:cNvGrpSpPr/>
          <p:nvPr/>
        </p:nvGrpSpPr>
        <p:grpSpPr>
          <a:xfrm>
            <a:off x="571500" y="2000250"/>
            <a:ext cx="5524500" cy="4552950"/>
            <a:chOff x="571500" y="2000250"/>
            <a:chExt cx="5524500" cy="4552950"/>
          </a:xfrm>
        </p:grpSpPr>
        <p:sp>
          <p:nvSpPr>
            <p:cNvPr id="10" name="Rectangle 10"/>
            <p:cNvSpPr/>
            <p:nvPr/>
          </p:nvSpPr>
          <p:spPr>
            <a:xfrm>
              <a:off x="571500" y="2000250"/>
              <a:ext cx="5524500" cy="4552950"/>
            </a:xfrm>
            <a:prstGeom prst="roundRect">
              <a:avLst>
                <a:gd name="adj" fmla="val 1255"/>
              </a:avLst>
            </a:prstGeom>
            <a:solidFill>
              <a:srgbClr val="FFFFFF"/>
            </a:solidFill>
            <a:ln w="9525">
              <a:solidFill>
                <a:srgbClr val="D6CFC0"/>
              </a:solidFill>
            </a:ln>
          </p:spPr>
        </p:sp>
        <p:grpSp>
          <p:nvGrpSpPr>
            <p:cNvPr id="14" name="Group 14"/>
            <p:cNvGrpSpPr/>
            <p:nvPr/>
          </p:nvGrpSpPr>
          <p:grpSpPr>
            <a:xfrm>
              <a:off x="762000" y="2171700"/>
              <a:ext cx="5156835" cy="261938"/>
              <a:chOff x="762000" y="2171700"/>
              <a:chExt cx="5156835" cy="261938"/>
            </a:xfrm>
          </p:grpSpPr>
          <p:sp>
            <p:nvSpPr>
              <p:cNvPr id="11" name="Rectangle 11"/>
              <p:cNvSpPr/>
              <p:nvPr/>
            </p:nvSpPr>
            <p:spPr>
              <a:xfrm>
                <a:off x="762000" y="2171700"/>
                <a:ext cx="28575" cy="209550"/>
              </a:xfrm>
              <a:prstGeom prst="rect">
                <a:avLst/>
              </a:prstGeom>
              <a:solidFill>
                <a:srgbClr val="8B7355"/>
              </a:solidFill>
              <a:ln>
                <a:noFill/>
              </a:ln>
            </p:spPr>
          </p:sp>
          <p:sp>
            <p:nvSpPr>
              <p:cNvPr id="12" name="TextBox 12"/>
              <p:cNvSpPr txBox="1"/>
              <p:nvPr/>
            </p:nvSpPr>
            <p:spPr>
              <a:xfrm>
                <a:off x="864870" y="2236470"/>
                <a:ext cx="1292619" cy="182880"/>
              </a:xfrm>
              <a:prstGeom prst="rect">
                <a:avLst/>
              </a:prstGeom>
              <a:noFill/>
              <a:ln>
                <a:noFill/>
              </a:ln>
            </p:spPr>
            <p:txBody>
              <a:bodyPr wrap="none" lIns="0" tIns="0" rIns="0" bIns="0" anchor="t" anchorCtr="0">
                <a:spAutoFit/>
              </a:bodyPr>
              <a:lstStyle/>
              <a:p>
                <a:pPr algn="l"/>
                <a:r>
                  <a:rPr lang="zh-CN" sz="900" b="1" dirty="0">
                    <a:solidFill>
                      <a:srgbClr val="8B7355"/>
                    </a:solidFill>
                    <a:latin typeface="Georgia"/>
                    <a:ea typeface="SimSun"/>
                    <a:cs typeface="Georgia"/>
                  </a:rPr>
                  <a:t>CASE A · 北京天通苑</a:t>
                </a:r>
              </a:p>
            </p:txBody>
          </p:sp>
          <p:sp>
            <p:nvSpPr>
              <p:cNvPr id="13" name="TextBox 13"/>
              <p:cNvSpPr txBox="1"/>
              <p:nvPr/>
            </p:nvSpPr>
            <p:spPr>
              <a:xfrm>
                <a:off x="5110067" y="2220278"/>
                <a:ext cx="808768" cy="213360"/>
              </a:xfrm>
              <a:prstGeom prst="rect">
                <a:avLst/>
              </a:prstGeom>
              <a:noFill/>
              <a:ln>
                <a:noFill/>
              </a:ln>
            </p:spPr>
            <p:txBody>
              <a:bodyPr wrap="none" lIns="0" tIns="0" rIns="0" bIns="0" anchor="t" anchorCtr="0">
                <a:spAutoFit/>
              </a:bodyPr>
              <a:lstStyle/>
              <a:p>
                <a:pPr algn="r"/>
                <a:r>
                  <a:rPr lang="zh-CN" sz="1050" i="1" dirty="0">
                    <a:solidFill>
                      <a:srgbClr val="8B7355"/>
                    </a:solidFill>
                    <a:latin typeface="Georgia"/>
                    <a:ea typeface="KaiTi"/>
                    <a:cs typeface="Georgia"/>
                  </a:rPr>
                  <a:t>"办公环橙"</a:t>
                </a:r>
              </a:p>
            </p:txBody>
          </p:sp>
        </p:grpSp>
        <p:pic>
          <p:nvPicPr>
            <p:cNvPr id="15" name="Image 15"/>
            <p:cNvPicPr>
              <a:picLocks noChangeAspect="1"/>
            </p:cNvPicPr>
            <p:nvPr/>
          </p:nvPicPr>
          <p:blipFill>
            <a:blip r:embed="rId2"/>
            <a:srcRect l="0" t="34467" r="0" b="34467"/>
            <a:stretch>
              <a:fillRect/>
            </a:stretch>
          </p:blipFill>
          <p:spPr>
            <a:xfrm>
              <a:off x="571500" y="2438400"/>
              <a:ext cx="5524500" cy="2286000"/>
            </a:xfrm>
            <a:prstGeom prst="roundRect">
              <a:avLst>
                <a:gd name="adj" fmla="val 2500"/>
              </a:avLst>
            </a:prstGeom>
          </p:spPr>
        </p:pic>
        <p:sp>
          <p:nvSpPr>
            <p:cNvPr id="16" name="Rectangle 16"/>
            <p:cNvSpPr/>
            <p:nvPr/>
          </p:nvSpPr>
          <p:spPr>
            <a:xfrm>
              <a:off x="571500" y="2438400"/>
              <a:ext cx="5524500" cy="952500"/>
            </a:xfrm>
            <a:prstGeom prst="rect">
              <a:avLst/>
            </a:prstGeom>
            <a:gradFill>
              <a:gsLst>
                <a:gs pos="0">
                  <a:srgbClr val="8B7355">
                    <a:alpha val="65000"/>
                  </a:srgbClr>
                </a:gs>
                <a:gs pos="40000">
                  <a:srgbClr val="8B7355">
                    <a:alpha val="0"/>
                  </a:srgbClr>
                </a:gs>
              </a:gsLst>
              <a:lin ang="5400000" scaled="1"/>
            </a:gradFill>
            <a:ln>
              <a:noFill/>
            </a:ln>
          </p:spPr>
        </p:sp>
        <p:sp>
          <p:nvSpPr>
            <p:cNvPr id="17" name="Rectangle 17"/>
            <p:cNvSpPr/>
            <p:nvPr/>
          </p:nvSpPr>
          <p:spPr>
            <a:xfrm>
              <a:off x="571500" y="4152900"/>
              <a:ext cx="5524500" cy="571500"/>
            </a:xfrm>
            <a:prstGeom prst="rect">
              <a:avLst/>
            </a:prstGeom>
            <a:gradFill>
              <a:gsLst>
                <a:gs pos="0">
                  <a:srgbClr val="FFFFFF">
                    <a:alpha val="0"/>
                  </a:srgbClr>
                </a:gs>
                <a:gs pos="100000">
                  <a:srgbClr val="FFFFFF">
                    <a:alpha val="92000"/>
                  </a:srgbClr>
                </a:gs>
              </a:gsLst>
              <a:lin ang="5400000" scaled="1"/>
            </a:gradFill>
            <a:ln>
              <a:noFill/>
            </a:ln>
          </p:spPr>
        </p:sp>
        <p:sp>
          <p:nvSpPr>
            <p:cNvPr id="18" name="TextBox 18"/>
            <p:cNvSpPr txBox="1"/>
            <p:nvPr/>
          </p:nvSpPr>
          <p:spPr>
            <a:xfrm>
              <a:off x="741045" y="4965382"/>
              <a:ext cx="2104118" cy="335280"/>
            </a:xfrm>
            <a:prstGeom prst="rect">
              <a:avLst/>
            </a:prstGeom>
            <a:noFill/>
            <a:ln>
              <a:noFill/>
            </a:ln>
          </p:spPr>
          <p:txBody>
            <a:bodyPr wrap="none" lIns="0" tIns="0" rIns="0" bIns="0" anchor="t" anchorCtr="0">
              <a:spAutoFit/>
            </a:bodyPr>
            <a:lstStyle/>
            <a:p>
              <a:pPr algn="l"/>
              <a:r>
                <a:rPr lang="zh-CN" sz="1650" b="1" dirty="0">
                  <a:solidFill>
                    <a:srgbClr val="2B3A4A"/>
                  </a:solidFill>
                  <a:latin typeface="Georgia"/>
                  <a:ea typeface="KaiTi"/>
                  <a:cs typeface="Georgia"/>
                </a:rPr>
                <a:t>高层住宅 → 办公楼</a:t>
              </a:r>
            </a:p>
          </p:txBody>
        </p:sp>
        <p:sp>
          <p:nvSpPr>
            <p:cNvPr id="19" name="TextBox 19"/>
            <p:cNvSpPr txBox="1"/>
            <p:nvPr/>
          </p:nvSpPr>
          <p:spPr>
            <a:xfrm>
              <a:off x="748665" y="5334952"/>
              <a:ext cx="218894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缓解天通苑地区</a:t>
              </a:r>
              <a:r>
                <a:rPr lang="zh-CN" sz="1050" b="1" dirty="0">
                  <a:solidFill>
                    <a:srgbClr val="8B7355"/>
                  </a:solidFill>
                  <a:latin typeface="Segoe UI"/>
                  <a:ea typeface="Microsoft YaHei"/>
                  <a:cs typeface="Segoe UI"/>
                </a:rPr>
                <a:t>"职住分离"</a:t>
              </a:r>
              <a:r>
                <a:rPr lang="zh-CN" sz="1050" dirty="0">
                  <a:solidFill>
                    <a:srgbClr val="5A6B7A"/>
                  </a:solidFill>
                  <a:latin typeface="Segoe UI"/>
                  <a:ea typeface="Microsoft YaHei"/>
                  <a:cs typeface="Segoe UI"/>
                </a:rPr>
                <a:t>问题</a:t>
              </a:r>
            </a:p>
          </p:txBody>
        </p:sp>
        <p:sp>
          <p:nvSpPr>
            <p:cNvPr id="20" name="TextBox 20"/>
            <p:cNvSpPr txBox="1"/>
            <p:nvPr/>
          </p:nvSpPr>
          <p:spPr>
            <a:xfrm>
              <a:off x="748665" y="5563552"/>
              <a:ext cx="1713548"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对原有梁柱进行局部加固</a:t>
              </a:r>
            </a:p>
          </p:txBody>
        </p:sp>
        <p:sp>
          <p:nvSpPr>
            <p:cNvPr id="21" name="TextBox 21"/>
            <p:cNvSpPr txBox="1"/>
            <p:nvPr/>
          </p:nvSpPr>
          <p:spPr>
            <a:xfrm>
              <a:off x="748665" y="5792152"/>
              <a:ext cx="186690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将住宅户型拓展为办公户型</a:t>
              </a:r>
            </a:p>
          </p:txBody>
        </p:sp>
        <p:sp>
          <p:nvSpPr>
            <p:cNvPr id="22" name="TextBox 22"/>
            <p:cNvSpPr txBox="1"/>
            <p:nvPr/>
          </p:nvSpPr>
          <p:spPr>
            <a:xfrm>
              <a:off x="749618" y="6181249"/>
              <a:ext cx="1712190" cy="198120"/>
            </a:xfrm>
            <a:prstGeom prst="rect">
              <a:avLst/>
            </a:prstGeom>
            <a:noFill/>
            <a:ln>
              <a:noFill/>
            </a:ln>
          </p:spPr>
          <p:txBody>
            <a:bodyPr wrap="none" lIns="0" tIns="0" rIns="0" bIns="0" anchor="t" anchorCtr="0">
              <a:spAutoFit/>
            </a:bodyPr>
            <a:lstStyle/>
            <a:p>
              <a:pPr algn="l"/>
              <a:r>
                <a:rPr lang="zh-CN" sz="975" i="1" dirty="0">
                  <a:solidFill>
                    <a:srgbClr val="8B7355"/>
                  </a:solidFill>
                  <a:latin typeface="Georgia"/>
                  <a:ea typeface="KaiTi"/>
                  <a:cs typeface="Georgia"/>
                </a:rPr>
                <a:t>— 满足不同的中小企业需求</a:t>
              </a:r>
            </a:p>
          </p:txBody>
        </p:sp>
        <p:sp>
          <p:nvSpPr>
            <p:cNvPr id="23" name="TextBox 23"/>
            <p:cNvSpPr txBox="1"/>
            <p:nvPr/>
          </p:nvSpPr>
          <p:spPr>
            <a:xfrm>
              <a:off x="4310563" y="6368891"/>
              <a:ext cx="1605415" cy="167640"/>
            </a:xfrm>
            <a:prstGeom prst="rect">
              <a:avLst/>
            </a:prstGeom>
            <a:noFill/>
            <a:ln>
              <a:noFill/>
            </a:ln>
          </p:spPr>
          <p:txBody>
            <a:bodyPr wrap="none" lIns="0" tIns="0" rIns="0" bIns="0" anchor="t" anchorCtr="0">
              <a:spAutoFit/>
            </a:bodyPr>
            <a:lstStyle/>
            <a:p>
              <a:pPr algn="r"/>
              <a:r>
                <a:rPr lang="zh-CN" sz="825" dirty="0">
                  <a:solidFill>
                    <a:srgbClr val="8A8275"/>
                  </a:solidFill>
                  <a:latin typeface="Segoe UI"/>
                  <a:ea typeface="Microsoft YaHei"/>
                  <a:cs typeface="Segoe UI"/>
                </a:rPr>
                <a:t>摄影：金伟琦 · 图源：众建筑</a:t>
              </a:r>
            </a:p>
          </p:txBody>
        </p:sp>
      </p:grpSp>
      <p:grpSp>
        <p:nvGrpSpPr>
          <p:cNvPr id="51" name="Group 51"/>
          <p:cNvGrpSpPr/>
          <p:nvPr/>
        </p:nvGrpSpPr>
        <p:grpSpPr>
          <a:xfrm>
            <a:off x="6286500" y="2000250"/>
            <a:ext cx="5334000" cy="4552950"/>
            <a:chOff x="6286500" y="2000250"/>
            <a:chExt cx="5334000" cy="4552950"/>
          </a:xfrm>
        </p:grpSpPr>
        <p:sp>
          <p:nvSpPr>
            <p:cNvPr id="25" name="Rectangle 25"/>
            <p:cNvSpPr/>
            <p:nvPr/>
          </p:nvSpPr>
          <p:spPr>
            <a:xfrm>
              <a:off x="6286500" y="2000250"/>
              <a:ext cx="5334000" cy="4552950"/>
            </a:xfrm>
            <a:prstGeom prst="roundRect">
              <a:avLst>
                <a:gd name="adj" fmla="val 1255"/>
              </a:avLst>
            </a:prstGeom>
            <a:solidFill>
              <a:srgbClr val="FFFFFF"/>
            </a:solidFill>
            <a:ln w="9525">
              <a:solidFill>
                <a:srgbClr val="D6CFC0"/>
              </a:solidFill>
            </a:ln>
          </p:spPr>
        </p:sp>
        <p:grpSp>
          <p:nvGrpSpPr>
            <p:cNvPr id="29" name="Group 29"/>
            <p:cNvGrpSpPr/>
            <p:nvPr/>
          </p:nvGrpSpPr>
          <p:grpSpPr>
            <a:xfrm>
              <a:off x="6477000" y="2171700"/>
              <a:ext cx="4966335" cy="261938"/>
              <a:chOff x="6477000" y="2171700"/>
              <a:chExt cx="4966335" cy="261938"/>
            </a:xfrm>
          </p:grpSpPr>
          <p:sp>
            <p:nvSpPr>
              <p:cNvPr id="26" name="Rectangle 26"/>
              <p:cNvSpPr/>
              <p:nvPr/>
            </p:nvSpPr>
            <p:spPr>
              <a:xfrm>
                <a:off x="6477000" y="2171700"/>
                <a:ext cx="28575" cy="209550"/>
              </a:xfrm>
              <a:prstGeom prst="rect">
                <a:avLst/>
              </a:prstGeom>
              <a:solidFill>
                <a:srgbClr val="C2410C"/>
              </a:solidFill>
              <a:ln>
                <a:noFill/>
              </a:ln>
            </p:spPr>
          </p:sp>
          <p:sp>
            <p:nvSpPr>
              <p:cNvPr id="27" name="TextBox 27"/>
              <p:cNvSpPr txBox="1"/>
              <p:nvPr/>
            </p:nvSpPr>
            <p:spPr>
              <a:xfrm>
                <a:off x="6579870" y="2236470"/>
                <a:ext cx="1292619" cy="182880"/>
              </a:xfrm>
              <a:prstGeom prst="rect">
                <a:avLst/>
              </a:prstGeom>
              <a:noFill/>
              <a:ln>
                <a:noFill/>
              </a:ln>
            </p:spPr>
            <p:txBody>
              <a:bodyPr wrap="none" lIns="0" tIns="0" rIns="0" bIns="0" anchor="t" anchorCtr="0">
                <a:spAutoFit/>
              </a:bodyPr>
              <a:lstStyle/>
              <a:p>
                <a:pPr algn="l"/>
                <a:r>
                  <a:rPr lang="zh-CN" sz="900" b="1" dirty="0">
                    <a:solidFill>
                      <a:srgbClr val="C2410C"/>
                    </a:solidFill>
                    <a:latin typeface="Georgia"/>
                    <a:ea typeface="SimSun"/>
                    <a:cs typeface="Georgia"/>
                  </a:rPr>
                  <a:t>CASE B · 杭州市中心</a:t>
                </a:r>
              </a:p>
            </p:txBody>
          </p:sp>
          <p:sp>
            <p:nvSpPr>
              <p:cNvPr id="28" name="TextBox 28"/>
              <p:cNvSpPr txBox="1"/>
              <p:nvPr/>
            </p:nvSpPr>
            <p:spPr>
              <a:xfrm>
                <a:off x="10634567" y="2220278"/>
                <a:ext cx="808768" cy="213360"/>
              </a:xfrm>
              <a:prstGeom prst="rect">
                <a:avLst/>
              </a:prstGeom>
              <a:noFill/>
              <a:ln>
                <a:noFill/>
              </a:ln>
            </p:spPr>
            <p:txBody>
              <a:bodyPr wrap="none" lIns="0" tIns="0" rIns="0" bIns="0" anchor="t" anchorCtr="0">
                <a:spAutoFit/>
              </a:bodyPr>
              <a:lstStyle/>
              <a:p>
                <a:pPr algn="r"/>
                <a:r>
                  <a:rPr lang="zh-CN" sz="1050" i="1" dirty="0">
                    <a:solidFill>
                      <a:srgbClr val="C2410C"/>
                    </a:solidFill>
                    <a:latin typeface="Georgia"/>
                    <a:ea typeface="KaiTi"/>
                    <a:cs typeface="Georgia"/>
                  </a:rPr>
                  <a:t>"浙工新村"</a:t>
                </a:r>
              </a:p>
            </p:txBody>
          </p:sp>
        </p:grpSp>
        <p:pic>
          <p:nvPicPr>
            <p:cNvPr id="30" name="Image 30"/>
            <p:cNvPicPr>
              <a:picLocks noChangeAspect="1"/>
            </p:cNvPicPr>
            <p:nvPr/>
          </p:nvPicPr>
          <p:blipFill>
            <a:blip r:embed="rId3"/>
            <a:srcRect l="0" t="9524" r="0" b="9524"/>
            <a:stretch>
              <a:fillRect/>
            </a:stretch>
          </p:blipFill>
          <p:spPr>
            <a:xfrm>
              <a:off x="6286500" y="2438400"/>
              <a:ext cx="2667000" cy="1619250"/>
            </a:xfrm>
            <a:prstGeom prst="roundRect">
              <a:avLst>
                <a:gd name="adj" fmla="val 3529"/>
              </a:avLst>
            </a:prstGeom>
          </p:spPr>
        </p:pic>
        <p:sp>
          <p:nvSpPr>
            <p:cNvPr id="31" name="Rectangle 31"/>
            <p:cNvSpPr/>
            <p:nvPr/>
          </p:nvSpPr>
          <p:spPr>
            <a:xfrm>
              <a:off x="6286500" y="2438400"/>
              <a:ext cx="2667000" cy="571500"/>
            </a:xfrm>
            <a:prstGeom prst="rect">
              <a:avLst/>
            </a:prstGeom>
            <a:gradFill>
              <a:gsLst>
                <a:gs pos="0">
                  <a:srgbClr val="5A6B7A">
                    <a:alpha val="65000"/>
                  </a:srgbClr>
                </a:gs>
                <a:gs pos="55000">
                  <a:srgbClr val="5A6B7A">
                    <a:alpha val="0"/>
                  </a:srgbClr>
                </a:gs>
              </a:gsLst>
              <a:lin ang="5400000" scaled="1"/>
            </a:gradFill>
            <a:ln>
              <a:noFill/>
            </a:ln>
          </p:spPr>
        </p:sp>
        <p:grpSp>
          <p:nvGrpSpPr>
            <p:cNvPr id="34" name="Group 34"/>
            <p:cNvGrpSpPr/>
            <p:nvPr/>
          </p:nvGrpSpPr>
          <p:grpSpPr>
            <a:xfrm>
              <a:off x="6438900" y="2590800"/>
              <a:ext cx="978977" cy="173831"/>
              <a:chOff x="6438900" y="2590800"/>
              <a:chExt cx="978977" cy="173831"/>
            </a:xfrm>
          </p:grpSpPr>
          <p:sp>
            <p:nvSpPr>
              <p:cNvPr id="32" name="Rectangle 32"/>
              <p:cNvSpPr/>
              <p:nvPr/>
            </p:nvSpPr>
            <p:spPr>
              <a:xfrm>
                <a:off x="6438900" y="2590800"/>
                <a:ext cx="95250" cy="95250"/>
              </a:xfrm>
              <a:prstGeom prst="rect">
                <a:avLst/>
              </a:prstGeom>
              <a:solidFill>
                <a:srgbClr val="F5F2EC"/>
              </a:solidFill>
              <a:ln>
                <a:noFill/>
              </a:ln>
            </p:spPr>
          </p:sp>
          <p:sp>
            <p:nvSpPr>
              <p:cNvPr id="33" name="TextBox 33"/>
              <p:cNvSpPr txBox="1"/>
              <p:nvPr/>
            </p:nvSpPr>
            <p:spPr>
              <a:xfrm>
                <a:off x="6599872" y="2596991"/>
                <a:ext cx="818005" cy="167640"/>
              </a:xfrm>
              <a:prstGeom prst="rect">
                <a:avLst/>
              </a:prstGeom>
              <a:noFill/>
              <a:ln>
                <a:noFill/>
              </a:ln>
            </p:spPr>
            <p:txBody>
              <a:bodyPr wrap="none" lIns="0" tIns="0" rIns="0" bIns="0" anchor="t" anchorCtr="0">
                <a:spAutoFit/>
              </a:bodyPr>
              <a:lstStyle/>
              <a:p>
                <a:pPr algn="l"/>
                <a:r>
                  <a:rPr lang="zh-CN" sz="825" b="1" dirty="0">
                    <a:solidFill>
                      <a:srgbClr val="F5F2EC"/>
                    </a:solidFill>
                    <a:latin typeface="Georgia"/>
                    <a:ea typeface="SimSun"/>
                    <a:cs typeface="Georgia"/>
                  </a:rPr>
                  <a:t>BEFORE · 80s</a:t>
                </a:r>
              </a:p>
            </p:txBody>
          </p:sp>
        </p:grpSp>
        <p:pic>
          <p:nvPicPr>
            <p:cNvPr id="35" name="Image 35"/>
            <p:cNvPicPr>
              <a:picLocks noChangeAspect="1"/>
            </p:cNvPicPr>
            <p:nvPr/>
          </p:nvPicPr>
          <p:blipFill>
            <a:blip r:embed="rId4"/>
            <a:srcRect l="2800" t="0" r="2800" b="0"/>
            <a:stretch>
              <a:fillRect/>
            </a:stretch>
          </p:blipFill>
          <p:spPr>
            <a:xfrm>
              <a:off x="8953500" y="2438400"/>
              <a:ext cx="2667000" cy="1619250"/>
            </a:xfrm>
            <a:prstGeom prst="roundRect">
              <a:avLst>
                <a:gd name="adj" fmla="val 3529"/>
              </a:avLst>
            </a:prstGeom>
          </p:spPr>
        </p:pic>
        <p:sp>
          <p:nvSpPr>
            <p:cNvPr id="36" name="Rectangle 36"/>
            <p:cNvSpPr/>
            <p:nvPr/>
          </p:nvSpPr>
          <p:spPr>
            <a:xfrm>
              <a:off x="8953500" y="2438400"/>
              <a:ext cx="2667000" cy="571500"/>
            </a:xfrm>
            <a:prstGeom prst="rect">
              <a:avLst/>
            </a:prstGeom>
            <a:gradFill>
              <a:gsLst>
                <a:gs pos="0">
                  <a:srgbClr val="C2410C">
                    <a:alpha val="65000"/>
                  </a:srgbClr>
                </a:gs>
                <a:gs pos="55000">
                  <a:srgbClr val="C2410C">
                    <a:alpha val="0"/>
                  </a:srgbClr>
                </a:gs>
              </a:gsLst>
              <a:lin ang="5400000" scaled="1"/>
            </a:gradFill>
            <a:ln>
              <a:noFill/>
            </a:ln>
          </p:spPr>
        </p:sp>
        <p:grpSp>
          <p:nvGrpSpPr>
            <p:cNvPr id="39" name="Group 39"/>
            <p:cNvGrpSpPr/>
            <p:nvPr/>
          </p:nvGrpSpPr>
          <p:grpSpPr>
            <a:xfrm>
              <a:off x="9105900" y="2590800"/>
              <a:ext cx="909393" cy="173831"/>
              <a:chOff x="9105900" y="2590800"/>
              <a:chExt cx="909393" cy="173831"/>
            </a:xfrm>
          </p:grpSpPr>
          <p:sp>
            <p:nvSpPr>
              <p:cNvPr id="37" name="Rectangle 37"/>
              <p:cNvSpPr/>
              <p:nvPr/>
            </p:nvSpPr>
            <p:spPr>
              <a:xfrm>
                <a:off x="9105900" y="2590800"/>
                <a:ext cx="95250" cy="95250"/>
              </a:xfrm>
              <a:prstGeom prst="rect">
                <a:avLst/>
              </a:prstGeom>
              <a:solidFill>
                <a:srgbClr val="F5F2EC"/>
              </a:solidFill>
              <a:ln>
                <a:noFill/>
              </a:ln>
            </p:spPr>
          </p:sp>
          <p:sp>
            <p:nvSpPr>
              <p:cNvPr id="38" name="TextBox 38"/>
              <p:cNvSpPr txBox="1"/>
              <p:nvPr/>
            </p:nvSpPr>
            <p:spPr>
              <a:xfrm>
                <a:off x="9266872" y="2596991"/>
                <a:ext cx="748421" cy="167640"/>
              </a:xfrm>
              <a:prstGeom prst="rect">
                <a:avLst/>
              </a:prstGeom>
              <a:noFill/>
              <a:ln>
                <a:noFill/>
              </a:ln>
            </p:spPr>
            <p:txBody>
              <a:bodyPr wrap="none" lIns="0" tIns="0" rIns="0" bIns="0" anchor="t" anchorCtr="0">
                <a:spAutoFit/>
              </a:bodyPr>
              <a:lstStyle/>
              <a:p>
                <a:pPr algn="l"/>
                <a:r>
                  <a:rPr lang="zh-CN" sz="825" b="1" dirty="0">
                    <a:solidFill>
                      <a:srgbClr val="F5F2EC"/>
                    </a:solidFill>
                    <a:latin typeface="Georgia"/>
                    <a:ea typeface="SimSun"/>
                    <a:cs typeface="Georgia"/>
                  </a:rPr>
                  <a:t>AFTER · NEW</a:t>
                </a:r>
              </a:p>
            </p:txBody>
          </p:sp>
        </p:grpSp>
        <p:sp>
          <p:nvSpPr>
            <p:cNvPr id="40" name="TextBox 40"/>
            <p:cNvSpPr txBox="1"/>
            <p:nvPr/>
          </p:nvSpPr>
          <p:spPr>
            <a:xfrm>
              <a:off x="6456045" y="4260532"/>
              <a:ext cx="2850561" cy="335280"/>
            </a:xfrm>
            <a:prstGeom prst="rect">
              <a:avLst/>
            </a:prstGeom>
            <a:noFill/>
            <a:ln>
              <a:noFill/>
            </a:ln>
          </p:spPr>
          <p:txBody>
            <a:bodyPr wrap="none" lIns="0" tIns="0" rIns="0" bIns="0" anchor="t" anchorCtr="0">
              <a:spAutoFit/>
            </a:bodyPr>
            <a:lstStyle/>
            <a:p>
              <a:pPr algn="l"/>
              <a:r>
                <a:rPr lang="zh-CN" sz="1650" b="1" dirty="0">
                  <a:solidFill>
                    <a:srgbClr val="2B3A4A"/>
                  </a:solidFill>
                  <a:latin typeface="Georgia"/>
                  <a:ea typeface="KaiTi"/>
                  <a:cs typeface="Georgia"/>
                </a:rPr>
                <a:t>首个"原拆原建"老旧小区</a:t>
              </a:r>
            </a:p>
          </p:txBody>
        </p:sp>
        <p:sp>
          <p:nvSpPr>
            <p:cNvPr id="41" name="TextBox 41"/>
            <p:cNvSpPr txBox="1"/>
            <p:nvPr/>
          </p:nvSpPr>
          <p:spPr>
            <a:xfrm>
              <a:off x="6463665" y="4630102"/>
              <a:ext cx="2296287"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Segoe UI"/>
                  <a:ea typeface="Microsoft YaHei"/>
                  <a:cs typeface="Segoe UI"/>
                </a:rPr>
                <a:t xml:space="preserve">拆除 13 幢，新建 </a:t>
              </a:r>
              <a:r>
                <a:rPr lang="zh-CN" sz="1050" b="1" dirty="0">
                  <a:solidFill>
                    <a:srgbClr val="C2410C"/>
                  </a:solidFill>
                  <a:latin typeface="Segoe UI"/>
                  <a:ea typeface="Microsoft YaHei"/>
                  <a:cs typeface="Segoe UI"/>
                </a:rPr>
                <a:t>7 幢 11 层小高层</a:t>
              </a:r>
            </a:p>
          </p:txBody>
        </p:sp>
        <p:sp>
          <p:nvSpPr>
            <p:cNvPr id="42" name="Line 42"/>
            <p:cNvSpPr/>
            <p:nvPr/>
          </p:nvSpPr>
          <p:spPr>
            <a:xfrm>
              <a:off x="6477000" y="4953000"/>
              <a:ext cx="4953000" cy="9525"/>
            </a:xfrm>
            <a:custGeom>
              <a:avLst/>
              <a:gdLst/>
              <a:ahLst/>
              <a:cxnLst/>
              <a:rect l="l" t="t" r="r" b="b"/>
              <a:pathLst>
                <a:path w="4953000" h="9525">
                  <a:moveTo>
                    <a:pt x="0" y="0"/>
                  </a:moveTo>
                  <a:lnTo>
                    <a:pt x="4953000" y="0"/>
                  </a:lnTo>
                </a:path>
              </a:pathLst>
            </a:custGeom>
            <a:noFill/>
            <a:ln w="9525">
              <a:solidFill>
                <a:srgbClr val="D6CFC0"/>
              </a:solidFill>
            </a:ln>
          </p:spPr>
        </p:sp>
        <p:grpSp>
          <p:nvGrpSpPr>
            <p:cNvPr id="49" name="Group 49"/>
            <p:cNvGrpSpPr/>
            <p:nvPr/>
          </p:nvGrpSpPr>
          <p:grpSpPr>
            <a:xfrm>
              <a:off x="6446520" y="5074920"/>
              <a:ext cx="4939213" cy="573405"/>
              <a:chOff x="6446520" y="5074920"/>
              <a:chExt cx="4939213" cy="573405"/>
            </a:xfrm>
          </p:grpSpPr>
          <p:sp>
            <p:nvSpPr>
              <p:cNvPr id="43" name="TextBox 43"/>
              <p:cNvSpPr txBox="1"/>
              <p:nvPr/>
            </p:nvSpPr>
            <p:spPr>
              <a:xfrm>
                <a:off x="6446520" y="5074920"/>
                <a:ext cx="1404328" cy="487680"/>
              </a:xfrm>
              <a:prstGeom prst="rect">
                <a:avLst/>
              </a:prstGeom>
              <a:noFill/>
              <a:ln>
                <a:noFill/>
              </a:ln>
            </p:spPr>
            <p:txBody>
              <a:bodyPr wrap="none" lIns="0" tIns="0" rIns="0" bIns="0" anchor="t" anchorCtr="0">
                <a:spAutoFit/>
              </a:bodyPr>
              <a:lstStyle/>
              <a:p>
                <a:pPr algn="l"/>
                <a:r>
                  <a:rPr lang="zh-CN" sz="2400" b="1" dirty="0">
                    <a:solidFill>
                      <a:srgbClr val="C2410C"/>
                    </a:solidFill>
                    <a:latin typeface="Georgia"/>
                    <a:ea typeface="SimSun"/>
                    <a:cs typeface="Georgia"/>
                  </a:rPr>
                  <a:t>5.3</a:t>
                </a:r>
                <a:r>
                  <a:rPr lang="zh-CN" sz="1050" b="1" dirty="0">
                    <a:solidFill>
                      <a:srgbClr val="5A6B7A"/>
                    </a:solidFill>
                    <a:latin typeface="Georgia"/>
                    <a:ea typeface="SimSun"/>
                    <a:cs typeface="Georgia"/>
                  </a:rPr>
                  <a:t>亿元</a:t>
                </a:r>
              </a:p>
            </p:txBody>
          </p:sp>
          <p:sp>
            <p:nvSpPr>
              <p:cNvPr id="44" name="TextBox 44"/>
              <p:cNvSpPr txBox="1"/>
              <p:nvPr/>
            </p:nvSpPr>
            <p:spPr>
              <a:xfrm>
                <a:off x="6465570" y="5465445"/>
                <a:ext cx="680085" cy="182880"/>
              </a:xfrm>
              <a:prstGeom prst="rect">
                <a:avLst/>
              </a:prstGeom>
              <a:noFill/>
              <a:ln>
                <a:noFill/>
              </a:ln>
            </p:spPr>
            <p:txBody>
              <a:bodyPr wrap="none" lIns="0" tIns="0" rIns="0" bIns="0" anchor="t" anchorCtr="0">
                <a:spAutoFit/>
              </a:bodyPr>
              <a:lstStyle/>
              <a:p>
                <a:pPr algn="l"/>
                <a:r>
                  <a:rPr lang="zh-CN" sz="900" dirty="0">
                    <a:solidFill>
                      <a:srgbClr val="5A6B7A"/>
                    </a:solidFill>
                    <a:latin typeface="Segoe UI"/>
                    <a:ea typeface="Microsoft YaHei"/>
                    <a:cs typeface="Segoe UI"/>
                  </a:rPr>
                  <a:t>重建总费用</a:t>
                </a:r>
              </a:p>
            </p:txBody>
          </p:sp>
          <p:sp>
            <p:nvSpPr>
              <p:cNvPr id="45" name="TextBox 45"/>
              <p:cNvSpPr txBox="1"/>
              <p:nvPr/>
            </p:nvSpPr>
            <p:spPr>
              <a:xfrm>
                <a:off x="8161020" y="5074920"/>
                <a:ext cx="1404328" cy="487680"/>
              </a:xfrm>
              <a:prstGeom prst="rect">
                <a:avLst/>
              </a:prstGeom>
              <a:noFill/>
              <a:ln>
                <a:noFill/>
              </a:ln>
            </p:spPr>
            <p:txBody>
              <a:bodyPr wrap="none" lIns="0" tIns="0" rIns="0" bIns="0" anchor="t" anchorCtr="0">
                <a:spAutoFit/>
              </a:bodyPr>
              <a:lstStyle/>
              <a:p>
                <a:pPr algn="l"/>
                <a:r>
                  <a:rPr lang="zh-CN" sz="2400" b="1" dirty="0">
                    <a:solidFill>
                      <a:srgbClr val="C2410C"/>
                    </a:solidFill>
                    <a:latin typeface="Georgia"/>
                    <a:ea typeface="SimSun"/>
                    <a:cs typeface="Georgia"/>
                  </a:rPr>
                  <a:t>4.7</a:t>
                </a:r>
                <a:r>
                  <a:rPr lang="zh-CN" sz="1050" b="1" dirty="0">
                    <a:solidFill>
                      <a:srgbClr val="5A6B7A"/>
                    </a:solidFill>
                    <a:latin typeface="Georgia"/>
                    <a:ea typeface="SimSun"/>
                    <a:cs typeface="Georgia"/>
                  </a:rPr>
                  <a:t>亿元</a:t>
                </a:r>
              </a:p>
            </p:txBody>
          </p:sp>
          <p:sp>
            <p:nvSpPr>
              <p:cNvPr id="46" name="TextBox 46"/>
              <p:cNvSpPr txBox="1"/>
              <p:nvPr/>
            </p:nvSpPr>
            <p:spPr>
              <a:xfrm>
                <a:off x="8180070" y="5465445"/>
                <a:ext cx="548640" cy="182880"/>
              </a:xfrm>
              <a:prstGeom prst="rect">
                <a:avLst/>
              </a:prstGeom>
              <a:noFill/>
              <a:ln>
                <a:noFill/>
              </a:ln>
            </p:spPr>
            <p:txBody>
              <a:bodyPr wrap="none" lIns="0" tIns="0" rIns="0" bIns="0" anchor="t" anchorCtr="0">
                <a:spAutoFit/>
              </a:bodyPr>
              <a:lstStyle/>
              <a:p>
                <a:pPr algn="l"/>
                <a:r>
                  <a:rPr lang="zh-CN" sz="900" dirty="0">
                    <a:solidFill>
                      <a:srgbClr val="5A6B7A"/>
                    </a:solidFill>
                    <a:latin typeface="Segoe UI"/>
                    <a:ea typeface="Microsoft YaHei"/>
                    <a:cs typeface="Segoe UI"/>
                  </a:rPr>
                  <a:t>居民自筹</a:t>
                </a:r>
              </a:p>
            </p:txBody>
          </p:sp>
          <p:sp>
            <p:nvSpPr>
              <p:cNvPr id="47" name="TextBox 47"/>
              <p:cNvSpPr txBox="1"/>
              <p:nvPr/>
            </p:nvSpPr>
            <p:spPr>
              <a:xfrm>
                <a:off x="9886950" y="5172075"/>
                <a:ext cx="1498783" cy="304800"/>
              </a:xfrm>
              <a:prstGeom prst="rect">
                <a:avLst/>
              </a:prstGeom>
              <a:noFill/>
              <a:ln>
                <a:noFill/>
              </a:ln>
            </p:spPr>
            <p:txBody>
              <a:bodyPr wrap="none" lIns="0" tIns="0" rIns="0" bIns="0" anchor="t" anchorCtr="0">
                <a:spAutoFit/>
              </a:bodyPr>
              <a:lstStyle/>
              <a:p>
                <a:pPr algn="l"/>
                <a:r>
                  <a:rPr lang="zh-CN" sz="1500" b="1" dirty="0">
                    <a:solidFill>
                      <a:srgbClr val="2B3A4A"/>
                    </a:solidFill>
                    <a:latin typeface="Georgia"/>
                    <a:ea typeface="SimSun"/>
                    <a:cs typeface="Georgia"/>
                  </a:rPr>
                  <a:t>10–100</a:t>
                </a:r>
                <a:r>
                  <a:rPr lang="zh-CN" sz="1050" b="1" dirty="0">
                    <a:solidFill>
                      <a:srgbClr val="5A6B7A"/>
                    </a:solidFill>
                    <a:latin typeface="Georgia"/>
                    <a:ea typeface="SimSun"/>
                    <a:cs typeface="Georgia"/>
                  </a:rPr>
                  <a:t>万元/户</a:t>
                </a:r>
              </a:p>
            </p:txBody>
          </p:sp>
          <p:sp>
            <p:nvSpPr>
              <p:cNvPr id="48" name="TextBox 48"/>
              <p:cNvSpPr txBox="1"/>
              <p:nvPr/>
            </p:nvSpPr>
            <p:spPr>
              <a:xfrm>
                <a:off x="9894570" y="5465445"/>
                <a:ext cx="811530" cy="182880"/>
              </a:xfrm>
              <a:prstGeom prst="rect">
                <a:avLst/>
              </a:prstGeom>
              <a:noFill/>
              <a:ln>
                <a:noFill/>
              </a:ln>
            </p:spPr>
            <p:txBody>
              <a:bodyPr wrap="none" lIns="0" tIns="0" rIns="0" bIns="0" anchor="t" anchorCtr="0">
                <a:spAutoFit/>
              </a:bodyPr>
              <a:lstStyle/>
              <a:p>
                <a:pPr algn="l"/>
                <a:r>
                  <a:rPr lang="zh-CN" sz="900" dirty="0">
                    <a:solidFill>
                      <a:srgbClr val="5A6B7A"/>
                    </a:solidFill>
                    <a:latin typeface="Segoe UI"/>
                    <a:ea typeface="Microsoft YaHei"/>
                    <a:cs typeface="Segoe UI"/>
                  </a:rPr>
                  <a:t>每户出资区间</a:t>
                </a:r>
              </a:p>
            </p:txBody>
          </p:sp>
        </p:grpSp>
        <p:sp>
          <p:nvSpPr>
            <p:cNvPr id="50" name="TextBox 50"/>
            <p:cNvSpPr txBox="1"/>
            <p:nvPr/>
          </p:nvSpPr>
          <p:spPr>
            <a:xfrm>
              <a:off x="6464618" y="6333649"/>
              <a:ext cx="4296728" cy="198120"/>
            </a:xfrm>
            <a:prstGeom prst="rect">
              <a:avLst/>
            </a:prstGeom>
            <a:noFill/>
            <a:ln>
              <a:noFill/>
            </a:ln>
          </p:spPr>
          <p:txBody>
            <a:bodyPr wrap="none" lIns="0" tIns="0" rIns="0" bIns="0" anchor="t" anchorCtr="0">
              <a:spAutoFit/>
            </a:bodyPr>
            <a:lstStyle/>
            <a:p>
              <a:pPr algn="l"/>
              <a:r>
                <a:rPr lang="zh-CN" sz="975" i="1" dirty="0">
                  <a:solidFill>
                    <a:srgbClr val="5A6B7A"/>
                  </a:solidFill>
                  <a:latin typeface="Georgia"/>
                  <a:ea typeface="KaiTi"/>
                  <a:cs typeface="Georgia"/>
                </a:rPr>
                <a:t>— 国务院 2025.08：稳步推进危旧房改造，支持自主更新和原拆原建</a:t>
              </a:r>
            </a:p>
          </p:txBody>
        </p:sp>
      </p:grpSp>
      <p:sp>
        <p:nvSpPr>
          <p:cNvPr id="52" name="TextBox 52"/>
          <p:cNvSpPr txBox="1"/>
          <p:nvPr/>
        </p:nvSpPr>
        <p:spPr>
          <a:xfrm>
            <a:off x="11234452" y="6665595"/>
            <a:ext cx="397478" cy="182880"/>
          </a:xfrm>
          <a:prstGeom prst="rect">
            <a:avLst/>
          </a:prstGeom>
          <a:noFill/>
          <a:ln>
            <a:noFill/>
          </a:ln>
        </p:spPr>
        <p:txBody>
          <a:bodyPr wrap="none" lIns="0" tIns="0" rIns="0" bIns="0" anchor="t" anchorCtr="0">
            <a:spAutoFit/>
          </a:bodyPr>
          <a:lstStyle/>
          <a:p>
            <a:pPr algn="r"/>
            <a:r>
              <a:rPr lang="zh-CN" sz="900" dirty="0">
                <a:solidFill>
                  <a:srgbClr val="8A8275"/>
                </a:solidFill>
                <a:latin typeface="Georgia"/>
                <a:ea typeface="SimSun"/>
                <a:cs typeface="Georgia"/>
              </a:rPr>
              <a:t>13 / 15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randombar(horizontal)">
                                      <p:cBhvr>
                                        <p:cTn id="11" dur="400"/>
                                        <p:tgtEl>
                                          <p:spTgt spid="24"/>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box(in)">
                                      <p:cBhvr>
                                        <p:cTn id="15"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2EC"/>
            </a:solidFill>
            <a:ln>
              <a:noFill/>
            </a:ln>
          </p:spPr>
        </p:sp>
        <p:pic>
          <p:nvPicPr>
            <p:cNvPr id="3" name="Image 3"/>
            <p:cNvPicPr>
              <a:picLocks noChangeAspect="1"/>
            </p:cNvPicPr>
            <p:nvPr/>
          </p:nvPicPr>
          <p:blipFill>
            <a:blip r:embed="rId2"/>
            <a:srcRect l="0" t="7812" r="0" b="7812"/>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solidFill>
              <a:srgbClr val="F5F2EC">
                <a:alpha val="65000"/>
              </a:srgbClr>
            </a:solidFill>
            <a:ln>
              <a:noFill/>
            </a:ln>
          </p:spPr>
        </p:sp>
        <p:sp>
          <p:nvSpPr>
            <p:cNvPr id="5" name="Rectangle 5"/>
            <p:cNvSpPr/>
            <p:nvPr/>
          </p:nvSpPr>
          <p:spPr>
            <a:xfrm>
              <a:off x="0" y="0"/>
              <a:ext cx="12192000" cy="6858000"/>
            </a:xfrm>
            <a:prstGeom prst="rect">
              <a:avLst/>
            </a:prstGeom>
            <a:gradFill>
              <a:gsLst>
                <a:gs pos="0">
                  <a:srgbClr val="F5F2EC">
                    <a:alpha val="92000"/>
                  </a:srgbClr>
                </a:gs>
                <a:gs pos="100000">
                  <a:srgbClr val="F5F2EC">
                    <a:alpha val="78000"/>
                  </a:srgbClr>
                </a:gs>
              </a:gsLst>
              <a:lin ang="5400000" scaled="1"/>
            </a:gradFill>
            <a:ln>
              <a:noFill/>
            </a:ln>
          </p:spPr>
        </p:sp>
      </p:grpSp>
      <p:grpSp>
        <p:nvGrpSpPr>
          <p:cNvPr id="9" name="Group 9"/>
          <p:cNvGrpSpPr/>
          <p:nvPr/>
        </p:nvGrpSpPr>
        <p:grpSpPr>
          <a:xfrm>
            <a:off x="571500" y="571500"/>
            <a:ext cx="2258045" cy="321469"/>
            <a:chOff x="571500" y="571500"/>
            <a:chExt cx="2258045" cy="321469"/>
          </a:xfrm>
        </p:grpSpPr>
        <p:sp>
          <p:nvSpPr>
            <p:cNvPr id="7" name="Rectangle 7"/>
            <p:cNvSpPr/>
            <p:nvPr/>
          </p:nvSpPr>
          <p:spPr>
            <a:xfrm>
              <a:off x="571500" y="571500"/>
              <a:ext cx="28575" cy="304800"/>
            </a:xfrm>
            <a:prstGeom prst="rect">
              <a:avLst/>
            </a:prstGeom>
            <a:solidFill>
              <a:srgbClr val="C2410C"/>
            </a:solidFill>
            <a:ln>
              <a:noFill/>
            </a:ln>
          </p:spPr>
        </p:sp>
        <p:sp>
          <p:nvSpPr>
            <p:cNvPr id="8" name="TextBox 8"/>
            <p:cNvSpPr txBox="1"/>
            <p:nvPr/>
          </p:nvSpPr>
          <p:spPr>
            <a:xfrm>
              <a:off x="711518" y="694849"/>
              <a:ext cx="2118027"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Georgia"/>
                  <a:ea typeface="SimSun"/>
                  <a:cs typeface="Georgia"/>
                </a:rPr>
                <a:t>IV · 困局 · THE REAL HARDNESS</a:t>
              </a:r>
            </a:p>
          </p:txBody>
        </p:sp>
      </p:grpSp>
      <p:grpSp>
        <p:nvGrpSpPr>
          <p:cNvPr id="11" name="Group 11"/>
          <p:cNvGrpSpPr/>
          <p:nvPr/>
        </p:nvGrpSpPr>
        <p:grpSpPr>
          <a:xfrm>
            <a:off x="762000" y="1047750"/>
            <a:ext cx="1646158" cy="3048000"/>
            <a:chOff x="762000" y="1047750"/>
            <a:chExt cx="1646158" cy="3048000"/>
          </a:xfrm>
        </p:grpSpPr>
        <p:sp>
          <p:nvSpPr>
            <p:cNvPr id="10" name="TextBox 10"/>
            <p:cNvSpPr txBox="1"/>
            <p:nvPr/>
          </p:nvSpPr>
          <p:spPr>
            <a:xfrm>
              <a:off x="762000" y="1047750"/>
              <a:ext cx="1646158" cy="3048000"/>
            </a:xfrm>
            <a:prstGeom prst="rect">
              <a:avLst/>
            </a:prstGeom>
            <a:noFill/>
            <a:ln>
              <a:noFill/>
            </a:ln>
          </p:spPr>
          <p:txBody>
            <a:bodyPr wrap="none" lIns="0" tIns="0" rIns="0" bIns="0" anchor="t" anchorCtr="0">
              <a:spAutoFit/>
            </a:bodyPr>
            <a:lstStyle/>
            <a:p>
              <a:pPr algn="l"/>
              <a:r>
                <a:rPr lang="zh-CN" sz="15000" b="1" dirty="0">
                  <a:solidFill>
                    <a:srgbClr val="C2410C">
                      <a:alphaMod val="18000"/>
                    </a:srgbClr>
                  </a:solidFill>
                  <a:latin typeface="Georgia"/>
                  <a:ea typeface="SimSun"/>
                  <a:cs typeface="Georgia"/>
                </a:rPr>
                <a:t>"</a:t>
              </a:r>
            </a:p>
          </p:txBody>
        </p:sp>
      </p:grpSp>
      <p:grpSp>
        <p:nvGrpSpPr>
          <p:cNvPr id="16" name="Group 16"/>
          <p:cNvGrpSpPr/>
          <p:nvPr/>
        </p:nvGrpSpPr>
        <p:grpSpPr>
          <a:xfrm>
            <a:off x="1668780" y="2183130"/>
            <a:ext cx="6219406" cy="1731645"/>
            <a:chOff x="1668780" y="2183130"/>
            <a:chExt cx="6219406" cy="1731645"/>
          </a:xfrm>
        </p:grpSpPr>
        <p:sp>
          <p:nvSpPr>
            <p:cNvPr id="12" name="TextBox 12"/>
            <p:cNvSpPr txBox="1"/>
            <p:nvPr/>
          </p:nvSpPr>
          <p:spPr>
            <a:xfrm>
              <a:off x="1668780" y="2183130"/>
              <a:ext cx="6219406" cy="731520"/>
            </a:xfrm>
            <a:prstGeom prst="rect">
              <a:avLst/>
            </a:prstGeom>
            <a:noFill/>
            <a:ln>
              <a:noFill/>
            </a:ln>
          </p:spPr>
          <p:txBody>
            <a:bodyPr wrap="none" lIns="0" tIns="0" rIns="0" bIns="0" anchor="t" anchorCtr="0">
              <a:spAutoFit/>
            </a:bodyPr>
            <a:lstStyle/>
            <a:p>
              <a:pPr algn="l"/>
              <a:r>
                <a:rPr lang="zh-CN" sz="3600" b="1" dirty="0">
                  <a:solidFill>
                    <a:srgbClr val="2B3A4A"/>
                  </a:solidFill>
                  <a:latin typeface="Georgia"/>
                  <a:ea typeface="KaiTi"/>
                  <a:cs typeface="Georgia"/>
                </a:rPr>
                <a:t>"原拆原建"在高层项目中</a:t>
              </a:r>
            </a:p>
          </p:txBody>
        </p:sp>
        <p:sp>
          <p:nvSpPr>
            <p:cNvPr id="13" name="TextBox 13"/>
            <p:cNvSpPr txBox="1"/>
            <p:nvPr/>
          </p:nvSpPr>
          <p:spPr>
            <a:xfrm>
              <a:off x="1668780" y="2735580"/>
              <a:ext cx="3403854" cy="731520"/>
            </a:xfrm>
            <a:prstGeom prst="rect">
              <a:avLst/>
            </a:prstGeom>
            <a:noFill/>
            <a:ln>
              <a:noFill/>
            </a:ln>
          </p:spPr>
          <p:txBody>
            <a:bodyPr wrap="none" lIns="0" tIns="0" rIns="0" bIns="0" anchor="t" anchorCtr="0">
              <a:spAutoFit/>
            </a:bodyPr>
            <a:lstStyle/>
            <a:p>
              <a:pPr algn="l"/>
              <a:r>
                <a:rPr lang="zh-CN" sz="3600" b="1" dirty="0">
                  <a:solidFill>
                    <a:srgbClr val="2B3A4A"/>
                  </a:solidFill>
                  <a:latin typeface="Georgia"/>
                  <a:ea typeface="KaiTi"/>
                  <a:cs typeface="Georgia"/>
                </a:rPr>
                <a:t>注定</a:t>
              </a:r>
              <a:r>
                <a:rPr lang="zh-CN" sz="3600" b="1" dirty="0">
                  <a:solidFill>
                    <a:srgbClr val="C2410C"/>
                  </a:solidFill>
                  <a:latin typeface="Georgia"/>
                  <a:ea typeface="KaiTi"/>
                  <a:cs typeface="Georgia"/>
                </a:rPr>
                <a:t>极其复杂</a:t>
              </a:r>
            </a:p>
          </p:txBody>
        </p:sp>
        <p:sp>
          <p:nvSpPr>
            <p:cNvPr id="14" name="Line 14"/>
            <p:cNvSpPr/>
            <p:nvPr/>
          </p:nvSpPr>
          <p:spPr>
            <a:xfrm>
              <a:off x="1714500" y="3429000"/>
              <a:ext cx="952500" cy="9525"/>
            </a:xfrm>
            <a:custGeom>
              <a:avLst/>
              <a:gdLst/>
              <a:ahLst/>
              <a:cxnLst/>
              <a:rect l="l" t="t" r="r" b="b"/>
              <a:pathLst>
                <a:path w="952500" h="9525">
                  <a:moveTo>
                    <a:pt x="0" y="0"/>
                  </a:moveTo>
                  <a:lnTo>
                    <a:pt x="952500" y="0"/>
                  </a:lnTo>
                </a:path>
              </a:pathLst>
            </a:custGeom>
            <a:noFill/>
            <a:ln w="19050">
              <a:solidFill>
                <a:srgbClr val="C2410C"/>
              </a:solidFill>
            </a:ln>
          </p:spPr>
        </p:sp>
        <p:sp>
          <p:nvSpPr>
            <p:cNvPr id="15" name="TextBox 15"/>
            <p:cNvSpPr txBox="1"/>
            <p:nvPr/>
          </p:nvSpPr>
          <p:spPr>
            <a:xfrm>
              <a:off x="1695450" y="3609975"/>
              <a:ext cx="3795236" cy="304800"/>
            </a:xfrm>
            <a:prstGeom prst="rect">
              <a:avLst/>
            </a:prstGeom>
            <a:noFill/>
            <a:ln>
              <a:noFill/>
            </a:ln>
          </p:spPr>
          <p:txBody>
            <a:bodyPr wrap="none" lIns="0" tIns="0" rIns="0" bIns="0" anchor="t" anchorCtr="0">
              <a:spAutoFit/>
            </a:bodyPr>
            <a:lstStyle/>
            <a:p>
              <a:pPr algn="l"/>
              <a:r>
                <a:rPr lang="zh-CN" sz="1500" i="1" dirty="0">
                  <a:solidFill>
                    <a:srgbClr val="5A6B7A"/>
                  </a:solidFill>
                  <a:latin typeface="Georgia"/>
                  <a:ea typeface="KaiTi"/>
                  <a:cs typeface="Georgia"/>
                </a:rPr>
                <a:t>户数更多 · 全体业主达成共识的难度大</a:t>
              </a:r>
            </a:p>
          </p:txBody>
        </p:sp>
      </p:grpSp>
      <p:grpSp>
        <p:nvGrpSpPr>
          <p:cNvPr id="24" name="Group 24"/>
          <p:cNvGrpSpPr/>
          <p:nvPr/>
        </p:nvGrpSpPr>
        <p:grpSpPr>
          <a:xfrm>
            <a:off x="1714500" y="4191000"/>
            <a:ext cx="4762500" cy="1714500"/>
            <a:chOff x="1714500" y="4191000"/>
            <a:chExt cx="4762500" cy="1714500"/>
          </a:xfrm>
        </p:grpSpPr>
        <p:sp>
          <p:nvSpPr>
            <p:cNvPr id="17" name="Rectangle 17"/>
            <p:cNvSpPr/>
            <p:nvPr/>
          </p:nvSpPr>
          <p:spPr>
            <a:xfrm>
              <a:off x="1714500" y="4191000"/>
              <a:ext cx="4762500" cy="1714500"/>
            </a:xfrm>
            <a:prstGeom prst="roundRect">
              <a:avLst>
                <a:gd name="adj" fmla="val 2222"/>
              </a:avLst>
            </a:prstGeom>
            <a:solidFill>
              <a:srgbClr val="FFFFFF"/>
            </a:solidFill>
            <a:ln w="9525">
              <a:solidFill>
                <a:srgbClr val="D6CFC0"/>
              </a:solidFill>
            </a:ln>
          </p:spPr>
        </p:sp>
        <p:sp>
          <p:nvSpPr>
            <p:cNvPr id="18" name="Rectangle 18"/>
            <p:cNvSpPr/>
            <p:nvPr/>
          </p:nvSpPr>
          <p:spPr>
            <a:xfrm>
              <a:off x="1714500" y="4191000"/>
              <a:ext cx="38100" cy="1714500"/>
            </a:xfrm>
            <a:prstGeom prst="rect">
              <a:avLst/>
            </a:prstGeom>
            <a:solidFill>
              <a:srgbClr val="C2410C"/>
            </a:solidFill>
            <a:ln>
              <a:noFill/>
            </a:ln>
          </p:spPr>
        </p:sp>
        <p:sp>
          <p:nvSpPr>
            <p:cNvPr id="19" name="TextBox 19"/>
            <p:cNvSpPr txBox="1"/>
            <p:nvPr/>
          </p:nvSpPr>
          <p:spPr>
            <a:xfrm>
              <a:off x="1968818" y="4447699"/>
              <a:ext cx="622840" cy="198120"/>
            </a:xfrm>
            <a:prstGeom prst="rect">
              <a:avLst/>
            </a:prstGeom>
            <a:noFill/>
            <a:ln>
              <a:noFill/>
            </a:ln>
          </p:spPr>
          <p:txBody>
            <a:bodyPr wrap="none" lIns="0" tIns="0" rIns="0" bIns="0" anchor="t" anchorCtr="0">
              <a:spAutoFit/>
            </a:bodyPr>
            <a:lstStyle/>
            <a:p>
              <a:pPr algn="l"/>
              <a:r>
                <a:rPr lang="zh-CN" sz="975" b="1" dirty="0">
                  <a:solidFill>
                    <a:srgbClr val="C2410C"/>
                  </a:solidFill>
                  <a:latin typeface="Segoe UI"/>
                  <a:ea typeface="Microsoft YaHei"/>
                  <a:cs typeface="Segoe UI"/>
                </a:rPr>
                <a:t>现实难题</a:t>
              </a:r>
            </a:p>
          </p:txBody>
        </p:sp>
        <p:sp>
          <p:nvSpPr>
            <p:cNvPr id="20" name="TextBox 20"/>
            <p:cNvSpPr txBox="1"/>
            <p:nvPr/>
          </p:nvSpPr>
          <p:spPr>
            <a:xfrm>
              <a:off x="1954530" y="4707255"/>
              <a:ext cx="2017786" cy="426720"/>
            </a:xfrm>
            <a:prstGeom prst="rect">
              <a:avLst/>
            </a:prstGeom>
            <a:noFill/>
            <a:ln>
              <a:noFill/>
            </a:ln>
          </p:spPr>
          <p:txBody>
            <a:bodyPr wrap="none" lIns="0" tIns="0" rIns="0" bIns="0" anchor="t" anchorCtr="0">
              <a:spAutoFit/>
            </a:bodyPr>
            <a:lstStyle/>
            <a:p>
              <a:pPr algn="l"/>
              <a:r>
                <a:rPr lang="zh-CN" sz="2100" b="1" dirty="0">
                  <a:solidFill>
                    <a:srgbClr val="2B3A4A"/>
                  </a:solidFill>
                  <a:latin typeface="Georgia"/>
                  <a:ea typeface="KaiTi"/>
                  <a:cs typeface="Georgia"/>
                </a:rPr>
                <a:t>"让每家掏钱"</a:t>
              </a:r>
            </a:p>
          </p:txBody>
        </p:sp>
        <p:sp>
          <p:nvSpPr>
            <p:cNvPr id="21" name="TextBox 21"/>
            <p:cNvSpPr txBox="1"/>
            <p:nvPr/>
          </p:nvSpPr>
          <p:spPr>
            <a:xfrm>
              <a:off x="1966912" y="5174456"/>
              <a:ext cx="3010733"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维护资金从哪出、由谁出 — 仍在探索阶段</a:t>
              </a:r>
            </a:p>
          </p:txBody>
        </p:sp>
        <p:sp>
          <p:nvSpPr>
            <p:cNvPr id="22" name="TextBox 22"/>
            <p:cNvSpPr txBox="1"/>
            <p:nvPr/>
          </p:nvSpPr>
          <p:spPr>
            <a:xfrm>
              <a:off x="1966912" y="5422106"/>
              <a:ext cx="1835944"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Segoe UI"/>
                  <a:ea typeface="Microsoft YaHei"/>
                  <a:cs typeface="Segoe UI"/>
                </a:rPr>
                <a:t>让许多改造项目</a:t>
              </a:r>
              <a:r>
                <a:rPr lang="zh-CN" sz="1125" b="1" dirty="0">
                  <a:solidFill>
                    <a:srgbClr val="C2410C"/>
                  </a:solidFill>
                  <a:latin typeface="Segoe UI"/>
                  <a:ea typeface="Microsoft YaHei"/>
                  <a:cs typeface="Segoe UI"/>
                </a:rPr>
                <a:t>陷入停滞</a:t>
              </a:r>
            </a:p>
          </p:txBody>
        </p:sp>
        <p:sp>
          <p:nvSpPr>
            <p:cNvPr id="23" name="TextBox 23"/>
            <p:cNvSpPr txBox="1"/>
            <p:nvPr/>
          </p:nvSpPr>
          <p:spPr>
            <a:xfrm>
              <a:off x="1968818" y="5685949"/>
              <a:ext cx="3157538" cy="198120"/>
            </a:xfrm>
            <a:prstGeom prst="rect">
              <a:avLst/>
            </a:prstGeom>
            <a:noFill/>
            <a:ln>
              <a:noFill/>
            </a:ln>
          </p:spPr>
          <p:txBody>
            <a:bodyPr wrap="none" lIns="0" tIns="0" rIns="0" bIns="0" anchor="t" anchorCtr="0">
              <a:spAutoFit/>
            </a:bodyPr>
            <a:lstStyle/>
            <a:p>
              <a:pPr algn="l"/>
              <a:r>
                <a:rPr lang="zh-CN" sz="975" dirty="0">
                  <a:solidFill>
                    <a:srgbClr val="8A8275"/>
                  </a:solidFill>
                  <a:latin typeface="Segoe UI"/>
                  <a:ea typeface="Microsoft YaHei"/>
                  <a:cs typeface="Segoe UI"/>
                </a:rPr>
                <a:t>业主、开发商、政府之间的成本分摊机制尚未成熟</a:t>
              </a:r>
            </a:p>
          </p:txBody>
        </p:sp>
      </p:grpSp>
      <p:grpSp>
        <p:nvGrpSpPr>
          <p:cNvPr id="32" name="Group 32"/>
          <p:cNvGrpSpPr/>
          <p:nvPr/>
        </p:nvGrpSpPr>
        <p:grpSpPr>
          <a:xfrm>
            <a:off x="6667500" y="4191000"/>
            <a:ext cx="4762500" cy="1714500"/>
            <a:chOff x="6667500" y="4191000"/>
            <a:chExt cx="4762500" cy="1714500"/>
          </a:xfrm>
        </p:grpSpPr>
        <p:sp>
          <p:nvSpPr>
            <p:cNvPr id="25" name="Rectangle 25"/>
            <p:cNvSpPr/>
            <p:nvPr/>
          </p:nvSpPr>
          <p:spPr>
            <a:xfrm>
              <a:off x="6667500" y="4191000"/>
              <a:ext cx="4762500" cy="1714500"/>
            </a:xfrm>
            <a:prstGeom prst="roundRect">
              <a:avLst>
                <a:gd name="adj" fmla="val 2222"/>
              </a:avLst>
            </a:prstGeom>
            <a:solidFill>
              <a:srgbClr val="2B3A4A"/>
            </a:solidFill>
            <a:ln>
              <a:noFill/>
            </a:ln>
          </p:spPr>
        </p:sp>
        <p:sp>
          <p:nvSpPr>
            <p:cNvPr id="26" name="Rectangle 26"/>
            <p:cNvSpPr/>
            <p:nvPr/>
          </p:nvSpPr>
          <p:spPr>
            <a:xfrm>
              <a:off x="6667500" y="4191000"/>
              <a:ext cx="38100" cy="1714500"/>
            </a:xfrm>
            <a:prstGeom prst="rect">
              <a:avLst/>
            </a:prstGeom>
            <a:solidFill>
              <a:srgbClr val="6B7A4F"/>
            </a:solidFill>
            <a:ln>
              <a:noFill/>
            </a:ln>
          </p:spPr>
        </p:sp>
        <p:sp>
          <p:nvSpPr>
            <p:cNvPr id="27" name="TextBox 27"/>
            <p:cNvSpPr txBox="1"/>
            <p:nvPr/>
          </p:nvSpPr>
          <p:spPr>
            <a:xfrm>
              <a:off x="6921818" y="4447699"/>
              <a:ext cx="772358" cy="198120"/>
            </a:xfrm>
            <a:prstGeom prst="rect">
              <a:avLst/>
            </a:prstGeom>
            <a:noFill/>
            <a:ln>
              <a:noFill/>
            </a:ln>
          </p:spPr>
          <p:txBody>
            <a:bodyPr wrap="none" lIns="0" tIns="0" rIns="0" bIns="0" anchor="t" anchorCtr="0">
              <a:spAutoFit/>
            </a:bodyPr>
            <a:lstStyle/>
            <a:p>
              <a:pPr algn="l"/>
              <a:r>
                <a:rPr lang="zh-CN" sz="975" b="1" dirty="0">
                  <a:solidFill>
                    <a:srgbClr val="A8C575"/>
                  </a:solidFill>
                  <a:latin typeface="Segoe UI"/>
                  <a:ea typeface="Microsoft YaHei"/>
                  <a:cs typeface="Segoe UI"/>
                </a:rPr>
                <a:t>可能的出路</a:t>
              </a:r>
            </a:p>
          </p:txBody>
        </p:sp>
        <p:sp>
          <p:nvSpPr>
            <p:cNvPr id="28" name="TextBox 28"/>
            <p:cNvSpPr txBox="1"/>
            <p:nvPr/>
          </p:nvSpPr>
          <p:spPr>
            <a:xfrm>
              <a:off x="6907530" y="4707255"/>
              <a:ext cx="2339826" cy="426720"/>
            </a:xfrm>
            <a:prstGeom prst="rect">
              <a:avLst/>
            </a:prstGeom>
            <a:noFill/>
            <a:ln>
              <a:noFill/>
            </a:ln>
          </p:spPr>
          <p:txBody>
            <a:bodyPr wrap="none" lIns="0" tIns="0" rIns="0" bIns="0" anchor="t" anchorCtr="0">
              <a:spAutoFit/>
            </a:bodyPr>
            <a:lstStyle/>
            <a:p>
              <a:pPr algn="l"/>
              <a:r>
                <a:rPr lang="zh-CN" sz="2100" b="1" dirty="0">
                  <a:solidFill>
                    <a:srgbClr val="F5F2EC"/>
                  </a:solidFill>
                  <a:latin typeface="Georgia"/>
                  <a:ea typeface="KaiTi"/>
                  <a:cs typeface="Georgia"/>
                </a:rPr>
                <a:t>"共建共治共享"</a:t>
              </a:r>
            </a:p>
          </p:txBody>
        </p:sp>
        <p:sp>
          <p:nvSpPr>
            <p:cNvPr id="29" name="TextBox 29"/>
            <p:cNvSpPr txBox="1"/>
            <p:nvPr/>
          </p:nvSpPr>
          <p:spPr>
            <a:xfrm>
              <a:off x="6919912" y="5174456"/>
              <a:ext cx="2821781" cy="228600"/>
            </a:xfrm>
            <a:prstGeom prst="rect">
              <a:avLst/>
            </a:prstGeom>
            <a:noFill/>
            <a:ln>
              <a:noFill/>
            </a:ln>
          </p:spPr>
          <p:txBody>
            <a:bodyPr wrap="none" lIns="0" tIns="0" rIns="0" bIns="0" anchor="t" anchorCtr="0">
              <a:spAutoFit/>
            </a:bodyPr>
            <a:lstStyle/>
            <a:p>
              <a:pPr algn="l"/>
              <a:r>
                <a:rPr lang="zh-CN" sz="1125" dirty="0">
                  <a:solidFill>
                    <a:srgbClr val="D6CFC0"/>
                  </a:solidFill>
                  <a:latin typeface="Segoe UI"/>
                  <a:ea typeface="Microsoft YaHei"/>
                  <a:cs typeface="Segoe UI"/>
                </a:rPr>
                <a:t>解锁困局的密码可能在于</a:t>
              </a:r>
              <a:r>
                <a:rPr lang="zh-CN" sz="1125" b="1" dirty="0">
                  <a:solidFill>
                    <a:srgbClr val="A8C575"/>
                  </a:solidFill>
                  <a:latin typeface="Segoe UI"/>
                  <a:ea typeface="Microsoft YaHei"/>
                  <a:cs typeface="Segoe UI"/>
                </a:rPr>
                <a:t>治理模式创新</a:t>
              </a:r>
            </a:p>
          </p:txBody>
        </p:sp>
        <p:sp>
          <p:nvSpPr>
            <p:cNvPr id="30" name="TextBox 30"/>
            <p:cNvSpPr txBox="1"/>
            <p:nvPr/>
          </p:nvSpPr>
          <p:spPr>
            <a:xfrm>
              <a:off x="6919912" y="5422106"/>
              <a:ext cx="2879288" cy="228600"/>
            </a:xfrm>
            <a:prstGeom prst="rect">
              <a:avLst/>
            </a:prstGeom>
            <a:noFill/>
            <a:ln>
              <a:noFill/>
            </a:ln>
          </p:spPr>
          <p:txBody>
            <a:bodyPr wrap="none" lIns="0" tIns="0" rIns="0" bIns="0" anchor="t" anchorCtr="0">
              <a:spAutoFit/>
            </a:bodyPr>
            <a:lstStyle/>
            <a:p>
              <a:pPr algn="l"/>
              <a:r>
                <a:rPr lang="zh-CN" sz="1125" dirty="0">
                  <a:solidFill>
                    <a:srgbClr val="D6CFC0"/>
                  </a:solidFill>
                  <a:latin typeface="Segoe UI"/>
                  <a:ea typeface="Microsoft YaHei"/>
                  <a:cs typeface="Segoe UI"/>
                </a:rPr>
                <a:t>设立高层"养老金" · 借鉴"居委会"自管</a:t>
              </a:r>
            </a:p>
          </p:txBody>
        </p:sp>
        <p:sp>
          <p:nvSpPr>
            <p:cNvPr id="31" name="TextBox 31"/>
            <p:cNvSpPr txBox="1"/>
            <p:nvPr/>
          </p:nvSpPr>
          <p:spPr>
            <a:xfrm>
              <a:off x="6921818" y="5685949"/>
              <a:ext cx="3193137" cy="198120"/>
            </a:xfrm>
            <a:prstGeom prst="rect">
              <a:avLst/>
            </a:prstGeom>
            <a:noFill/>
            <a:ln>
              <a:noFill/>
            </a:ln>
          </p:spPr>
          <p:txBody>
            <a:bodyPr wrap="none" lIns="0" tIns="0" rIns="0" bIns="0" anchor="t" anchorCtr="0">
              <a:spAutoFit/>
            </a:bodyPr>
            <a:lstStyle/>
            <a:p>
              <a:pPr algn="l"/>
              <a:r>
                <a:rPr lang="zh-CN" sz="975" dirty="0">
                  <a:solidFill>
                    <a:srgbClr val="A8B0B8"/>
                  </a:solidFill>
                  <a:latin typeface="Segoe UI"/>
                  <a:ea typeface="Microsoft YaHei"/>
                  <a:cs typeface="Segoe UI"/>
                </a:rPr>
                <a:t>让居民对高层住宅进行自我管理 — 从"微更新"做起</a:t>
              </a:r>
            </a:p>
          </p:txBody>
        </p:sp>
      </p:grpSp>
      <p:grpSp>
        <p:nvGrpSpPr>
          <p:cNvPr id="35" name="Group 35"/>
          <p:cNvGrpSpPr/>
          <p:nvPr/>
        </p:nvGrpSpPr>
        <p:grpSpPr>
          <a:xfrm>
            <a:off x="559118" y="6505099"/>
            <a:ext cx="11072812" cy="198120"/>
            <a:chOff x="559118" y="6505099"/>
            <a:chExt cx="11072812" cy="198120"/>
          </a:xfrm>
        </p:grpSpPr>
        <p:sp>
          <p:nvSpPr>
            <p:cNvPr id="33" name="TextBox 33"/>
            <p:cNvSpPr txBox="1"/>
            <p:nvPr/>
          </p:nvSpPr>
          <p:spPr>
            <a:xfrm>
              <a:off x="559118" y="6505099"/>
              <a:ext cx="3442335" cy="198120"/>
            </a:xfrm>
            <a:prstGeom prst="rect">
              <a:avLst/>
            </a:prstGeom>
            <a:noFill/>
            <a:ln>
              <a:noFill/>
            </a:ln>
          </p:spPr>
          <p:txBody>
            <a:bodyPr wrap="none" lIns="0" tIns="0" rIns="0" bIns="0" anchor="t" anchorCtr="0">
              <a:spAutoFit/>
            </a:bodyPr>
            <a:lstStyle/>
            <a:p>
              <a:pPr algn="l"/>
              <a:r>
                <a:rPr lang="zh-CN" sz="975" i="1" dirty="0">
                  <a:solidFill>
                    <a:srgbClr val="5A6B7A"/>
                  </a:solidFill>
                  <a:latin typeface="Georgia"/>
                  <a:ea typeface="KaiTi"/>
                  <a:cs typeface="Georgia"/>
                </a:rPr>
                <a:t>技术方案重要，但解锁困局的密码，可能藏在治理之中</a:t>
              </a:r>
            </a:p>
          </p:txBody>
        </p:sp>
        <p:sp>
          <p:nvSpPr>
            <p:cNvPr id="34" name="TextBox 34"/>
            <p:cNvSpPr txBox="1"/>
            <p:nvPr/>
          </p:nvSpPr>
          <p:spPr>
            <a:xfrm>
              <a:off x="11234452" y="6513195"/>
              <a:ext cx="397478" cy="182880"/>
            </a:xfrm>
            <a:prstGeom prst="rect">
              <a:avLst/>
            </a:prstGeom>
            <a:noFill/>
            <a:ln>
              <a:noFill/>
            </a:ln>
          </p:spPr>
          <p:txBody>
            <a:bodyPr wrap="none" lIns="0" tIns="0" rIns="0" bIns="0" anchor="t" anchorCtr="0">
              <a:spAutoFit/>
            </a:bodyPr>
            <a:lstStyle/>
            <a:p>
              <a:pPr algn="r"/>
              <a:r>
                <a:rPr lang="zh-CN" sz="900" dirty="0">
                  <a:solidFill>
                    <a:srgbClr val="5A6B7A"/>
                  </a:solidFill>
                  <a:latin typeface="Georgia"/>
                  <a:ea typeface="SimSun"/>
                  <a:cs typeface="Georgia"/>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inVertical)">
                                      <p:cBhvr>
                                        <p:cTn id="11" dur="400"/>
                                        <p:tgtEl>
                                          <p:spTgt spid="16"/>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trips(downRight)">
                                      <p:cBhvr>
                                        <p:cTn id="15" dur="400"/>
                                        <p:tgtEl>
                                          <p:spTgt spid="24"/>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edge">
                                      <p:cBhvr>
                                        <p:cTn id="1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24"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A2530"/>
            </a:solidFill>
            <a:ln>
              <a:noFill/>
            </a:ln>
          </p:spPr>
        </p:sp>
        <p:pic>
          <p:nvPicPr>
            <p:cNvPr id="3" name="Image 3"/>
            <p:cNvPicPr>
              <a:picLocks noChangeAspect="1"/>
            </p:cNvPicPr>
            <p:nvPr/>
          </p:nvPicPr>
          <p:blipFill>
            <a:blip r:embed="rId2"/>
            <a:srcRect l="0" t="7988" r="0" b="7988"/>
            <a:stretch>
              <a:fillRect/>
            </a:stretch>
          </p:blipFill>
          <p:spPr>
            <a:xfrm>
              <a:off x="0" y="0"/>
              <a:ext cx="12192000" cy="6858000"/>
            </a:xfrm>
            <a:prstGeom prst="rect">
              <a:avLst/>
            </a:prstGeom>
          </p:spPr>
        </p:pic>
        <p:sp>
          <p:nvSpPr>
            <p:cNvPr id="4" name="Rectangle 4"/>
            <p:cNvSpPr/>
            <p:nvPr/>
          </p:nvSpPr>
          <p:spPr>
            <a:xfrm>
              <a:off x="0" y="0"/>
              <a:ext cx="12192000" cy="6858000"/>
            </a:xfrm>
            <a:prstGeom prst="rect">
              <a:avLst/>
            </a:prstGeom>
            <a:gradFill>
              <a:gsLst>
                <a:gs pos="0">
                  <a:srgbClr val="1A2530">
                    <a:alpha val="30000"/>
                  </a:srgbClr>
                </a:gs>
                <a:gs pos="55000">
                  <a:srgbClr val="1A2530">
                    <a:alpha val="70000"/>
                  </a:srgbClr>
                </a:gs>
                <a:gs pos="100000">
                  <a:srgbClr val="1A2530">
                    <a:alpha val="92000"/>
                  </a:srgbClr>
                </a:gs>
              </a:gsLst>
              <a:lin ang="5400000" scaled="1"/>
            </a:gradFill>
            <a:ln>
              <a:noFill/>
            </a:ln>
          </p:spPr>
        </p:sp>
      </p:grpSp>
      <p:grpSp>
        <p:nvGrpSpPr>
          <p:cNvPr id="9" name="Group 9"/>
          <p:cNvGrpSpPr/>
          <p:nvPr/>
        </p:nvGrpSpPr>
        <p:grpSpPr>
          <a:xfrm>
            <a:off x="571500" y="571500"/>
            <a:ext cx="11061383" cy="321469"/>
            <a:chOff x="571500" y="571500"/>
            <a:chExt cx="11061383" cy="321469"/>
          </a:xfrm>
        </p:grpSpPr>
        <p:sp>
          <p:nvSpPr>
            <p:cNvPr id="6" name="Rectangle 6"/>
            <p:cNvSpPr/>
            <p:nvPr/>
          </p:nvSpPr>
          <p:spPr>
            <a:xfrm>
              <a:off x="571500" y="571500"/>
              <a:ext cx="28575" cy="304800"/>
            </a:xfrm>
            <a:prstGeom prst="rect">
              <a:avLst/>
            </a:prstGeom>
            <a:solidFill>
              <a:srgbClr val="A8C575"/>
            </a:solidFill>
            <a:ln>
              <a:noFill/>
            </a:ln>
          </p:spPr>
        </p:sp>
        <p:sp>
          <p:nvSpPr>
            <p:cNvPr id="7" name="TextBox 7"/>
            <p:cNvSpPr txBox="1"/>
            <p:nvPr/>
          </p:nvSpPr>
          <p:spPr>
            <a:xfrm>
              <a:off x="711518" y="694849"/>
              <a:ext cx="1497524" cy="198120"/>
            </a:xfrm>
            <a:prstGeom prst="rect">
              <a:avLst/>
            </a:prstGeom>
            <a:noFill/>
            <a:ln>
              <a:noFill/>
            </a:ln>
          </p:spPr>
          <p:txBody>
            <a:bodyPr wrap="none" lIns="0" tIns="0" rIns="0" bIns="0" anchor="t" anchorCtr="0">
              <a:spAutoFit/>
            </a:bodyPr>
            <a:lstStyle/>
            <a:p>
              <a:pPr algn="l"/>
              <a:r>
                <a:rPr lang="zh-CN" sz="975" b="1" dirty="0">
                  <a:solidFill>
                    <a:srgbClr val="F5F2EC"/>
                  </a:solidFill>
                  <a:latin typeface="Georgia"/>
                  <a:ea typeface="SimSun"/>
                  <a:cs typeface="Georgia"/>
                </a:rPr>
                <a:t>CONCLUSION · ENDING</a:t>
              </a:r>
            </a:p>
          </p:txBody>
        </p:sp>
        <p:sp>
          <p:nvSpPr>
            <p:cNvPr id="8" name="TextBox 8"/>
            <p:cNvSpPr txBox="1"/>
            <p:nvPr/>
          </p:nvSpPr>
          <p:spPr>
            <a:xfrm>
              <a:off x="9308378" y="694849"/>
              <a:ext cx="2324505" cy="198120"/>
            </a:xfrm>
            <a:prstGeom prst="rect">
              <a:avLst/>
            </a:prstGeom>
            <a:noFill/>
            <a:ln>
              <a:noFill/>
            </a:ln>
          </p:spPr>
          <p:txBody>
            <a:bodyPr wrap="none" lIns="0" tIns="0" rIns="0" bIns="0" anchor="t" anchorCtr="0">
              <a:spAutoFit/>
            </a:bodyPr>
            <a:lstStyle/>
            <a:p>
              <a:pPr algn="r"/>
              <a:r>
                <a:rPr lang="zh-CN" sz="975" dirty="0">
                  <a:solidFill>
                    <a:srgbClr val="D6CFC0"/>
                  </a:solidFill>
                  <a:latin typeface="Georgia"/>
                  <a:ea typeface="SimSun"/>
                  <a:cs typeface="Georgia"/>
                </a:rPr>
                <a:t>CHINA · 297 CITIES · 150+ COUNTIES</a:t>
              </a:r>
            </a:p>
          </p:txBody>
        </p:sp>
      </p:grpSp>
      <p:grpSp>
        <p:nvGrpSpPr>
          <p:cNvPr id="13" name="Group 13"/>
          <p:cNvGrpSpPr/>
          <p:nvPr/>
        </p:nvGrpSpPr>
        <p:grpSpPr>
          <a:xfrm>
            <a:off x="529590" y="1263015"/>
            <a:ext cx="5650516" cy="1072991"/>
            <a:chOff x="529590" y="1263015"/>
            <a:chExt cx="5650516" cy="1072991"/>
          </a:xfrm>
        </p:grpSpPr>
        <p:sp>
          <p:nvSpPr>
            <p:cNvPr id="10" name="TextBox 10"/>
            <p:cNvSpPr txBox="1"/>
            <p:nvPr/>
          </p:nvSpPr>
          <p:spPr>
            <a:xfrm>
              <a:off x="529590" y="1263015"/>
              <a:ext cx="5650516" cy="670560"/>
            </a:xfrm>
            <a:prstGeom prst="rect">
              <a:avLst/>
            </a:prstGeom>
            <a:noFill/>
            <a:ln>
              <a:noFill/>
            </a:ln>
          </p:spPr>
          <p:txBody>
            <a:bodyPr wrap="none" lIns="0" tIns="0" rIns="0" bIns="0" anchor="t" anchorCtr="0">
              <a:spAutoFit/>
            </a:bodyPr>
            <a:lstStyle/>
            <a:p>
              <a:pPr algn="l"/>
              <a:r>
                <a:rPr lang="zh-CN" sz="3300" b="1" dirty="0">
                  <a:solidFill>
                    <a:srgbClr val="F5F2EC"/>
                  </a:solidFill>
                  <a:latin typeface="Georgia"/>
                  <a:ea typeface="KaiTi"/>
                  <a:cs typeface="Georgia"/>
                </a:rPr>
                <a:t>从追求</a:t>
              </a:r>
              <a:r>
                <a:rPr lang="zh-CN" sz="3300" b="1" dirty="0">
                  <a:solidFill>
                    <a:srgbClr val="D6CFC0"/>
                  </a:solidFill>
                  <a:latin typeface="Georgia"/>
                  <a:ea typeface="KaiTi"/>
                  <a:cs typeface="Georgia"/>
                </a:rPr>
                <a:t>高度</a:t>
              </a:r>
              <a:r>
                <a:rPr lang="zh-CN" sz="3300" b="1" dirty="0">
                  <a:solidFill>
                    <a:srgbClr val="F5F2EC"/>
                  </a:solidFill>
                  <a:latin typeface="Georgia"/>
                  <a:ea typeface="KaiTi"/>
                  <a:cs typeface="Georgia"/>
                </a:rPr>
                <a:t>，到沉淀</a:t>
              </a:r>
              <a:r>
                <a:rPr lang="zh-CN" sz="3300" b="1" dirty="0">
                  <a:solidFill>
                    <a:srgbClr val="A8C575"/>
                  </a:solidFill>
                  <a:latin typeface="Georgia"/>
                  <a:ea typeface="KaiTi"/>
                  <a:cs typeface="Georgia"/>
                </a:rPr>
                <a:t>厚度</a:t>
              </a:r>
            </a:p>
          </p:txBody>
        </p:sp>
        <p:sp>
          <p:nvSpPr>
            <p:cNvPr id="11" name="Line 11"/>
            <p:cNvSpPr/>
            <p:nvPr/>
          </p:nvSpPr>
          <p:spPr>
            <a:xfrm>
              <a:off x="571500" y="1905000"/>
              <a:ext cx="952500" cy="9525"/>
            </a:xfrm>
            <a:custGeom>
              <a:avLst/>
              <a:gdLst/>
              <a:ahLst/>
              <a:cxnLst/>
              <a:rect l="l" t="t" r="r" b="b"/>
              <a:pathLst>
                <a:path w="952500" h="9525">
                  <a:moveTo>
                    <a:pt x="0" y="0"/>
                  </a:moveTo>
                  <a:lnTo>
                    <a:pt x="952500" y="0"/>
                  </a:lnTo>
                </a:path>
              </a:pathLst>
            </a:custGeom>
            <a:noFill/>
            <a:ln w="19050">
              <a:solidFill>
                <a:srgbClr val="A8C575"/>
              </a:solidFill>
            </a:ln>
          </p:spPr>
        </p:sp>
        <p:sp>
          <p:nvSpPr>
            <p:cNvPr id="12" name="TextBox 12"/>
            <p:cNvSpPr txBox="1"/>
            <p:nvPr/>
          </p:nvSpPr>
          <p:spPr>
            <a:xfrm>
              <a:off x="557212" y="2107406"/>
              <a:ext cx="3824049" cy="228600"/>
            </a:xfrm>
            <a:prstGeom prst="rect">
              <a:avLst/>
            </a:prstGeom>
            <a:noFill/>
            <a:ln>
              <a:noFill/>
            </a:ln>
          </p:spPr>
          <p:txBody>
            <a:bodyPr wrap="none" lIns="0" tIns="0" rIns="0" bIns="0" anchor="t" anchorCtr="0">
              <a:spAutoFit/>
            </a:bodyPr>
            <a:lstStyle/>
            <a:p>
              <a:pPr algn="l"/>
              <a:r>
                <a:rPr lang="zh-CN" sz="1125" i="1" dirty="0">
                  <a:solidFill>
                    <a:srgbClr val="D6CFC0"/>
                  </a:solidFill>
                  <a:latin typeface="Segoe UI"/>
                  <a:ea typeface="Microsoft YaHei"/>
                  <a:cs typeface="Segoe UI"/>
                </a:rPr>
                <a:t>国家正在大力推行"先体检、后更新"的城市更新理念</a:t>
              </a:r>
            </a:p>
          </p:txBody>
        </p:sp>
      </p:grpSp>
      <p:grpSp>
        <p:nvGrpSpPr>
          <p:cNvPr id="54" name="Group 54"/>
          <p:cNvGrpSpPr/>
          <p:nvPr/>
        </p:nvGrpSpPr>
        <p:grpSpPr>
          <a:xfrm>
            <a:off x="766620" y="3638550"/>
            <a:ext cx="9282589" cy="2028825"/>
            <a:chOff x="766620" y="3638550"/>
            <a:chExt cx="9282589" cy="2028825"/>
          </a:xfrm>
        </p:grpSpPr>
        <p:sp>
          <p:nvSpPr>
            <p:cNvPr id="14" name="Line 14"/>
            <p:cNvSpPr/>
            <p:nvPr/>
          </p:nvSpPr>
          <p:spPr>
            <a:xfrm>
              <a:off x="2095500" y="4095750"/>
              <a:ext cx="952500" cy="1"/>
            </a:xfrm>
            <a:prstGeom prst="line">
              <a:avLst/>
            </a:prstGeom>
            <a:noFill/>
            <a:ln w="19050">
              <a:solidFill>
                <a:srgbClr val="A8C575">
                  <a:alpha val="70000"/>
                </a:srgbClr>
              </a:solidFill>
              <a:tailEnd type="triangle" w="lg" len="lg"/>
            </a:ln>
          </p:spPr>
        </p:sp>
        <p:sp>
          <p:nvSpPr>
            <p:cNvPr id="15" name="Line 15"/>
            <p:cNvSpPr/>
            <p:nvPr/>
          </p:nvSpPr>
          <p:spPr>
            <a:xfrm>
              <a:off x="4667250" y="4095750"/>
              <a:ext cx="952500" cy="1"/>
            </a:xfrm>
            <a:prstGeom prst="line">
              <a:avLst/>
            </a:prstGeom>
            <a:noFill/>
            <a:ln w="19050">
              <a:solidFill>
                <a:srgbClr val="A8C575">
                  <a:alpha val="70000"/>
                </a:srgbClr>
              </a:solidFill>
              <a:tailEnd type="triangle" w="lg" len="lg"/>
            </a:ln>
          </p:spPr>
        </p:sp>
        <p:sp>
          <p:nvSpPr>
            <p:cNvPr id="16" name="Line 16"/>
            <p:cNvSpPr/>
            <p:nvPr/>
          </p:nvSpPr>
          <p:spPr>
            <a:xfrm>
              <a:off x="7239000" y="4095750"/>
              <a:ext cx="952500" cy="1"/>
            </a:xfrm>
            <a:prstGeom prst="line">
              <a:avLst/>
            </a:prstGeom>
            <a:noFill/>
            <a:ln w="19050">
              <a:solidFill>
                <a:srgbClr val="A8C575">
                  <a:alpha val="70000"/>
                </a:srgbClr>
              </a:solidFill>
              <a:tailEnd type="triangle" w="lg" len="lg"/>
            </a:ln>
          </p:spPr>
        </p:sp>
        <p:grpSp>
          <p:nvGrpSpPr>
            <p:cNvPr id="26" name="Group 26"/>
            <p:cNvGrpSpPr/>
            <p:nvPr/>
          </p:nvGrpSpPr>
          <p:grpSpPr>
            <a:xfrm>
              <a:off x="766620" y="3676650"/>
              <a:ext cx="1514761" cy="1990725"/>
              <a:chOff x="766620" y="3676650"/>
              <a:chExt cx="1514761" cy="1990725"/>
            </a:xfrm>
          </p:grpSpPr>
          <p:sp>
            <p:nvSpPr>
              <p:cNvPr id="17" name="Ellipse 17"/>
              <p:cNvSpPr/>
              <p:nvPr/>
            </p:nvSpPr>
            <p:spPr>
              <a:xfrm>
                <a:off x="1104900" y="3676650"/>
                <a:ext cx="838200" cy="838200"/>
              </a:xfrm>
              <a:prstGeom prst="ellipse">
                <a:avLst/>
              </a:prstGeom>
              <a:solidFill>
                <a:srgbClr val="F5F2EC"/>
              </a:solidFill>
              <a:ln>
                <a:noFill/>
              </a:ln>
            </p:spPr>
          </p:sp>
          <p:grpSp>
            <p:nvGrpSpPr>
              <p:cNvPr id="21" name="Group 21"/>
              <p:cNvGrpSpPr/>
              <p:nvPr/>
            </p:nvGrpSpPr>
            <p:grpSpPr>
              <a:xfrm>
                <a:off x="1401762" y="3938588"/>
                <a:ext cx="244475" cy="314324"/>
                <a:chOff x="1401762" y="3938588"/>
                <a:chExt cx="244475" cy="314324"/>
              </a:xfrm>
            </p:grpSpPr>
            <p:sp>
              <p:nvSpPr>
                <p:cNvPr id="18" name="Freeform 18"/>
                <p:cNvSpPr/>
                <p:nvPr/>
              </p:nvSpPr>
              <p:spPr>
                <a:xfrm>
                  <a:off x="1401762" y="3973512"/>
                  <a:ext cx="244475" cy="279400"/>
                </a:xfrm>
                <a:custGeom>
                  <a:avLst/>
                  <a:gdLst/>
                  <a:ahLst/>
                  <a:cxnLst/>
                  <a:rect l="l" t="t" r="r" b="b"/>
                  <a:pathLst>
                    <a:path w="244475" h="279400">
                      <a:moveTo>
                        <a:pt x="69850" y="0"/>
                      </a:moveTo>
                      <a:lnTo>
                        <a:pt x="34925" y="0"/>
                      </a:lnTo>
                      <a:cubicBezTo>
                        <a:pt x="15636" y="0"/>
                        <a:pt x="0" y="15636"/>
                        <a:pt x="0" y="34925"/>
                      </a:cubicBezTo>
                      <a:lnTo>
                        <a:pt x="0" y="244475"/>
                      </a:lnTo>
                      <a:cubicBezTo>
                        <a:pt x="0" y="263764"/>
                        <a:pt x="15636" y="279400"/>
                        <a:pt x="34925" y="279400"/>
                      </a:cubicBezTo>
                      <a:lnTo>
                        <a:pt x="209550" y="279400"/>
                      </a:lnTo>
                      <a:cubicBezTo>
                        <a:pt x="228839" y="279400"/>
                        <a:pt x="244475" y="263764"/>
                        <a:pt x="244475" y="244475"/>
                      </a:cubicBezTo>
                      <a:lnTo>
                        <a:pt x="244475" y="34925"/>
                      </a:lnTo>
                      <a:cubicBezTo>
                        <a:pt x="244475" y="15636"/>
                        <a:pt x="228839" y="0"/>
                        <a:pt x="209550" y="0"/>
                      </a:cubicBezTo>
                      <a:lnTo>
                        <a:pt x="174625" y="0"/>
                      </a:lnTo>
                    </a:path>
                  </a:pathLst>
                </a:custGeom>
                <a:noFill/>
                <a:ln w="19050">
                  <a:solidFill>
                    <a:srgbClr val="C2410C"/>
                  </a:solidFill>
                </a:ln>
              </p:spPr>
            </p:sp>
            <p:sp>
              <p:nvSpPr>
                <p:cNvPr id="19" name="Freeform 19"/>
                <p:cNvSpPr/>
                <p:nvPr/>
              </p:nvSpPr>
              <p:spPr>
                <a:xfrm>
                  <a:off x="1471612" y="3938588"/>
                  <a:ext cx="104775" cy="69850"/>
                </a:xfrm>
                <a:custGeom>
                  <a:avLst/>
                  <a:gdLst/>
                  <a:ahLst/>
                  <a:cxnLst/>
                  <a:rect l="l" t="t" r="r" b="b"/>
                  <a:pathLst>
                    <a:path w="104775" h="69850">
                      <a:moveTo>
                        <a:pt x="0" y="34925"/>
                      </a:moveTo>
                      <a:cubicBezTo>
                        <a:pt x="0" y="15636"/>
                        <a:pt x="15636" y="0"/>
                        <a:pt x="34925" y="0"/>
                      </a:cubicBezTo>
                      <a:lnTo>
                        <a:pt x="69850" y="0"/>
                      </a:lnTo>
                      <a:cubicBezTo>
                        <a:pt x="89139" y="0"/>
                        <a:pt x="104775" y="15636"/>
                        <a:pt x="104775" y="34925"/>
                      </a:cubicBezTo>
                      <a:cubicBezTo>
                        <a:pt x="104775" y="54214"/>
                        <a:pt x="89139" y="69850"/>
                        <a:pt x="69850" y="69850"/>
                      </a:cubicBezTo>
                      <a:lnTo>
                        <a:pt x="34925" y="69850"/>
                      </a:lnTo>
                      <a:cubicBezTo>
                        <a:pt x="15636" y="69850"/>
                        <a:pt x="0" y="54214"/>
                        <a:pt x="0" y="34925"/>
                      </a:cubicBezTo>
                    </a:path>
                  </a:pathLst>
                </a:custGeom>
                <a:noFill/>
                <a:ln w="19050">
                  <a:solidFill>
                    <a:srgbClr val="C2410C"/>
                  </a:solidFill>
                </a:ln>
              </p:spPr>
            </p:sp>
            <p:sp>
              <p:nvSpPr>
                <p:cNvPr id="20" name="Freeform 20"/>
                <p:cNvSpPr/>
                <p:nvPr/>
              </p:nvSpPr>
              <p:spPr>
                <a:xfrm>
                  <a:off x="1471612" y="4095750"/>
                  <a:ext cx="104775" cy="69850"/>
                </a:xfrm>
                <a:custGeom>
                  <a:avLst/>
                  <a:gdLst/>
                  <a:ahLst/>
                  <a:cxnLst/>
                  <a:rect l="l" t="t" r="r" b="b"/>
                  <a:pathLst>
                    <a:path w="104775" h="69850">
                      <a:moveTo>
                        <a:pt x="0" y="34925"/>
                      </a:moveTo>
                      <a:lnTo>
                        <a:pt x="34925" y="69850"/>
                      </a:lnTo>
                      <a:lnTo>
                        <a:pt x="104775" y="0"/>
                      </a:lnTo>
                    </a:path>
                  </a:pathLst>
                </a:custGeom>
                <a:noFill/>
                <a:ln w="19050">
                  <a:solidFill>
                    <a:srgbClr val="C2410C"/>
                  </a:solidFill>
                </a:ln>
              </p:spPr>
            </p:sp>
          </p:grpSp>
          <p:sp>
            <p:nvSpPr>
              <p:cNvPr id="22" name="TextBox 22"/>
              <p:cNvSpPr txBox="1"/>
              <p:nvPr/>
            </p:nvSpPr>
            <p:spPr>
              <a:xfrm>
                <a:off x="1188625" y="4744402"/>
                <a:ext cx="670750" cy="213360"/>
              </a:xfrm>
              <a:prstGeom prst="rect">
                <a:avLst/>
              </a:prstGeom>
              <a:noFill/>
              <a:ln>
                <a:noFill/>
              </a:ln>
            </p:spPr>
            <p:txBody>
              <a:bodyPr wrap="none" lIns="0" tIns="0" rIns="0" bIns="0" anchor="t" anchorCtr="0">
                <a:spAutoFit/>
              </a:bodyPr>
              <a:lstStyle/>
              <a:p>
                <a:pPr algn="ctr"/>
                <a:r>
                  <a:rPr lang="zh-CN" sz="1050" b="1" dirty="0">
                    <a:solidFill>
                      <a:srgbClr val="A8C575"/>
                    </a:solidFill>
                    <a:latin typeface="Georgia"/>
                    <a:ea typeface="SimSun"/>
                    <a:cs typeface="Georgia"/>
                  </a:rPr>
                  <a:t>01 · 体检</a:t>
                </a:r>
              </a:p>
            </p:txBody>
          </p:sp>
          <p:sp>
            <p:nvSpPr>
              <p:cNvPr id="23" name="TextBox 23"/>
              <p:cNvSpPr txBox="1"/>
              <p:nvPr/>
            </p:nvSpPr>
            <p:spPr>
              <a:xfrm>
                <a:off x="1164669" y="5022056"/>
                <a:ext cx="718661" cy="228600"/>
              </a:xfrm>
              <a:prstGeom prst="rect">
                <a:avLst/>
              </a:prstGeom>
              <a:noFill/>
              <a:ln>
                <a:noFill/>
              </a:ln>
            </p:spPr>
            <p:txBody>
              <a:bodyPr wrap="none" lIns="0" tIns="0" rIns="0" bIns="0" anchor="t" anchorCtr="0">
                <a:spAutoFit/>
              </a:bodyPr>
              <a:lstStyle/>
              <a:p>
                <a:pPr algn="ctr"/>
                <a:r>
                  <a:rPr lang="zh-CN" sz="1125" b="1" dirty="0">
                    <a:solidFill>
                      <a:srgbClr val="F5F2EC"/>
                    </a:solidFill>
                    <a:latin typeface="Segoe UI"/>
                    <a:ea typeface="Microsoft YaHei"/>
                    <a:cs typeface="Segoe UI"/>
                  </a:rPr>
                  <a:t>城市体检</a:t>
                </a:r>
              </a:p>
            </p:txBody>
          </p:sp>
          <p:sp>
            <p:nvSpPr>
              <p:cNvPr id="24" name="TextBox 24"/>
              <p:cNvSpPr txBox="1"/>
              <p:nvPr/>
            </p:nvSpPr>
            <p:spPr>
              <a:xfrm>
                <a:off x="1141238" y="5293995"/>
                <a:ext cx="765524"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截至 2025.11</a:t>
                </a:r>
              </a:p>
            </p:txBody>
          </p:sp>
          <p:sp>
            <p:nvSpPr>
              <p:cNvPr id="25" name="TextBox 25"/>
              <p:cNvSpPr txBox="1"/>
              <p:nvPr/>
            </p:nvSpPr>
            <p:spPr>
              <a:xfrm>
                <a:off x="766620" y="5484495"/>
                <a:ext cx="1514761"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297 个地级 + 150+ 县级市</a:t>
                </a:r>
              </a:p>
            </p:txBody>
          </p:sp>
        </p:grpSp>
        <p:grpSp>
          <p:nvGrpSpPr>
            <p:cNvPr id="33" name="Group 33"/>
            <p:cNvGrpSpPr/>
            <p:nvPr/>
          </p:nvGrpSpPr>
          <p:grpSpPr>
            <a:xfrm>
              <a:off x="3427095" y="3676650"/>
              <a:ext cx="1337310" cy="1990725"/>
              <a:chOff x="3427095" y="3676650"/>
              <a:chExt cx="1337310" cy="1990725"/>
            </a:xfrm>
          </p:grpSpPr>
          <p:sp>
            <p:nvSpPr>
              <p:cNvPr id="27" name="Ellipse 27"/>
              <p:cNvSpPr/>
              <p:nvPr/>
            </p:nvSpPr>
            <p:spPr>
              <a:xfrm>
                <a:off x="3676650" y="3676650"/>
                <a:ext cx="838200" cy="838200"/>
              </a:xfrm>
              <a:prstGeom prst="ellipse">
                <a:avLst/>
              </a:prstGeom>
              <a:solidFill>
                <a:srgbClr val="F5F2EC"/>
              </a:solidFill>
              <a:ln>
                <a:noFill/>
              </a:ln>
            </p:spPr>
          </p:sp>
          <p:sp>
            <p:nvSpPr>
              <p:cNvPr id="28" name="Freeform 28"/>
              <p:cNvSpPr/>
              <p:nvPr/>
            </p:nvSpPr>
            <p:spPr>
              <a:xfrm>
                <a:off x="3928183" y="3928183"/>
                <a:ext cx="330465" cy="330465"/>
              </a:xfrm>
              <a:custGeom>
                <a:avLst/>
                <a:gdLst/>
                <a:ahLst/>
                <a:cxnLst/>
                <a:rect l="l" t="t" r="r" b="b"/>
                <a:pathLst>
                  <a:path w="330465" h="330465">
                    <a:moveTo>
                      <a:pt x="80254" y="132642"/>
                    </a:moveTo>
                    <a:lnTo>
                      <a:pt x="132642" y="132642"/>
                    </a:lnTo>
                    <a:lnTo>
                      <a:pt x="132642" y="80254"/>
                    </a:lnTo>
                    <a:lnTo>
                      <a:pt x="71523" y="19136"/>
                    </a:lnTo>
                    <a:cubicBezTo>
                      <a:pt x="111590" y="0"/>
                      <a:pt x="159368" y="8197"/>
                      <a:pt x="190765" y="39594"/>
                    </a:cubicBezTo>
                    <a:cubicBezTo>
                      <a:pt x="222161" y="70991"/>
                      <a:pt x="230359" y="118769"/>
                      <a:pt x="211223" y="158836"/>
                    </a:cubicBezTo>
                    <a:lnTo>
                      <a:pt x="315998" y="263611"/>
                    </a:lnTo>
                    <a:cubicBezTo>
                      <a:pt x="330465" y="278077"/>
                      <a:pt x="330465" y="301532"/>
                      <a:pt x="315998" y="315998"/>
                    </a:cubicBezTo>
                    <a:cubicBezTo>
                      <a:pt x="301532" y="330465"/>
                      <a:pt x="278077" y="330465"/>
                      <a:pt x="263611" y="315998"/>
                    </a:cubicBezTo>
                    <a:lnTo>
                      <a:pt x="158836" y="211223"/>
                    </a:lnTo>
                    <a:cubicBezTo>
                      <a:pt x="118769" y="230359"/>
                      <a:pt x="70991" y="222161"/>
                      <a:pt x="39594" y="190765"/>
                    </a:cubicBezTo>
                    <a:cubicBezTo>
                      <a:pt x="8197" y="159368"/>
                      <a:pt x="0" y="111590"/>
                      <a:pt x="19136" y="71523"/>
                    </a:cubicBezTo>
                    <a:lnTo>
                      <a:pt x="80254" y="132642"/>
                    </a:lnTo>
                  </a:path>
                </a:pathLst>
              </a:custGeom>
              <a:noFill/>
              <a:ln w="19050">
                <a:solidFill>
                  <a:srgbClr val="8B7355"/>
                </a:solidFill>
              </a:ln>
            </p:spPr>
          </p:sp>
          <p:sp>
            <p:nvSpPr>
              <p:cNvPr id="29" name="TextBox 29"/>
              <p:cNvSpPr txBox="1"/>
              <p:nvPr/>
            </p:nvSpPr>
            <p:spPr>
              <a:xfrm>
                <a:off x="3740247" y="4744402"/>
                <a:ext cx="711006" cy="213360"/>
              </a:xfrm>
              <a:prstGeom prst="rect">
                <a:avLst/>
              </a:prstGeom>
              <a:noFill/>
              <a:ln>
                <a:noFill/>
              </a:ln>
            </p:spPr>
            <p:txBody>
              <a:bodyPr wrap="none" lIns="0" tIns="0" rIns="0" bIns="0" anchor="t" anchorCtr="0">
                <a:spAutoFit/>
              </a:bodyPr>
              <a:lstStyle/>
              <a:p>
                <a:pPr algn="ctr"/>
                <a:r>
                  <a:rPr lang="zh-CN" sz="1050" b="1" dirty="0">
                    <a:solidFill>
                      <a:srgbClr val="A8C575"/>
                    </a:solidFill>
                    <a:latin typeface="Georgia"/>
                    <a:ea typeface="SimSun"/>
                    <a:cs typeface="Georgia"/>
                  </a:rPr>
                  <a:t>02 · 设计</a:t>
                </a:r>
              </a:p>
            </p:txBody>
          </p:sp>
          <p:sp>
            <p:nvSpPr>
              <p:cNvPr id="30" name="TextBox 30"/>
              <p:cNvSpPr txBox="1"/>
              <p:nvPr/>
            </p:nvSpPr>
            <p:spPr>
              <a:xfrm>
                <a:off x="3736419" y="5022056"/>
                <a:ext cx="718661" cy="228600"/>
              </a:xfrm>
              <a:prstGeom prst="rect">
                <a:avLst/>
              </a:prstGeom>
              <a:noFill/>
              <a:ln>
                <a:noFill/>
              </a:ln>
            </p:spPr>
            <p:txBody>
              <a:bodyPr wrap="none" lIns="0" tIns="0" rIns="0" bIns="0" anchor="t" anchorCtr="0">
                <a:spAutoFit/>
              </a:bodyPr>
              <a:lstStyle/>
              <a:p>
                <a:pPr algn="ctr"/>
                <a:r>
                  <a:rPr lang="zh-CN" sz="1125" b="1" dirty="0">
                    <a:solidFill>
                      <a:srgbClr val="F5F2EC"/>
                    </a:solidFill>
                    <a:latin typeface="Segoe UI"/>
                    <a:ea typeface="Microsoft YaHei"/>
                    <a:cs typeface="Segoe UI"/>
                  </a:rPr>
                  <a:t>专业方案</a:t>
                </a:r>
              </a:p>
            </p:txBody>
          </p:sp>
          <p:sp>
            <p:nvSpPr>
              <p:cNvPr id="31" name="TextBox 31"/>
              <p:cNvSpPr txBox="1"/>
              <p:nvPr/>
            </p:nvSpPr>
            <p:spPr>
              <a:xfrm>
                <a:off x="3689985" y="5293995"/>
                <a:ext cx="811530"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专业机构提供</a:t>
                </a:r>
              </a:p>
            </p:txBody>
          </p:sp>
          <p:sp>
            <p:nvSpPr>
              <p:cNvPr id="32" name="TextBox 32"/>
              <p:cNvSpPr txBox="1"/>
              <p:nvPr/>
            </p:nvSpPr>
            <p:spPr>
              <a:xfrm>
                <a:off x="3427095" y="5484495"/>
                <a:ext cx="1337310"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安全可靠的设计与技术</a:t>
                </a:r>
              </a:p>
            </p:txBody>
          </p:sp>
        </p:grpSp>
        <p:grpSp>
          <p:nvGrpSpPr>
            <p:cNvPr id="44" name="Group 44"/>
            <p:cNvGrpSpPr/>
            <p:nvPr/>
          </p:nvGrpSpPr>
          <p:grpSpPr>
            <a:xfrm>
              <a:off x="5998845" y="3676650"/>
              <a:ext cx="1337310" cy="1990725"/>
              <a:chOff x="5998845" y="3676650"/>
              <a:chExt cx="1337310" cy="1990725"/>
            </a:xfrm>
          </p:grpSpPr>
          <p:sp>
            <p:nvSpPr>
              <p:cNvPr id="34" name="Ellipse 34"/>
              <p:cNvSpPr/>
              <p:nvPr/>
            </p:nvSpPr>
            <p:spPr>
              <a:xfrm>
                <a:off x="6248400" y="3676650"/>
                <a:ext cx="838200" cy="838200"/>
              </a:xfrm>
              <a:prstGeom prst="ellipse">
                <a:avLst/>
              </a:prstGeom>
              <a:solidFill>
                <a:srgbClr val="F5F2EC"/>
              </a:solidFill>
              <a:ln>
                <a:noFill/>
              </a:ln>
            </p:spPr>
          </p:sp>
          <p:grpSp>
            <p:nvGrpSpPr>
              <p:cNvPr id="39" name="Group 39"/>
              <p:cNvGrpSpPr/>
              <p:nvPr/>
            </p:nvGrpSpPr>
            <p:grpSpPr>
              <a:xfrm>
                <a:off x="6510338" y="3938588"/>
                <a:ext cx="314325" cy="314325"/>
                <a:chOff x="6510338" y="3938588"/>
                <a:chExt cx="314325" cy="314325"/>
              </a:xfrm>
            </p:grpSpPr>
            <p:sp>
              <p:nvSpPr>
                <p:cNvPr id="35" name="Freeform 35"/>
                <p:cNvSpPr/>
                <p:nvPr/>
              </p:nvSpPr>
              <p:spPr>
                <a:xfrm>
                  <a:off x="6545262" y="3938588"/>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19050">
                  <a:solidFill>
                    <a:srgbClr val="6B7A4F"/>
                  </a:solidFill>
                </a:ln>
              </p:spPr>
            </p:sp>
            <p:sp>
              <p:nvSpPr>
                <p:cNvPr id="36" name="Freeform 36"/>
                <p:cNvSpPr/>
                <p:nvPr/>
              </p:nvSpPr>
              <p:spPr>
                <a:xfrm>
                  <a:off x="6510338" y="4148138"/>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19050">
                  <a:solidFill>
                    <a:srgbClr val="6B7A4F"/>
                  </a:solidFill>
                </a:ln>
              </p:spPr>
            </p:sp>
            <p:sp>
              <p:nvSpPr>
                <p:cNvPr id="37" name="Freeform 37"/>
                <p:cNvSpPr/>
                <p:nvPr/>
              </p:nvSpPr>
              <p:spPr>
                <a:xfrm>
                  <a:off x="6737350" y="3940858"/>
                  <a:ext cx="52524" cy="135334"/>
                </a:xfrm>
                <a:custGeom>
                  <a:avLst/>
                  <a:gdLst/>
                  <a:ahLst/>
                  <a:cxnLst/>
                  <a:rect l="l" t="t" r="r" b="b"/>
                  <a:pathLst>
                    <a:path w="52524" h="135334">
                      <a:moveTo>
                        <a:pt x="0" y="0"/>
                      </a:moveTo>
                      <a:cubicBezTo>
                        <a:pt x="30907" y="7913"/>
                        <a:pt x="52524" y="35763"/>
                        <a:pt x="52524" y="67667"/>
                      </a:cubicBezTo>
                      <a:cubicBezTo>
                        <a:pt x="52524" y="99571"/>
                        <a:pt x="30907" y="127421"/>
                        <a:pt x="0" y="135334"/>
                      </a:cubicBezTo>
                    </a:path>
                  </a:pathLst>
                </a:custGeom>
                <a:noFill/>
                <a:ln w="19050">
                  <a:solidFill>
                    <a:srgbClr val="6B7A4F"/>
                  </a:solidFill>
                </a:ln>
              </p:spPr>
            </p:sp>
            <p:sp>
              <p:nvSpPr>
                <p:cNvPr id="38" name="Freeform 38"/>
                <p:cNvSpPr/>
                <p:nvPr/>
              </p:nvSpPr>
              <p:spPr>
                <a:xfrm>
                  <a:off x="6772275" y="4150757"/>
                  <a:ext cx="52388" cy="102156"/>
                </a:xfrm>
                <a:custGeom>
                  <a:avLst/>
                  <a:gdLst/>
                  <a:ahLst/>
                  <a:cxnLst/>
                  <a:rect l="l" t="t" r="r" b="b"/>
                  <a:pathLst>
                    <a:path w="52388" h="102156">
                      <a:moveTo>
                        <a:pt x="52388" y="102156"/>
                      </a:moveTo>
                      <a:lnTo>
                        <a:pt x="52388" y="67231"/>
                      </a:lnTo>
                      <a:cubicBezTo>
                        <a:pt x="52205" y="35529"/>
                        <a:pt x="30696" y="7925"/>
                        <a:pt x="0" y="0"/>
                      </a:cubicBezTo>
                    </a:path>
                  </a:pathLst>
                </a:custGeom>
                <a:noFill/>
                <a:ln w="19050">
                  <a:solidFill>
                    <a:srgbClr val="6B7A4F"/>
                  </a:solidFill>
                </a:ln>
              </p:spPr>
            </p:sp>
          </p:grpSp>
          <p:sp>
            <p:nvSpPr>
              <p:cNvPr id="40" name="TextBox 40"/>
              <p:cNvSpPr txBox="1"/>
              <p:nvPr/>
            </p:nvSpPr>
            <p:spPr>
              <a:xfrm>
                <a:off x="6311997" y="4744402"/>
                <a:ext cx="711006" cy="213360"/>
              </a:xfrm>
              <a:prstGeom prst="rect">
                <a:avLst/>
              </a:prstGeom>
              <a:noFill/>
              <a:ln>
                <a:noFill/>
              </a:ln>
            </p:spPr>
            <p:txBody>
              <a:bodyPr wrap="none" lIns="0" tIns="0" rIns="0" bIns="0" anchor="t" anchorCtr="0">
                <a:spAutoFit/>
              </a:bodyPr>
              <a:lstStyle/>
              <a:p>
                <a:pPr algn="ctr"/>
                <a:r>
                  <a:rPr lang="zh-CN" sz="1050" b="1" dirty="0">
                    <a:solidFill>
                      <a:srgbClr val="A8C575"/>
                    </a:solidFill>
                    <a:latin typeface="Georgia"/>
                    <a:ea typeface="SimSun"/>
                    <a:cs typeface="Georgia"/>
                  </a:rPr>
                  <a:t>03 · 协调</a:t>
                </a:r>
              </a:p>
            </p:txBody>
          </p:sp>
          <p:sp>
            <p:nvSpPr>
              <p:cNvPr id="41" name="TextBox 41"/>
              <p:cNvSpPr txBox="1"/>
              <p:nvPr/>
            </p:nvSpPr>
            <p:spPr>
              <a:xfrm>
                <a:off x="6308169" y="5022056"/>
                <a:ext cx="718661" cy="228600"/>
              </a:xfrm>
              <a:prstGeom prst="rect">
                <a:avLst/>
              </a:prstGeom>
              <a:noFill/>
              <a:ln>
                <a:noFill/>
              </a:ln>
            </p:spPr>
            <p:txBody>
              <a:bodyPr wrap="none" lIns="0" tIns="0" rIns="0" bIns="0" anchor="t" anchorCtr="0">
                <a:spAutoFit/>
              </a:bodyPr>
              <a:lstStyle/>
              <a:p>
                <a:pPr algn="ctr"/>
                <a:r>
                  <a:rPr lang="zh-CN" sz="1125" b="1" dirty="0">
                    <a:solidFill>
                      <a:srgbClr val="F5F2EC"/>
                    </a:solidFill>
                    <a:latin typeface="Segoe UI"/>
                    <a:ea typeface="Microsoft YaHei"/>
                    <a:cs typeface="Segoe UI"/>
                  </a:rPr>
                  <a:t>共建共治</a:t>
                </a:r>
              </a:p>
            </p:txBody>
          </p:sp>
          <p:sp>
            <p:nvSpPr>
              <p:cNvPr id="42" name="TextBox 42"/>
              <p:cNvSpPr txBox="1"/>
              <p:nvPr/>
            </p:nvSpPr>
            <p:spPr>
              <a:xfrm>
                <a:off x="6261735" y="5293995"/>
                <a:ext cx="811530"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政府搭建平台</a:t>
                </a:r>
              </a:p>
            </p:txBody>
          </p:sp>
          <p:sp>
            <p:nvSpPr>
              <p:cNvPr id="43" name="TextBox 43"/>
              <p:cNvSpPr txBox="1"/>
              <p:nvPr/>
            </p:nvSpPr>
            <p:spPr>
              <a:xfrm>
                <a:off x="5998845" y="5484495"/>
                <a:ext cx="1337310"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社区基层组织协调引领</a:t>
                </a:r>
              </a:p>
            </p:txBody>
          </p:sp>
        </p:grpSp>
        <p:grpSp>
          <p:nvGrpSpPr>
            <p:cNvPr id="53" name="Group 53"/>
            <p:cNvGrpSpPr/>
            <p:nvPr/>
          </p:nvGrpSpPr>
          <p:grpSpPr>
            <a:xfrm>
              <a:off x="8429292" y="3638550"/>
              <a:ext cx="1619917" cy="2028825"/>
              <a:chOff x="8429292" y="3638550"/>
              <a:chExt cx="1619917" cy="2028825"/>
            </a:xfrm>
          </p:grpSpPr>
          <p:sp>
            <p:nvSpPr>
              <p:cNvPr id="45" name="Ellipse 45"/>
              <p:cNvSpPr/>
              <p:nvPr/>
            </p:nvSpPr>
            <p:spPr>
              <a:xfrm>
                <a:off x="8782050" y="3638550"/>
                <a:ext cx="914400" cy="914400"/>
              </a:xfrm>
              <a:prstGeom prst="ellipse">
                <a:avLst/>
              </a:prstGeom>
              <a:solidFill>
                <a:srgbClr val="A8C575"/>
              </a:solidFill>
              <a:ln>
                <a:noFill/>
              </a:ln>
            </p:spPr>
          </p:sp>
          <p:grpSp>
            <p:nvGrpSpPr>
              <p:cNvPr id="48" name="Group 48"/>
              <p:cNvGrpSpPr/>
              <p:nvPr/>
            </p:nvGrpSpPr>
            <p:grpSpPr>
              <a:xfrm>
                <a:off x="9086850" y="3936000"/>
                <a:ext cx="304800" cy="319500"/>
                <a:chOff x="9086850" y="3936000"/>
                <a:chExt cx="304800" cy="319500"/>
              </a:xfrm>
            </p:grpSpPr>
            <p:sp>
              <p:nvSpPr>
                <p:cNvPr id="46" name="Freeform 46"/>
                <p:cNvSpPr/>
                <p:nvPr/>
              </p:nvSpPr>
              <p:spPr>
                <a:xfrm>
                  <a:off x="9086850" y="3936000"/>
                  <a:ext cx="304800" cy="140700"/>
                </a:xfrm>
                <a:custGeom>
                  <a:avLst/>
                  <a:gdLst/>
                  <a:ahLst/>
                  <a:cxnLst/>
                  <a:rect l="l" t="t" r="r" b="b"/>
                  <a:pathLst>
                    <a:path w="304800" h="140700">
                      <a:moveTo>
                        <a:pt x="304800" y="140700"/>
                      </a:moveTo>
                      <a:cubicBezTo>
                        <a:pt x="295223" y="71787"/>
                        <a:pt x="240713" y="17807"/>
                        <a:pt x="171710" y="8904"/>
                      </a:cubicBezTo>
                      <a:cubicBezTo>
                        <a:pt x="102708" y="0"/>
                        <a:pt x="36281" y="38375"/>
                        <a:pt x="9525" y="102600"/>
                      </a:cubicBezTo>
                      <a:moveTo>
                        <a:pt x="0" y="26400"/>
                      </a:moveTo>
                      <a:lnTo>
                        <a:pt x="0" y="102600"/>
                      </a:lnTo>
                      <a:lnTo>
                        <a:pt x="76200" y="102600"/>
                      </a:lnTo>
                    </a:path>
                  </a:pathLst>
                </a:custGeom>
                <a:noFill/>
                <a:ln w="19050">
                  <a:solidFill>
                    <a:srgbClr val="2B3A4A"/>
                  </a:solidFill>
                </a:ln>
              </p:spPr>
            </p:sp>
            <p:sp>
              <p:nvSpPr>
                <p:cNvPr id="47" name="Freeform 47"/>
                <p:cNvSpPr/>
                <p:nvPr/>
              </p:nvSpPr>
              <p:spPr>
                <a:xfrm>
                  <a:off x="9086850" y="4114800"/>
                  <a:ext cx="304800" cy="140700"/>
                </a:xfrm>
                <a:custGeom>
                  <a:avLst/>
                  <a:gdLst/>
                  <a:ahLst/>
                  <a:cxnLst/>
                  <a:rect l="l" t="t" r="r" b="b"/>
                  <a:pathLst>
                    <a:path w="304800" h="140700">
                      <a:moveTo>
                        <a:pt x="0" y="0"/>
                      </a:moveTo>
                      <a:cubicBezTo>
                        <a:pt x="9577" y="68913"/>
                        <a:pt x="64087" y="122893"/>
                        <a:pt x="133090" y="131796"/>
                      </a:cubicBezTo>
                      <a:cubicBezTo>
                        <a:pt x="202092" y="140700"/>
                        <a:pt x="268519" y="102325"/>
                        <a:pt x="295275" y="38100"/>
                      </a:cubicBezTo>
                      <a:moveTo>
                        <a:pt x="304800" y="114300"/>
                      </a:moveTo>
                      <a:lnTo>
                        <a:pt x="304800" y="38100"/>
                      </a:lnTo>
                      <a:lnTo>
                        <a:pt x="228600" y="38100"/>
                      </a:lnTo>
                    </a:path>
                  </a:pathLst>
                </a:custGeom>
                <a:noFill/>
                <a:ln w="19050">
                  <a:solidFill>
                    <a:srgbClr val="2B3A4A"/>
                  </a:solidFill>
                </a:ln>
              </p:spPr>
            </p:sp>
          </p:grpSp>
          <p:sp>
            <p:nvSpPr>
              <p:cNvPr id="49" name="TextBox 49"/>
              <p:cNvSpPr txBox="1"/>
              <p:nvPr/>
            </p:nvSpPr>
            <p:spPr>
              <a:xfrm>
                <a:off x="8883747" y="4744402"/>
                <a:ext cx="711006" cy="213360"/>
              </a:xfrm>
              <a:prstGeom prst="rect">
                <a:avLst/>
              </a:prstGeom>
              <a:noFill/>
              <a:ln>
                <a:noFill/>
              </a:ln>
            </p:spPr>
            <p:txBody>
              <a:bodyPr wrap="none" lIns="0" tIns="0" rIns="0" bIns="0" anchor="t" anchorCtr="0">
                <a:spAutoFit/>
              </a:bodyPr>
              <a:lstStyle/>
              <a:p>
                <a:pPr algn="ctr"/>
                <a:r>
                  <a:rPr lang="zh-CN" sz="1050" b="1" dirty="0">
                    <a:solidFill>
                      <a:srgbClr val="A8C575"/>
                    </a:solidFill>
                    <a:latin typeface="Georgia"/>
                    <a:ea typeface="SimSun"/>
                    <a:cs typeface="Georgia"/>
                  </a:rPr>
                  <a:t>04 · 再生</a:t>
                </a:r>
              </a:p>
            </p:txBody>
          </p:sp>
          <p:sp>
            <p:nvSpPr>
              <p:cNvPr id="50" name="TextBox 50"/>
              <p:cNvSpPr txBox="1"/>
              <p:nvPr/>
            </p:nvSpPr>
            <p:spPr>
              <a:xfrm>
                <a:off x="8879919" y="5022056"/>
                <a:ext cx="718661" cy="228600"/>
              </a:xfrm>
              <a:prstGeom prst="rect">
                <a:avLst/>
              </a:prstGeom>
              <a:noFill/>
              <a:ln>
                <a:noFill/>
              </a:ln>
            </p:spPr>
            <p:txBody>
              <a:bodyPr wrap="none" lIns="0" tIns="0" rIns="0" bIns="0" anchor="t" anchorCtr="0">
                <a:spAutoFit/>
              </a:bodyPr>
              <a:lstStyle/>
              <a:p>
                <a:pPr algn="ctr"/>
                <a:r>
                  <a:rPr lang="zh-CN" sz="1125" b="1" dirty="0">
                    <a:solidFill>
                      <a:srgbClr val="F5F2EC"/>
                    </a:solidFill>
                    <a:latin typeface="Segoe UI"/>
                    <a:ea typeface="Microsoft YaHei"/>
                    <a:cs typeface="Segoe UI"/>
                  </a:rPr>
                  <a:t>焕发新机</a:t>
                </a:r>
              </a:p>
            </p:txBody>
          </p:sp>
          <p:sp>
            <p:nvSpPr>
              <p:cNvPr id="51" name="TextBox 51"/>
              <p:cNvSpPr txBox="1"/>
              <p:nvPr/>
            </p:nvSpPr>
            <p:spPr>
              <a:xfrm>
                <a:off x="8429292" y="5293995"/>
                <a:ext cx="1619917"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多方合力 · 安全与环保前提</a:t>
                </a:r>
              </a:p>
            </p:txBody>
          </p:sp>
          <p:sp>
            <p:nvSpPr>
              <p:cNvPr id="52" name="TextBox 52"/>
              <p:cNvSpPr txBox="1"/>
              <p:nvPr/>
            </p:nvSpPr>
            <p:spPr>
              <a:xfrm>
                <a:off x="8504872" y="5484495"/>
                <a:ext cx="1468755" cy="182880"/>
              </a:xfrm>
              <a:prstGeom prst="rect">
                <a:avLst/>
              </a:prstGeom>
              <a:noFill/>
              <a:ln>
                <a:noFill/>
              </a:ln>
            </p:spPr>
            <p:txBody>
              <a:bodyPr wrap="none" lIns="0" tIns="0" rIns="0" bIns="0" anchor="t" anchorCtr="0">
                <a:spAutoFit/>
              </a:bodyPr>
              <a:lstStyle/>
              <a:p>
                <a:pPr algn="ctr"/>
                <a:r>
                  <a:rPr lang="zh-CN" sz="900" dirty="0">
                    <a:solidFill>
                      <a:srgbClr val="D6CFC0"/>
                    </a:solidFill>
                    <a:latin typeface="Segoe UI"/>
                    <a:ea typeface="Microsoft YaHei"/>
                    <a:cs typeface="Segoe UI"/>
                  </a:rPr>
                  <a:t>为城市发展贡献独特价值</a:t>
                </a:r>
              </a:p>
            </p:txBody>
          </p:sp>
        </p:grpSp>
      </p:grpSp>
      <p:grpSp>
        <p:nvGrpSpPr>
          <p:cNvPr id="58" name="Group 58"/>
          <p:cNvGrpSpPr/>
          <p:nvPr/>
        </p:nvGrpSpPr>
        <p:grpSpPr>
          <a:xfrm>
            <a:off x="552450" y="6096000"/>
            <a:ext cx="11079480" cy="657225"/>
            <a:chOff x="552450" y="6096000"/>
            <a:chExt cx="11079480" cy="657225"/>
          </a:xfrm>
        </p:grpSpPr>
        <p:sp>
          <p:nvSpPr>
            <p:cNvPr id="55" name="Line 55"/>
            <p:cNvSpPr/>
            <p:nvPr/>
          </p:nvSpPr>
          <p:spPr>
            <a:xfrm>
              <a:off x="571500" y="6096000"/>
              <a:ext cx="1333500" cy="9525"/>
            </a:xfrm>
            <a:custGeom>
              <a:avLst/>
              <a:gdLst/>
              <a:ahLst/>
              <a:cxnLst/>
              <a:rect l="l" t="t" r="r" b="b"/>
              <a:pathLst>
                <a:path w="1333500" h="9525">
                  <a:moveTo>
                    <a:pt x="0" y="0"/>
                  </a:moveTo>
                  <a:lnTo>
                    <a:pt x="1333500" y="0"/>
                  </a:lnTo>
                </a:path>
              </a:pathLst>
            </a:custGeom>
            <a:noFill/>
            <a:ln w="9525">
              <a:solidFill>
                <a:srgbClr val="A8C575"/>
              </a:solidFill>
            </a:ln>
          </p:spPr>
        </p:sp>
        <p:sp>
          <p:nvSpPr>
            <p:cNvPr id="56" name="TextBox 56"/>
            <p:cNvSpPr txBox="1"/>
            <p:nvPr/>
          </p:nvSpPr>
          <p:spPr>
            <a:xfrm>
              <a:off x="552450" y="6267450"/>
              <a:ext cx="4441508" cy="304800"/>
            </a:xfrm>
            <a:prstGeom prst="rect">
              <a:avLst/>
            </a:prstGeom>
            <a:noFill/>
            <a:ln>
              <a:noFill/>
            </a:ln>
          </p:spPr>
          <p:txBody>
            <a:bodyPr wrap="none" lIns="0" tIns="0" rIns="0" bIns="0" anchor="t" anchorCtr="0">
              <a:spAutoFit/>
            </a:bodyPr>
            <a:lstStyle/>
            <a:p>
              <a:pPr algn="l"/>
              <a:r>
                <a:rPr lang="zh-CN" sz="1500" i="1" dirty="0">
                  <a:solidFill>
                    <a:srgbClr val="F5F2EC"/>
                  </a:solidFill>
                  <a:latin typeface="Georgia"/>
                  <a:ea typeface="KaiTi"/>
                  <a:cs typeface="Georgia"/>
                </a:rPr>
                <a:t>超高层建筑的未来，在于"</a:t>
              </a:r>
              <a:r>
                <a:rPr lang="zh-CN" sz="1500" b="1" i="1" dirty="0">
                  <a:solidFill>
                    <a:srgbClr val="A8C575"/>
                  </a:solidFill>
                  <a:latin typeface="Georgia"/>
                  <a:ea typeface="KaiTi"/>
                  <a:cs typeface="Georgia"/>
                </a:rPr>
                <a:t>精耕细作</a:t>
              </a:r>
              <a:r>
                <a:rPr lang="zh-CN" sz="1500" i="1" dirty="0">
                  <a:solidFill>
                    <a:srgbClr val="F5F2EC"/>
                  </a:solidFill>
                  <a:latin typeface="Georgia"/>
                  <a:ea typeface="KaiTi"/>
                  <a:cs typeface="Georgia"/>
                </a:rPr>
                <a:t>"式的改造</a:t>
              </a:r>
            </a:p>
          </p:txBody>
        </p:sp>
        <p:sp>
          <p:nvSpPr>
            <p:cNvPr id="57" name="TextBox 57"/>
            <p:cNvSpPr txBox="1"/>
            <p:nvPr/>
          </p:nvSpPr>
          <p:spPr>
            <a:xfrm>
              <a:off x="10445782" y="6570345"/>
              <a:ext cx="1186148" cy="182880"/>
            </a:xfrm>
            <a:prstGeom prst="rect">
              <a:avLst/>
            </a:prstGeom>
            <a:noFill/>
            <a:ln>
              <a:noFill/>
            </a:ln>
          </p:spPr>
          <p:txBody>
            <a:bodyPr wrap="none" lIns="0" tIns="0" rIns="0" bIns="0" anchor="t" anchorCtr="0">
              <a:spAutoFit/>
            </a:bodyPr>
            <a:lstStyle/>
            <a:p>
              <a:pPr algn="r"/>
              <a:r>
                <a:rPr lang="zh-CN" sz="900" dirty="0">
                  <a:solidFill>
                    <a:srgbClr val="A8B0B8"/>
                  </a:solidFill>
                  <a:latin typeface="Georgia"/>
                  <a:ea typeface="SimSun"/>
                  <a:cs typeface="Georgia"/>
                </a:rPr>
                <a:t>— 谢谢观看 · 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heel(4)">
                                      <p:cBhvr>
                                        <p:cTn id="11" dur="400"/>
                                        <p:tgtEl>
                                          <p:spTgt spid="54"/>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left)">
                                      <p:cBhvr>
                                        <p:cTn id="15"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4" grpId="0"/>
      <p:bldP spid="5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