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这份演示册的主题是图文结合——我们用二十个页面，展示二十种完全不同的视觉语言。每一页都是一个独立的实验：不同的渲染风格、不同的调色板、不同的图文布局方式。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从最经典的左图右文，到Z型蛇形叙事，从圆形放射标注，到对角线分割，再到最后的黑板单句收场，你将看到图与文可以有多少种不同的组合方式。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最传统的图文布局——左侧竖版人物照片，右侧文字主体展开。编辑摄影的真实感与专业冷色调营造出商务简报的质感。图文比例约三比七，图轻文重，适合以内容叙述为核心的页面。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这一页把矢量插画放在右侧，并让图像从右边缘出血至画布之外。没有边框，没有留白，图就那样溢出去了。左侧文字浮在清爽的冰霜白底色上，大图与小字形成强烈的视觉张力。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全幅水彩山湖图占据上方超过一半的画面，底部三列文字如图注般排列。图像自上而下流淌到文字区域，视线顺势从宽阔的风景落到具体的信息。这种布局有一种页眉与脚注的阅读节奏。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手绘速写风格的温馨场景置于页面底部，文字在上方飘浮。图像像舞台布景，文字是前景的角色。马卡龙调色赋予整页一种教学素材特有的温柔气质。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人眼在阅读页面时，自然从左上向右下呈Z形扫视。这一页利用这个规律——等距三维科技图像与文字交替排布，三段内容沿Z字形流动。两张等距视角一致的图形成视觉上的连续性。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整页被切割成三乘三的九个格子。中心格放置蓝图风格电路板图像，周围八个格子各自承载文字说明、色彩样本、规格参数。图居中，信息环绕，这是最密集的图文并置方式之一。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圆形裁切的仪表盘图像悬浮在页面正中，六条细线从图像边缘向四角延伸，每条线末端是一个文字标注块。这是一种产品图解的逻辑——图如主体，文如注脚，向心张力把视线固定在中央。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像素复古风的城市夜景铺满整个画面，四个信息卡片叠压其上。图像在这里不是视觉重点，而是氛围载体——它提供了一个有温度的背景，文字信息在其上清晰呈现。遮罩层控制透明度，确保可读性。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五层剪纸山景从前景到远景层层叠叠，每层都有一个文字标注嵌入其中。文字不是浮在图上，而是融入不同的景深层。这是把文字嵌入图像内部结构的一种方式，而不只是覆盖在表面。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图像只占左侧百分之二十二的宽度——一道窄窄的竖条，如同书脊。右侧大字横排铺展，复古海报的双色调处理让整页只有两种颜色。图越小，字的力量越大。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页面被一条对角线切成两个三角形——左上是奇幻动画风的梦幻森林，右下是深色背景上的文字区域。这条边界不是垂直或水平的，而是斜的，这一个角度的变化就带来了强烈的动感和戏剧性。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水墨山水画被压低饱和度，退为页面底色，超大字体直接叠压其上。图变成了纹理，字成为了绝对的主角。这一页提醒我们，图像不一定要完整呈现，它可以半透明地存在，作为情绪背景。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上半幅是文字，下半幅是扁平设计风格的俯视图，一条宝石色渐变分割线将两者切开。图文各占一半，形成对等的对话关系——没有主次之分，只有上下的节奏。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正方形图像居于页面正中，六条线从图像边缘向外辐射，末端各带一段文字说明。这是产品手册的逻辑：图是主体，线是指引，字是解释。极简瑞士风格的设计让整个构图像一份精确的工程说明书。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丝网印刷风格的横条图像贯穿页面中腰，将上下两段文字切割分开。图在这里不是内容，而是节奏——它制造一个强制停顿，让读者在继续之前深吸一口气。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图像被裁切成六边形，文字在图形的外角和右侧空隙中自由填充。非矩形的容器让画面产生有机流动感，文字不是并排于图旁，而是找缝填入——这是图文关系中最自由的一种形式。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三张风格相近但内容各异的编辑摄影照片拼贴铺满整个画面，超大字体横跨三张图之上。蒙太奇的力量在于并置——单独的图未必有力量，但三张放在一起，压上一个大字，气场就来了。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每种组合都是一种语言。图文之间没有固定的公式，只有无穷的可能。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27dc8a200218fb2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6e669e2eecae61d9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7cc6a37c8049ed6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fd9ac49f285f98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908d57447f51ec9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96fc7fdb2f6716a.png"/>
  <Relationship Id="rId3" Type="http://schemas.openxmlformats.org/officeDocument/2006/relationships/image" Target="../media/image_6b3a271b8bca4786.pn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6555e829559ff85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989e1b0677a5f4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04de7dc36ac5992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9731085e6ad8970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cf6dbce12391454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ee18e0df688df8c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1ee216961a62098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9b54041f79b0ff5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74a95a0f0c55d1a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65cd8794aa3465c.pn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a0deabcc4ae5a31.png"/>
  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121af8c0290e3ec.png"/>
  <Relationship Id="rId3" Type="http://schemas.openxmlformats.org/officeDocument/2006/relationships/image" Target="../media/image_7a6c67ba4e6ef23e.png"/>
  <Relationship Id="rId4" Type="http://schemas.openxmlformats.org/officeDocument/2006/relationships/image" Target="../media/image_a0e03e83416f71f3.png"/>
  <Relationship Id="rId5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2611df02445fe22.png"/>
  <Relationship Id="rId3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C14"/>
              </a:gs>
              <a:gs pos="50000">
                <a:srgbClr val="0F1117"/>
              </a:gs>
              <a:gs pos="100000">
                <a:srgbClr val="12102A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C6FF7">
                  <a:alpha val="25000"/>
                </a:srgbClr>
              </a:gs>
              <a:gs pos="100000">
                <a:srgbClr val="7C6F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A623">
                  <a:alpha val="15000"/>
                </a:srgbClr>
              </a:gs>
              <a:gs pos="100000">
                <a:srgbClr val="F5A62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7">
              <a:alpha val="45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524000" y="1333500"/>
            <a:ext cx="9144000" cy="4191000"/>
          </a:xfrm>
          <a:prstGeom prst="roundRect">
            <a:avLst>
              <a:gd name="adj" fmla="val 4545"/>
            </a:avLst>
          </a:prstGeom>
          <a:gradFill>
            <a:gsLst>
              <a:gs pos="0">
                <a:srgbClr val="7C6FF7">
                  <a:alpha val="15000"/>
                </a:srgbClr>
              </a:gs>
              <a:gs pos="100000">
                <a:srgbClr val="4ECDC4">
                  <a:alpha val="5000"/>
                </a:srgbClr>
              </a:gs>
            </a:gsLst>
            <a:lin ang="2700000" scaled="1"/>
          </a:gradFill>
          <a:ln w="9525">
            <a:solidFill>
              <a:srgbClr val="7C6FF7">
                <a:alpha val="2000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524000" y="1333500"/>
            <a:ext cx="9144000" cy="9525"/>
          </a:xfrm>
          <a:prstGeom prst="rect">
            <a:avLst/>
          </a:prstGeom>
          <a:solidFill>
            <a:srgbClr val="E8E8F0">
              <a:alpha val="3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953500" y="762000"/>
            <a:ext cx="2095500" cy="762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5A623">
                  <a:alpha val="8000"/>
                </a:srgbClr>
              </a:gs>
              <a:gs pos="100000">
                <a:srgbClr val="7C6FF7">
                  <a:alpha val="12000"/>
                </a:srgbClr>
              </a:gs>
            </a:gsLst>
            <a:lin ang="8100000" scaled="1"/>
          </a:gradFill>
          <a:ln w="9525">
            <a:solidFill>
              <a:srgbClr val="F5A623">
                <a:alpha val="25000"/>
              </a:srgbClr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1143000" y="5715000"/>
            <a:ext cx="1714500" cy="5715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C6FF7">
                  <a:alpha val="15000"/>
                </a:srgbClr>
              </a:gs>
              <a:gs pos="100000">
                <a:srgbClr val="4ECDC4">
                  <a:alpha val="5000"/>
                </a:srgbClr>
              </a:gs>
            </a:gsLst>
            <a:lin ang="2700000" scaled="1"/>
          </a:gradFill>
          <a:ln w="9525">
            <a:solidFill>
              <a:srgbClr val="4ECDC4">
                <a:alpha val="2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9039225" y="885825"/>
            <a:ext cx="57150" cy="57150"/>
          </a:xfrm>
          <a:prstGeom prst="ellipse">
            <a:avLst/>
          </a:prstGeom>
          <a:solidFill>
            <a:srgbClr val="F5A623">
              <a:alpha val="6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172575" y="885825"/>
            <a:ext cx="57150" cy="57150"/>
          </a:xfrm>
          <a:prstGeom prst="ellipse">
            <a:avLst/>
          </a:prstGeom>
          <a:solidFill>
            <a:srgbClr val="F5A623">
              <a:alpha val="4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9305925" y="885825"/>
            <a:ext cx="57150" cy="57150"/>
          </a:xfrm>
          <a:prstGeom prst="ellipse">
            <a:avLst/>
          </a:prstGeom>
          <a:solidFill>
            <a:srgbClr val="F5A623">
              <a:alpha val="20000"/>
            </a:srgbClr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1905000" y="295275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gradFill>
              <a:gsLst>
                <a:gs pos="0">
                  <a:srgbClr val="7C6FF7">
                    <a:alpha val="30000"/>
                  </a:srgbClr>
                </a:gs>
                <a:gs pos="100000">
                  <a:srgbClr val="4ECDC4">
                    <a:alpha val="30000"/>
                  </a:srgbClr>
                </a:gs>
              </a:gsLst>
              <a:lin ang="0" scaled="1"/>
            </a:gradFill>
          </a:ln>
        </p:spPr>
      </p:sp>
      <p:sp>
        <p:nvSpPr>
          <p:cNvPr id="15" name="TextBox 15"/>
          <p:cNvSpPr txBox="1"/>
          <p:nvPr/>
        </p:nvSpPr>
        <p:spPr>
          <a:xfrm>
            <a:off x="3987927" y="1859280"/>
            <a:ext cx="4216146" cy="1341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600" b="1" dirty="0">
                <a:solidFill>
                  <a:srgbClr val="E8E8F0"/>
                </a:solidFill>
                <a:latin typeface="Georgia"/>
                <a:ea typeface="Microsoft YaHei"/>
                <a:cs typeface="Georgia"/>
              </a:rPr>
              <a:t>图文结合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90609" y="3170872"/>
            <a:ext cx="321078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20种视觉语言的并置实验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143500" y="3571875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C6FF7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358765" y="4355306"/>
            <a:ext cx="14744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PPT MASTER · 2026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86912" y="961549"/>
            <a:ext cx="10286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5A623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glassmorphism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44955" y="1149191"/>
            <a:ext cx="9125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dark-cinematic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87868" y="5857399"/>
            <a:ext cx="224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ECDC4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P01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97418" y="58573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封面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3238500" cy="6858000"/>
          </a:xfrm>
          <a:prstGeom prst="rect">
            <a:avLst/>
          </a:prstGeom>
          <a:solidFill>
            <a:srgbClr val="1A1D2E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00400" y="0"/>
            <a:ext cx="38100" cy="6858000"/>
          </a:xfrm>
          <a:prstGeom prst="rect">
            <a:avLst/>
          </a:prstGeom>
          <a:gradFill>
            <a:gsLst>
              <a:gs pos="0">
                <a:srgbClr val="7C6FF7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571500"/>
            <a:ext cx="24765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C6FF7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44805" y="835342"/>
            <a:ext cx="94649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E8E8F0"/>
                </a:solidFill>
                <a:latin typeface="Georgia"/>
                <a:ea typeface="Microsoft YaHei"/>
                <a:cs typeface="Georgia"/>
              </a:rPr>
              <a:t>目录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712" y="1288256"/>
            <a:ext cx="7843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4808" y="1767364"/>
            <a:ext cx="7772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本册展示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4808" y="1995964"/>
            <a:ext cx="154071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20种图文结合范式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4808" y="2224564"/>
            <a:ext cx="112173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7C6FF7"/>
                </a:solidFill>
                <a:latin typeface="Arial"/>
                <a:ea typeface="Microsoft YaHei"/>
                <a:cs typeface="Arial"/>
              </a:rPr>
              <a:t>18种渲染风格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4808" y="2453164"/>
            <a:ext cx="9355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14种调色板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14338" y="3081338"/>
            <a:ext cx="200025" cy="200025"/>
            <a:chOff x="414338" y="3081338"/>
            <a:chExt cx="200025" cy="200025"/>
          </a:xfrm>
        </p:grpSpPr>
        <p:sp>
          <p:nvSpPr>
            <p:cNvPr id="12" name="Freeform 12"/>
            <p:cNvSpPr/>
            <p:nvPr/>
          </p:nvSpPr>
          <p:spPr>
            <a:xfrm>
              <a:off x="547688" y="31369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111" y="0"/>
                  </a:lnTo>
                </a:path>
              </a:pathLst>
            </a:custGeom>
            <a:noFill/>
            <a:ln w="19050">
              <a:solidFill>
                <a:srgbClr val="7C6FF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14338" y="3081338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33338"/>
                  </a:moveTo>
                  <a:cubicBezTo>
                    <a:pt x="0" y="14926"/>
                    <a:pt x="14926" y="0"/>
                    <a:pt x="33338" y="0"/>
                  </a:cubicBezTo>
                  <a:lnTo>
                    <a:pt x="166688" y="0"/>
                  </a:lnTo>
                  <a:cubicBezTo>
                    <a:pt x="185099" y="0"/>
                    <a:pt x="200025" y="14926"/>
                    <a:pt x="200025" y="33338"/>
                  </a:cubicBezTo>
                  <a:lnTo>
                    <a:pt x="200025" y="166688"/>
                  </a:lnTo>
                  <a:cubicBezTo>
                    <a:pt x="200025" y="185099"/>
                    <a:pt x="185099" y="200025"/>
                    <a:pt x="166688" y="200025"/>
                  </a:cubicBezTo>
                  <a:lnTo>
                    <a:pt x="33338" y="200025"/>
                  </a:lnTo>
                  <a:cubicBezTo>
                    <a:pt x="14926" y="200025"/>
                    <a:pt x="0" y="185099"/>
                    <a:pt x="0" y="166688"/>
                  </a:cubicBezTo>
                  <a:lnTo>
                    <a:pt x="0" y="33338"/>
                  </a:lnTo>
                </a:path>
              </a:pathLst>
            </a:custGeom>
            <a:noFill/>
            <a:ln w="19050">
              <a:solidFill>
                <a:srgbClr val="7C6FF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4338" y="3160314"/>
              <a:ext cx="144463" cy="65486"/>
            </a:xfrm>
            <a:custGeom>
              <a:avLst/>
              <a:gdLst/>
              <a:ahLst/>
              <a:cxnLst/>
              <a:rect l="l" t="t" r="r" b="b"/>
              <a:pathLst>
                <a:path w="144463" h="65486">
                  <a:moveTo>
                    <a:pt x="0" y="65486"/>
                  </a:moveTo>
                  <a:lnTo>
                    <a:pt x="55563" y="9923"/>
                  </a:lnTo>
                  <a:cubicBezTo>
                    <a:pt x="65875" y="0"/>
                    <a:pt x="78588" y="0"/>
                    <a:pt x="88900" y="9923"/>
                  </a:cubicBezTo>
                  <a:lnTo>
                    <a:pt x="144463" y="65486"/>
                  </a:lnTo>
                </a:path>
              </a:pathLst>
            </a:custGeom>
            <a:noFill/>
            <a:ln w="19050">
              <a:solidFill>
                <a:srgbClr val="7C6FF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36575" y="3182539"/>
              <a:ext cx="77787" cy="43261"/>
            </a:xfrm>
            <a:custGeom>
              <a:avLst/>
              <a:gdLst/>
              <a:ahLst/>
              <a:cxnLst/>
              <a:rect l="l" t="t" r="r" b="b"/>
              <a:pathLst>
                <a:path w="77787" h="43261">
                  <a:moveTo>
                    <a:pt x="0" y="21036"/>
                  </a:moveTo>
                  <a:lnTo>
                    <a:pt x="11112" y="9923"/>
                  </a:lnTo>
                  <a:cubicBezTo>
                    <a:pt x="21425" y="0"/>
                    <a:pt x="34138" y="0"/>
                    <a:pt x="44450" y="9923"/>
                  </a:cubicBezTo>
                  <a:lnTo>
                    <a:pt x="77787" y="43261"/>
                  </a:lnTo>
                </a:path>
              </a:pathLst>
            </a:custGeom>
            <a:noFill/>
            <a:ln w="19050">
              <a:solidFill>
                <a:srgbClr val="7C6FF7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06450" y="3092450"/>
            <a:ext cx="177800" cy="177800"/>
            <a:chOff x="806450" y="309245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806450" y="309245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22225"/>
                  </a:moveTo>
                  <a:cubicBezTo>
                    <a:pt x="0" y="9950"/>
                    <a:pt x="9950" y="0"/>
                    <a:pt x="22225" y="0"/>
                  </a:cubicBezTo>
                  <a:lnTo>
                    <a:pt x="155575" y="0"/>
                  </a:lnTo>
                  <a:cubicBezTo>
                    <a:pt x="167850" y="0"/>
                    <a:pt x="177800" y="9950"/>
                    <a:pt x="177800" y="22225"/>
                  </a:cubicBezTo>
                  <a:lnTo>
                    <a:pt x="177800" y="155575"/>
                  </a:lnTo>
                  <a:cubicBezTo>
                    <a:pt x="177800" y="167850"/>
                    <a:pt x="167850" y="177800"/>
                    <a:pt x="155575" y="177800"/>
                  </a:cubicBezTo>
                  <a:lnTo>
                    <a:pt x="22225" y="177800"/>
                  </a:lnTo>
                  <a:cubicBezTo>
                    <a:pt x="9950" y="177800"/>
                    <a:pt x="0" y="167850"/>
                    <a:pt x="0" y="155575"/>
                  </a:cubicBezTo>
                  <a:lnTo>
                    <a:pt x="0" y="22225"/>
                  </a:lnTo>
                </a:path>
              </a:pathLst>
            </a:custGeom>
            <a:noFill/>
            <a:ln w="19050">
              <a:solidFill>
                <a:srgbClr val="4ECDC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73125" y="3092450"/>
              <a:ext cx="44450" cy="177800"/>
            </a:xfrm>
            <a:custGeom>
              <a:avLst/>
              <a:gdLst/>
              <a:ahLst/>
              <a:cxnLst/>
              <a:rect l="l" t="t" r="r" b="b"/>
              <a:pathLst>
                <a:path w="44450" h="177800">
                  <a:moveTo>
                    <a:pt x="0" y="0"/>
                  </a:moveTo>
                  <a:lnTo>
                    <a:pt x="44450" y="177800"/>
                  </a:lnTo>
                </a:path>
              </a:pathLst>
            </a:custGeom>
            <a:noFill/>
            <a:ln w="19050">
              <a:solidFill>
                <a:srgbClr val="4ECDC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06450" y="3181350"/>
              <a:ext cx="88900" cy="22225"/>
            </a:xfrm>
            <a:custGeom>
              <a:avLst/>
              <a:gdLst/>
              <a:ahLst/>
              <a:cxnLst/>
              <a:rect l="l" t="t" r="r" b="b"/>
              <a:pathLst>
                <a:path w="88900" h="22225">
                  <a:moveTo>
                    <a:pt x="88900" y="0"/>
                  </a:moveTo>
                  <a:lnTo>
                    <a:pt x="0" y="22225"/>
                  </a:lnTo>
                </a:path>
              </a:pathLst>
            </a:custGeom>
            <a:noFill/>
            <a:ln w="19050">
              <a:solidFill>
                <a:srgbClr val="4ECDC4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176338" y="3081338"/>
            <a:ext cx="200025" cy="200589"/>
            <a:chOff x="1176338" y="3081338"/>
            <a:chExt cx="200025" cy="200589"/>
          </a:xfrm>
        </p:grpSpPr>
        <p:sp>
          <p:nvSpPr>
            <p:cNvPr id="21" name="Freeform 21"/>
            <p:cNvSpPr/>
            <p:nvPr/>
          </p:nvSpPr>
          <p:spPr>
            <a:xfrm>
              <a:off x="1176338" y="3081338"/>
              <a:ext cx="200025" cy="200589"/>
            </a:xfrm>
            <a:custGeom>
              <a:avLst/>
              <a:gdLst/>
              <a:ahLst/>
              <a:cxnLst/>
              <a:rect l="l" t="t" r="r" b="b"/>
              <a:pathLst>
                <a:path w="200025" h="200589">
                  <a:moveTo>
                    <a:pt x="100012" y="200025"/>
                  </a:moveTo>
                  <a:cubicBezTo>
                    <a:pt x="44777" y="200025"/>
                    <a:pt x="0" y="155248"/>
                    <a:pt x="0" y="100012"/>
                  </a:cubicBezTo>
                  <a:cubicBezTo>
                    <a:pt x="0" y="44777"/>
                    <a:pt x="44777" y="0"/>
                    <a:pt x="100012" y="0"/>
                  </a:cubicBezTo>
                  <a:cubicBezTo>
                    <a:pt x="155242" y="0"/>
                    <a:pt x="200025" y="39805"/>
                    <a:pt x="200025" y="88900"/>
                  </a:cubicBezTo>
                  <a:cubicBezTo>
                    <a:pt x="200025" y="100679"/>
                    <a:pt x="194758" y="111992"/>
                    <a:pt x="185379" y="120326"/>
                  </a:cubicBezTo>
                  <a:cubicBezTo>
                    <a:pt x="176000" y="128661"/>
                    <a:pt x="163276" y="133350"/>
                    <a:pt x="150019" y="133350"/>
                  </a:cubicBezTo>
                  <a:lnTo>
                    <a:pt x="122238" y="133350"/>
                  </a:lnTo>
                  <a:cubicBezTo>
                    <a:pt x="112036" y="133186"/>
                    <a:pt x="103034" y="139988"/>
                    <a:pt x="100405" y="149846"/>
                  </a:cubicBezTo>
                  <a:cubicBezTo>
                    <a:pt x="97776" y="159703"/>
                    <a:pt x="102197" y="170085"/>
                    <a:pt x="111125" y="175022"/>
                  </a:cubicBezTo>
                  <a:cubicBezTo>
                    <a:pt x="115674" y="179220"/>
                    <a:pt x="117044" y="185849"/>
                    <a:pt x="114529" y="191506"/>
                  </a:cubicBezTo>
                  <a:cubicBezTo>
                    <a:pt x="112015" y="197163"/>
                    <a:pt x="106177" y="200589"/>
                    <a:pt x="100012" y="200025"/>
                  </a:cubicBezTo>
                </a:path>
              </a:pathLst>
            </a:custGeom>
            <a:noFill/>
            <a:ln w="19050">
              <a:solidFill>
                <a:srgbClr val="F5A623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226344" y="3153569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3"/>
                  </a:moveTo>
                  <a:cubicBezTo>
                    <a:pt x="0" y="17250"/>
                    <a:pt x="4975" y="22225"/>
                    <a:pt x="11112" y="22225"/>
                  </a:cubicBezTo>
                  <a:cubicBezTo>
                    <a:pt x="17250" y="22225"/>
                    <a:pt x="22225" y="17250"/>
                    <a:pt x="22225" y="11113"/>
                  </a:cubicBezTo>
                  <a:cubicBezTo>
                    <a:pt x="22225" y="4975"/>
                    <a:pt x="17250" y="0"/>
                    <a:pt x="11112" y="0"/>
                  </a:cubicBezTo>
                  <a:cubicBezTo>
                    <a:pt x="4975" y="0"/>
                    <a:pt x="0" y="4975"/>
                    <a:pt x="0" y="11113"/>
                  </a:cubicBezTo>
                </a:path>
              </a:pathLst>
            </a:custGeom>
            <a:noFill/>
            <a:ln w="19050">
              <a:solidFill>
                <a:srgbClr val="F5A623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270794" y="3120231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3"/>
                  </a:moveTo>
                  <a:cubicBezTo>
                    <a:pt x="0" y="17250"/>
                    <a:pt x="4975" y="22225"/>
                    <a:pt x="11113" y="22225"/>
                  </a:cubicBezTo>
                  <a:cubicBezTo>
                    <a:pt x="17250" y="22225"/>
                    <a:pt x="22225" y="17250"/>
                    <a:pt x="22225" y="11113"/>
                  </a:cubicBezTo>
                  <a:cubicBezTo>
                    <a:pt x="22225" y="4975"/>
                    <a:pt x="17250" y="0"/>
                    <a:pt x="11113" y="0"/>
                  </a:cubicBezTo>
                  <a:cubicBezTo>
                    <a:pt x="4975" y="0"/>
                    <a:pt x="0" y="4975"/>
                    <a:pt x="0" y="11113"/>
                  </a:cubicBezTo>
                </a:path>
              </a:pathLst>
            </a:custGeom>
            <a:noFill/>
            <a:ln w="19050">
              <a:solidFill>
                <a:srgbClr val="F5A623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315244" y="3153569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3"/>
                  </a:moveTo>
                  <a:cubicBezTo>
                    <a:pt x="0" y="17250"/>
                    <a:pt x="4975" y="22225"/>
                    <a:pt x="11112" y="22225"/>
                  </a:cubicBezTo>
                  <a:cubicBezTo>
                    <a:pt x="17250" y="22225"/>
                    <a:pt x="22225" y="17250"/>
                    <a:pt x="22225" y="11113"/>
                  </a:cubicBezTo>
                  <a:cubicBezTo>
                    <a:pt x="22225" y="4975"/>
                    <a:pt x="17250" y="0"/>
                    <a:pt x="11112" y="0"/>
                  </a:cubicBezTo>
                  <a:cubicBezTo>
                    <a:pt x="4975" y="0"/>
                    <a:pt x="0" y="4975"/>
                    <a:pt x="0" y="11113"/>
                  </a:cubicBezTo>
                </a:path>
              </a:pathLst>
            </a:custGeom>
            <a:noFill/>
            <a:ln w="19050">
              <a:solidFill>
                <a:srgbClr val="F5A623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568450" y="3092450"/>
            <a:ext cx="177800" cy="177800"/>
            <a:chOff x="1568450" y="3092450"/>
            <a:chExt cx="177800" cy="177800"/>
          </a:xfrm>
        </p:grpSpPr>
        <p:sp>
          <p:nvSpPr>
            <p:cNvPr id="26" name="Freeform 26"/>
            <p:cNvSpPr/>
            <p:nvPr/>
          </p:nvSpPr>
          <p:spPr>
            <a:xfrm>
              <a:off x="1612900" y="309245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22225"/>
                  </a:moveTo>
                  <a:cubicBezTo>
                    <a:pt x="0" y="9950"/>
                    <a:pt x="9950" y="0"/>
                    <a:pt x="22225" y="0"/>
                  </a:cubicBezTo>
                  <a:lnTo>
                    <a:pt x="111125" y="0"/>
                  </a:lnTo>
                  <a:cubicBezTo>
                    <a:pt x="123400" y="0"/>
                    <a:pt x="133350" y="9950"/>
                    <a:pt x="133350" y="22225"/>
                  </a:cubicBezTo>
                  <a:lnTo>
                    <a:pt x="133350" y="111125"/>
                  </a:lnTo>
                  <a:cubicBezTo>
                    <a:pt x="133350" y="123400"/>
                    <a:pt x="123400" y="133350"/>
                    <a:pt x="111125" y="133350"/>
                  </a:cubicBezTo>
                  <a:lnTo>
                    <a:pt x="22225" y="133350"/>
                  </a:lnTo>
                  <a:cubicBezTo>
                    <a:pt x="9950" y="133350"/>
                    <a:pt x="0" y="123400"/>
                    <a:pt x="0" y="111125"/>
                  </a:cubicBezTo>
                  <a:lnTo>
                    <a:pt x="0" y="22225"/>
                  </a:lnTo>
                </a:path>
              </a:pathLst>
            </a:custGeom>
            <a:noFill/>
            <a:ln w="19050">
              <a:solidFill>
                <a:srgbClr val="E8E8F0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568450" y="3136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22225"/>
                  </a:moveTo>
                  <a:cubicBezTo>
                    <a:pt x="0" y="9950"/>
                    <a:pt x="9950" y="0"/>
                    <a:pt x="22225" y="0"/>
                  </a:cubicBezTo>
                  <a:lnTo>
                    <a:pt x="111125" y="0"/>
                  </a:lnTo>
                  <a:cubicBezTo>
                    <a:pt x="123400" y="0"/>
                    <a:pt x="133350" y="9950"/>
                    <a:pt x="133350" y="22225"/>
                  </a:cubicBezTo>
                  <a:lnTo>
                    <a:pt x="133350" y="111125"/>
                  </a:lnTo>
                  <a:cubicBezTo>
                    <a:pt x="133350" y="123400"/>
                    <a:pt x="123400" y="133350"/>
                    <a:pt x="111125" y="133350"/>
                  </a:cubicBezTo>
                  <a:lnTo>
                    <a:pt x="22225" y="133350"/>
                  </a:lnTo>
                  <a:cubicBezTo>
                    <a:pt x="9950" y="133350"/>
                    <a:pt x="0" y="123400"/>
                    <a:pt x="0" y="111125"/>
                  </a:cubicBezTo>
                  <a:lnTo>
                    <a:pt x="0" y="22225"/>
                  </a:lnTo>
                </a:path>
              </a:pathLst>
            </a:custGeom>
            <a:noFill/>
            <a:ln w="19050">
              <a:solidFill>
                <a:srgbClr val="E8E8F0"/>
              </a:solidFill>
            </a:ln>
          </p:spPr>
        </p:sp>
      </p:grpSp>
      <p:sp>
        <p:nvSpPr>
          <p:cNvPr id="29" name="Rectangle 29"/>
          <p:cNvSpPr/>
          <p:nvPr/>
        </p:nvSpPr>
        <p:spPr>
          <a:xfrm>
            <a:off x="381000" y="5905500"/>
            <a:ext cx="762000" cy="342900"/>
          </a:xfrm>
          <a:prstGeom prst="roundRect">
            <a:avLst>
              <a:gd name="adj" fmla="val 50000"/>
            </a:avLst>
          </a:prstGeom>
          <a:solidFill>
            <a:srgbClr val="7C6FF7">
              <a:alpha val="15000"/>
            </a:srgbClr>
          </a:solidFill>
          <a:ln w="9525">
            <a:solidFill>
              <a:srgbClr val="7C6FF7">
                <a:alpha val="30000"/>
              </a:srgbClr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50545" y="6003131"/>
            <a:ext cx="422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C6FF7"/>
                </a:solidFill>
                <a:latin typeface="Arial"/>
                <a:ea typeface="Microsoft YaHei"/>
                <a:cs typeface="Arial"/>
              </a:rPr>
              <a:t>20 页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02368" y="65674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01 — 10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3702368" y="967264"/>
            <a:ext cx="4424434" cy="3002280"/>
            <a:chOff x="3702368" y="967264"/>
            <a:chExt cx="4424434" cy="3002280"/>
          </a:xfrm>
        </p:grpSpPr>
        <p:sp>
          <p:nvSpPr>
            <p:cNvPr id="32" name="TextBox 32"/>
            <p:cNvSpPr txBox="1"/>
            <p:nvPr/>
          </p:nvSpPr>
          <p:spPr>
            <a:xfrm>
              <a:off x="3702368" y="9996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C6FF7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65258" y="967264"/>
              <a:ext cx="40481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封面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02618" y="999649"/>
              <a:ext cx="22461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glassmorphism × dark-cinematic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02368" y="13044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65258" y="1272064"/>
              <a:ext cx="40481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090A0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02618" y="13044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结构导航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02368" y="16092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65258" y="1576864"/>
              <a:ext cx="777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左图右文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02618" y="1609249"/>
              <a:ext cx="24241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corporate-photo × cool-corporate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02368" y="1914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65258" y="1881664"/>
              <a:ext cx="777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右图出血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02618" y="1914049"/>
              <a:ext cx="22034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vector-illustration × frost-ice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02368" y="22188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65258" y="2186464"/>
              <a:ext cx="9634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顶图三栏文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702618" y="2218849"/>
              <a:ext cx="1804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watercolor × warm-earth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02368" y="25236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06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65258" y="2491264"/>
              <a:ext cx="777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底图浮文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02618" y="2523649"/>
              <a:ext cx="1705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sketch-notes × macaron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702368" y="28284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07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965258" y="2796064"/>
              <a:ext cx="10658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Z型蛇形叙事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02618" y="2828449"/>
              <a:ext cx="17905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3d-isometric × tech-neon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02368" y="31332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08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965258" y="3100864"/>
              <a:ext cx="9634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九宫格混排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702618" y="3133249"/>
              <a:ext cx="19756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blueprint × editorial-classic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702368" y="3438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09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965258" y="3405664"/>
              <a:ext cx="777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圆形放射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702618" y="3438049"/>
              <a:ext cx="20325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digital-dashboard × mono-ink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702368" y="37428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10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965258" y="3710464"/>
              <a:ext cx="777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底纹密铺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702618" y="3742849"/>
              <a:ext cx="16552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pixel-art × vivid-launch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3714750" y="4048125"/>
            <a:ext cx="7905750" cy="9525"/>
          </a:xfrm>
          <a:custGeom>
            <a:avLst/>
            <a:gdLst/>
            <a:ahLst/>
            <a:cxnLst/>
            <a:rect l="l" t="t" r="r" b="b"/>
            <a:pathLst>
              <a:path w="7905750" h="9525">
                <a:moveTo>
                  <a:pt x="0" y="0"/>
                </a:moveTo>
                <a:lnTo>
                  <a:pt x="7905750" y="0"/>
                </a:lnTo>
              </a:path>
            </a:pathLst>
          </a:custGeom>
          <a:noFill/>
          <a:ln w="9525">
            <a:solidFill>
              <a:srgbClr val="2A2D3E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3702368" y="4228624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11 — 20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3702368" y="4529614"/>
            <a:ext cx="7226879" cy="1992630"/>
            <a:chOff x="3702368" y="4529614"/>
            <a:chExt cx="7226879" cy="1992630"/>
          </a:xfrm>
        </p:grpSpPr>
        <p:sp>
          <p:nvSpPr>
            <p:cNvPr id="65" name="TextBox 65"/>
            <p:cNvSpPr txBox="1"/>
            <p:nvPr/>
          </p:nvSpPr>
          <p:spPr>
            <a:xfrm>
              <a:off x="3702368" y="4561999"/>
              <a:ext cx="1102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11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965258" y="4529614"/>
              <a:ext cx="777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剪纸分层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702618" y="4561999"/>
              <a:ext cx="19542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paper-cut × nature-organic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702368" y="48096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12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965258" y="477726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竖版杂志窄图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702618" y="4809649"/>
              <a:ext cx="17976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vintage-poster × duotone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702368" y="50572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13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965258" y="5024914"/>
              <a:ext cx="9634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对角线分割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702618" y="5057299"/>
              <a:ext cx="26164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fantasy-animation × sunset-gradient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702368" y="53049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14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965258" y="527256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褪色底图大字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702618" y="5304949"/>
              <a:ext cx="17976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ink-notes × earthy-dusty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702368" y="55525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15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965258" y="552021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上文下图对称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702618" y="5552599"/>
              <a:ext cx="12066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flat × jewel-tone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702368" y="58002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16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965258" y="576786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中心放射标注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702618" y="5800249"/>
              <a:ext cx="2502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minimalist-swiss × editorial-classic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3702368" y="60478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17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3965258" y="6015514"/>
              <a:ext cx="777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横条贯穿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702618" y="6047899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screen-print × vivid-launch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417118" y="60478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18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80008" y="6015514"/>
              <a:ext cx="9634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多边形填缝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131618" y="6047899"/>
              <a:ext cx="17976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nature × sunset-gradient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702368" y="62955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19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965258" y="6263164"/>
              <a:ext cx="9634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蒙太奇拼贴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702618" y="6295549"/>
              <a:ext cx="1840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editorial × dark-cinematic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417118" y="6295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Consolas"/>
                  <a:ea typeface="Microsoft YaHei"/>
                  <a:cs typeface="Consolas"/>
                </a:rPr>
                <a:t>20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680008" y="6263164"/>
              <a:ext cx="777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黑板收场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131618" y="6295549"/>
              <a:ext cx="1555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72"/>
                  </a:solidFill>
                  <a:latin typeface="Arial"/>
                  <a:ea typeface="Microsoft YaHei"/>
                  <a:cs typeface="Arial"/>
                </a:rPr>
                <a:t>chalkboard × mono-ink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641979" y="6562249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8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5521" t="0" r="5521" b="0"/>
          <a:stretch>
            <a:fillRect/>
          </a:stretch>
        </p:blipFill>
        <p:spPr>
          <a:xfrm>
            <a:off x="0" y="0"/>
            <a:ext cx="4067175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4067175" cy="6858000"/>
          </a:xfrm>
          <a:prstGeom prst="rect">
            <a:avLst/>
          </a:prstGeom>
          <a:gradFill>
            <a:gsLst>
              <a:gs pos="0">
                <a:srgbClr val="0F1117">
                  <a:alpha val="0"/>
                </a:srgbClr>
              </a:gs>
              <a:gs pos="70000">
                <a:srgbClr val="0F1117">
                  <a:alpha val="30000"/>
                </a:srgbClr>
              </a:gs>
              <a:gs pos="100000">
                <a:srgbClr val="0F1117">
                  <a:alpha val="90000"/>
                </a:srgbClr>
              </a:gs>
            </a:gsLst>
            <a:lin ang="10800000" scaled="1"/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4067175" y="5715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9525">
            <a:solidFill>
              <a:srgbClr val="7C6FF7">
                <a:alpha val="40000"/>
              </a:srgbClr>
            </a:solidFill>
          </a:ln>
        </p:spPr>
      </p:sp>
      <p:sp>
        <p:nvSpPr>
          <p:cNvPr id="6" name="Rectangle 6"/>
          <p:cNvSpPr/>
          <p:nvPr/>
        </p:nvSpPr>
        <p:spPr>
          <a:xfrm>
            <a:off x="4067175" y="0"/>
            <a:ext cx="812482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4381500" y="457200"/>
            <a:ext cx="1905000" cy="266700"/>
          </a:xfrm>
          <a:prstGeom prst="roundRect">
            <a:avLst>
              <a:gd name="adj" fmla="val 14286"/>
            </a:avLst>
          </a:prstGeom>
          <a:solidFill>
            <a:srgbClr val="1A1D2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464368" y="532924"/>
            <a:ext cx="1199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C6FF7"/>
                </a:solidFill>
                <a:latin typeface="Arial"/>
                <a:ea typeface="Microsoft YaHei"/>
                <a:cs typeface="Arial"/>
              </a:rPr>
              <a:t>corporate-photo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74118" y="532924"/>
            <a:ext cx="1206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× cool-corporate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69118" y="847249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5A72"/>
                </a:solidFill>
                <a:latin typeface="Consolas"/>
                <a:ea typeface="Microsoft YaHei"/>
                <a:cs typeface="Consolas"/>
              </a:rPr>
              <a:t>P03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45305" y="911542"/>
            <a:ext cx="182060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E8E8F0"/>
                </a:solidFill>
                <a:latin typeface="Georgia"/>
                <a:ea typeface="Microsoft YaHei"/>
                <a:cs typeface="Georgia"/>
              </a:rPr>
              <a:t>左图右文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65308" y="1367314"/>
            <a:ext cx="214591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Left Image · Right Text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81500" y="163830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C6FF7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62450" y="1933575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图像占据左侧 1/3 画面，竖版构图，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62450" y="2200275"/>
            <a:ext cx="28860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文字主体在右侧大面积展开。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62450" y="2657475"/>
            <a:ext cx="34447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图文比例约 3 : 7，适合以内容叙述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62450" y="2924175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为主、图像为辅助情境的页面。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381500" y="35242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7C6FF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516755" y="347376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编辑摄影风格，真实场景感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39052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516755" y="385476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冷色调专业配色，商务感强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381500" y="42862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516755" y="423576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图像右边缘渐隐，融入背景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381500" y="5048250"/>
            <a:ext cx="3619500" cy="952500"/>
          </a:xfrm>
          <a:prstGeom prst="roundRect">
            <a:avLst>
              <a:gd name="adj" fmla="val 8000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559618" y="5228749"/>
            <a:ext cx="6940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A0"/>
                </a:solidFill>
                <a:latin typeface="Consolas"/>
                <a:ea typeface="Microsoft YaHei"/>
                <a:cs typeface="Consolas"/>
              </a:rPr>
              <a:t>Rendering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02618" y="5228749"/>
            <a:ext cx="1199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8F0"/>
                </a:solidFill>
                <a:latin typeface="Consolas"/>
                <a:ea typeface="Microsoft YaHei"/>
                <a:cs typeface="Consolas"/>
              </a:rPr>
              <a:t>corporate-photo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9618" y="5447824"/>
            <a:ext cx="5374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A0"/>
                </a:solidFill>
                <a:latin typeface="Consolas"/>
                <a:ea typeface="Microsoft YaHei"/>
                <a:cs typeface="Consolas"/>
              </a:rPr>
              <a:t>Palette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02618" y="5447824"/>
            <a:ext cx="108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8F0"/>
                </a:solidFill>
                <a:latin typeface="Consolas"/>
                <a:ea typeface="Microsoft YaHei"/>
                <a:cs typeface="Consolas"/>
              </a:rPr>
              <a:t>cool-corporate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9618" y="566689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A0"/>
                </a:solidFill>
                <a:latin typeface="Consolas"/>
                <a:ea typeface="Microsoft YaHei"/>
                <a:cs typeface="Consolas"/>
              </a:rPr>
              <a:t>Layout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02618" y="5666899"/>
            <a:ext cx="18830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8F0"/>
                </a:solidFill>
                <a:latin typeface="Consolas"/>
                <a:ea typeface="Microsoft YaHei"/>
                <a:cs typeface="Consolas"/>
              </a:rPr>
              <a:t>left-1/3 image + right text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445500" y="5207000"/>
            <a:ext cx="254000" cy="254000"/>
            <a:chOff x="8445500" y="5207000"/>
            <a:chExt cx="254000" cy="254000"/>
          </a:xfrm>
        </p:grpSpPr>
        <p:sp>
          <p:nvSpPr>
            <p:cNvPr id="31" name="Freeform 31"/>
            <p:cNvSpPr/>
            <p:nvPr/>
          </p:nvSpPr>
          <p:spPr>
            <a:xfrm>
              <a:off x="8445500" y="5207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0" y="31750"/>
                  </a:moveTo>
                  <a:cubicBezTo>
                    <a:pt x="0" y="14215"/>
                    <a:pt x="14215" y="0"/>
                    <a:pt x="31750" y="0"/>
                  </a:cubicBezTo>
                  <a:lnTo>
                    <a:pt x="222250" y="0"/>
                  </a:lnTo>
                  <a:cubicBezTo>
                    <a:pt x="239785" y="0"/>
                    <a:pt x="254000" y="14215"/>
                    <a:pt x="254000" y="31750"/>
                  </a:cubicBezTo>
                  <a:lnTo>
                    <a:pt x="254000" y="222250"/>
                  </a:lnTo>
                  <a:cubicBezTo>
                    <a:pt x="254000" y="239785"/>
                    <a:pt x="239785" y="254000"/>
                    <a:pt x="222250" y="254000"/>
                  </a:cubicBezTo>
                  <a:lnTo>
                    <a:pt x="31750" y="254000"/>
                  </a:lnTo>
                  <a:cubicBezTo>
                    <a:pt x="14215" y="254000"/>
                    <a:pt x="0" y="239785"/>
                    <a:pt x="0" y="222250"/>
                  </a:cubicBezTo>
                  <a:lnTo>
                    <a:pt x="0" y="31750"/>
                  </a:lnTo>
                </a:path>
              </a:pathLst>
            </a:custGeom>
            <a:noFill/>
            <a:ln w="19050">
              <a:solidFill>
                <a:srgbClr val="7C6FF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572500" y="5207000"/>
              <a:ext cx="9525" cy="254000"/>
            </a:xfrm>
            <a:custGeom>
              <a:avLst/>
              <a:gdLst/>
              <a:ahLst/>
              <a:cxnLst/>
              <a:rect l="l" t="t" r="r" b="b"/>
              <a:pathLst>
                <a:path w="9525" h="254000">
                  <a:moveTo>
                    <a:pt x="0" y="0"/>
                  </a:moveTo>
                  <a:lnTo>
                    <a:pt x="0" y="254000"/>
                  </a:lnTo>
                </a:path>
              </a:pathLst>
            </a:custGeom>
            <a:noFill/>
            <a:ln w="19050">
              <a:solidFill>
                <a:srgbClr val="7C6FF7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0F4FA"/>
              </a:gs>
              <a:gs pos="100000">
                <a:srgbClr val="E4EEF8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15714" r="0" b="15714"/>
          <a:stretch>
            <a:fillRect/>
          </a:stretch>
        </p:blipFill>
        <p:spPr>
          <a:xfrm>
            <a:off x="4191000" y="0"/>
            <a:ext cx="8001000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6477000" cy="6858000"/>
          </a:xfrm>
          <a:prstGeom prst="rect">
            <a:avLst/>
          </a:prstGeom>
          <a:gradFill>
            <a:gsLst>
              <a:gs pos="0">
                <a:srgbClr val="F0F4FA"/>
              </a:gs>
              <a:gs pos="60000">
                <a:srgbClr val="F0F4FA"/>
              </a:gs>
              <a:gs pos="100000">
                <a:srgbClr val="F0F4FA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3429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C6FF7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609600"/>
            <a:ext cx="2286000" cy="247650"/>
          </a:xfrm>
          <a:prstGeom prst="roundRect">
            <a:avLst>
              <a:gd name="adj" fmla="val 15385"/>
            </a:avLst>
          </a:prstGeom>
          <a:solidFill>
            <a:srgbClr val="7C6FF7">
              <a:alpha val="1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54368" y="666274"/>
            <a:ext cx="22034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C6FF7"/>
                </a:solidFill>
                <a:latin typeface="Arial"/>
                <a:ea typeface="Microsoft YaHei"/>
                <a:cs typeface="Arial"/>
              </a:rPr>
              <a:t>vector-illustration × frost-ice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1037749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A0"/>
                </a:solidFill>
                <a:latin typeface="Consolas"/>
                <a:ea typeface="Microsoft YaHei"/>
                <a:cs typeface="Consolas"/>
              </a:rPr>
              <a:t>P04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5780" y="1230630"/>
            <a:ext cx="2299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A1A3A"/>
                </a:solidFill>
                <a:latin typeface="Georgia"/>
                <a:ea typeface="Microsoft YaHei"/>
                <a:cs typeface="Georgia"/>
              </a:rPr>
              <a:t>右图出血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4355" y="1854518"/>
            <a:ext cx="16707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Right Image Bleed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2450" y="2409825"/>
            <a:ext cx="28860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A2A4A"/>
                </a:solidFill>
                <a:latin typeface="Arial"/>
                <a:ea typeface="Microsoft YaHei"/>
                <a:cs typeface="Arial"/>
              </a:rPr>
              <a:t>矢量插画图像占右侧大面积，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2450" y="2676525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A2A4A"/>
                </a:solidFill>
                <a:latin typeface="Arial"/>
                <a:ea typeface="Microsoft YaHei"/>
                <a:cs typeface="Arial"/>
              </a:rPr>
              <a:t>并从右边缘出血至画布外。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2450" y="3133725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A6A8A"/>
                </a:solidFill>
                <a:latin typeface="Arial"/>
                <a:ea typeface="Microsoft YaHei"/>
                <a:cs typeface="Arial"/>
              </a:rPr>
              <a:t>文字在左侧浮动，大图小字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450" y="3400425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A6A8A"/>
                </a:solidFill>
                <a:latin typeface="Arial"/>
                <a:ea typeface="Microsoft YaHei"/>
                <a:cs typeface="Arial"/>
              </a:rPr>
              <a:t>形成强烈的视觉张力。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40195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7C6FF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06755" y="396906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A2A4A"/>
                </a:solidFill>
                <a:latin typeface="Arial"/>
                <a:ea typeface="Microsoft YaHei"/>
                <a:cs typeface="Arial"/>
              </a:rPr>
              <a:t>扁平矢量风格，几何感强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4381500"/>
            <a:ext cx="38100" cy="3810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06755" y="433101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A2A4A"/>
                </a:solidFill>
                <a:latin typeface="Arial"/>
                <a:ea typeface="Microsoft YaHei"/>
                <a:cs typeface="Arial"/>
              </a:rPr>
              <a:t>冰霜白底色，清爽专业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47434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06755" y="469296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A2A4A"/>
                </a:solidFill>
                <a:latin typeface="Arial"/>
                <a:ea typeface="Microsoft YaHei"/>
                <a:cs typeface="Arial"/>
              </a:rPr>
              <a:t>右边缘出血，无边框感极强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53149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7C6FF7">
                <a:alpha val="2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49618" y="5466874"/>
            <a:ext cx="6940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A6A8A"/>
                </a:solidFill>
                <a:latin typeface="Consolas"/>
                <a:ea typeface="Microsoft YaHei"/>
                <a:cs typeface="Consolas"/>
              </a:rPr>
              <a:t>Rendering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02118" y="5466874"/>
            <a:ext cx="13704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3A"/>
                </a:solidFill>
                <a:latin typeface="Consolas"/>
                <a:ea typeface="Microsoft YaHei"/>
                <a:cs typeface="Consolas"/>
              </a:rPr>
              <a:t>vector-illustration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9618" y="5685949"/>
            <a:ext cx="5374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A6A8A"/>
                </a:solidFill>
                <a:latin typeface="Consolas"/>
                <a:ea typeface="Microsoft YaHei"/>
                <a:cs typeface="Consolas"/>
              </a:rPr>
              <a:t>Palette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02118" y="5685949"/>
            <a:ext cx="6940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3A"/>
                </a:solidFill>
                <a:latin typeface="Consolas"/>
                <a:ea typeface="Microsoft YaHei"/>
                <a:cs typeface="Consolas"/>
              </a:rPr>
              <a:t>frost-ice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9618" y="5905024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A6A8A"/>
                </a:solidFill>
                <a:latin typeface="Consolas"/>
                <a:ea typeface="Microsoft YaHei"/>
                <a:cs typeface="Consolas"/>
              </a:rPr>
              <a:t>Layout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02118" y="5905024"/>
            <a:ext cx="20041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3A"/>
                </a:solidFill>
                <a:latin typeface="Consolas"/>
                <a:ea typeface="Microsoft YaHei"/>
                <a:cs typeface="Consolas"/>
              </a:rPr>
              <a:t>right bleed image + left text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41979" y="6562249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EDE0"/>
              </a:gs>
              <a:gs pos="100000">
                <a:srgbClr val="EDE0D0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15074" r="0" b="15074"/>
          <a:stretch>
            <a:fillRect/>
          </a:stretch>
        </p:blipFill>
        <p:spPr>
          <a:xfrm>
            <a:off x="0" y="0"/>
            <a:ext cx="12192000" cy="36195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619500"/>
          </a:xfrm>
          <a:prstGeom prst="rect">
            <a:avLst/>
          </a:prstGeom>
          <a:gradFill>
            <a:gsLst>
              <a:gs pos="0">
                <a:srgbClr val="F5EDE0">
                  <a:alpha val="0"/>
                </a:srgbClr>
              </a:gs>
              <a:gs pos="70000">
                <a:srgbClr val="F5EDE0">
                  <a:alpha val="0"/>
                </a:srgbClr>
              </a:gs>
              <a:gs pos="100000">
                <a:srgbClr val="F5EDE0"/>
              </a:gs>
            </a:gsLst>
            <a:lin ang="5400000" scaled="1"/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71500" y="3762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4704A">
                <a:alpha val="3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9118" y="3495199"/>
            <a:ext cx="29368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6A4A"/>
                </a:solidFill>
                <a:latin typeface="Consolas"/>
                <a:ea typeface="Microsoft YaHei"/>
                <a:cs typeface="Consolas"/>
              </a:rPr>
              <a:t>P05 · watercolor × warm-earth · 顶图三栏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1045" y="40605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A2010"/>
                </a:solidFill>
                <a:latin typeface="Georgia"/>
                <a:ea typeface="Microsoft YaHei"/>
                <a:cs typeface="Georgia"/>
              </a:rPr>
              <a:t>水彩渲染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9618" y="4352449"/>
            <a:ext cx="15128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6A4A"/>
                </a:solidFill>
                <a:latin typeface="Arial"/>
                <a:ea typeface="Microsoft YaHei"/>
                <a:cs typeface="Arial"/>
              </a:rPr>
              <a:t>Watercolor Rendering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4552950"/>
            <a:ext cx="57150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704A"/>
              </a:gs>
              <a:gs pos="100000">
                <a:srgbClr val="D4A96A"/>
              </a:gs>
            </a:gsLst>
            <a:lin ang="0" scaled="1"/>
          </a:gra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5808" y="4662964"/>
            <a:ext cx="152209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3A20"/>
                </a:solidFill>
                <a:latin typeface="Arial"/>
                <a:ea typeface="Microsoft YaHei"/>
                <a:cs typeface="Arial"/>
              </a:rPr>
              <a:t>水彩颜料在纸面上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5808" y="4872514"/>
            <a:ext cx="13358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3A20"/>
                </a:solidFill>
                <a:latin typeface="Arial"/>
                <a:ea typeface="Microsoft YaHei"/>
                <a:cs typeface="Arial"/>
              </a:rPr>
              <a:t>晕染渗透，边缘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5808" y="5082064"/>
            <a:ext cx="9634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3A20"/>
                </a:solidFill>
                <a:latin typeface="Arial"/>
                <a:ea typeface="Microsoft YaHei"/>
                <a:cs typeface="Arial"/>
              </a:rPr>
              <a:t>自然柔化。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7712" y="546020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A6A4A"/>
                </a:solidFill>
                <a:latin typeface="Arial"/>
                <a:ea typeface="Microsoft YaHei"/>
                <a:cs typeface="Arial"/>
              </a:rPr>
              <a:t>湿润感，有机质地，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7712" y="565070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A6A4A"/>
                </a:solidFill>
                <a:latin typeface="Arial"/>
                <a:ea typeface="Microsoft YaHei"/>
                <a:cs typeface="Arial"/>
              </a:rPr>
              <a:t>适合情感型叙事。</a:t>
            </a:r>
          </a:p>
        </p:txBody>
      </p:sp>
      <p:sp>
        <p:nvSpPr>
          <p:cNvPr id="15" name="Line 15"/>
          <p:cNvSpPr/>
          <p:nvPr/>
        </p:nvSpPr>
        <p:spPr>
          <a:xfrm>
            <a:off x="4314825" y="4048125"/>
            <a:ext cx="9525" cy="2238375"/>
          </a:xfrm>
          <a:custGeom>
            <a:avLst/>
            <a:gdLst/>
            <a:ahLst/>
            <a:cxnLst/>
            <a:rect l="l" t="t" r="r" b="b"/>
            <a:pathLst>
              <a:path w="9525" h="2238375">
                <a:moveTo>
                  <a:pt x="0" y="0"/>
                </a:moveTo>
                <a:lnTo>
                  <a:pt x="0" y="2238375"/>
                </a:lnTo>
              </a:path>
            </a:pathLst>
          </a:custGeom>
          <a:noFill/>
          <a:ln w="9525">
            <a:solidFill>
              <a:srgbClr val="C4704A">
                <a:alpha val="2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551045" y="406050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A2010"/>
                </a:solidFill>
                <a:latin typeface="Georgia"/>
                <a:ea typeface="Microsoft YaHei"/>
                <a:cs typeface="Georgia"/>
              </a:rPr>
              <a:t>暖土调色板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59618" y="4352449"/>
            <a:ext cx="14202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6A4A"/>
                </a:solidFill>
                <a:latin typeface="Arial"/>
                <a:ea typeface="Microsoft YaHei"/>
                <a:cs typeface="Arial"/>
              </a:rPr>
              <a:t>Warm-Earth Palette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572000" y="4552950"/>
            <a:ext cx="57150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704A"/>
              </a:gs>
              <a:gs pos="100000">
                <a:srgbClr val="D4A96A"/>
              </a:gs>
            </a:gsLst>
            <a:lin ang="0" scaled="1"/>
          </a:gra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555808" y="4662964"/>
            <a:ext cx="152209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3A20"/>
                </a:solidFill>
                <a:latin typeface="Arial"/>
                <a:ea typeface="Microsoft YaHei"/>
                <a:cs typeface="Arial"/>
              </a:rPr>
              <a:t>赤土、沙黄、暮橙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5808" y="4872514"/>
            <a:ext cx="13358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3A20"/>
                </a:solidFill>
                <a:latin typeface="Arial"/>
                <a:ea typeface="Microsoft YaHei"/>
                <a:cs typeface="Arial"/>
              </a:rPr>
              <a:t>构成温暖基调，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5808" y="5082064"/>
            <a:ext cx="152209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3A20"/>
                </a:solidFill>
                <a:latin typeface="Arial"/>
                <a:ea typeface="Microsoft YaHei"/>
                <a:cs typeface="Arial"/>
              </a:rPr>
              <a:t>贴近自然与人文。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57712" y="54602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A6A4A"/>
                </a:solidFill>
                <a:latin typeface="Arial"/>
                <a:ea typeface="Microsoft YaHei"/>
                <a:cs typeface="Arial"/>
              </a:rPr>
              <a:t>色温偏高，营造温度感，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57712" y="565070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A6A4A"/>
                </a:solidFill>
                <a:latin typeface="Arial"/>
                <a:ea typeface="Microsoft YaHei"/>
                <a:cs typeface="Arial"/>
              </a:rPr>
              <a:t>避免冷漠疏离。</a:t>
            </a:r>
          </a:p>
        </p:txBody>
      </p:sp>
      <p:sp>
        <p:nvSpPr>
          <p:cNvPr id="24" name="Line 24"/>
          <p:cNvSpPr/>
          <p:nvPr/>
        </p:nvSpPr>
        <p:spPr>
          <a:xfrm>
            <a:off x="8124825" y="4048125"/>
            <a:ext cx="9525" cy="2238375"/>
          </a:xfrm>
          <a:custGeom>
            <a:avLst/>
            <a:gdLst/>
            <a:ahLst/>
            <a:cxnLst/>
            <a:rect l="l" t="t" r="r" b="b"/>
            <a:pathLst>
              <a:path w="9525" h="2238375">
                <a:moveTo>
                  <a:pt x="0" y="0"/>
                </a:moveTo>
                <a:lnTo>
                  <a:pt x="0" y="2238375"/>
                </a:lnTo>
              </a:path>
            </a:pathLst>
          </a:custGeom>
          <a:noFill/>
          <a:ln w="9525">
            <a:solidFill>
              <a:srgbClr val="C4704A">
                <a:alpha val="20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361045" y="406050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A2010"/>
                </a:solidFill>
                <a:latin typeface="Georgia"/>
                <a:ea typeface="Microsoft YaHei"/>
                <a:cs typeface="Georgia"/>
              </a:rPr>
              <a:t>顶图三栏布局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69618" y="4352449"/>
            <a:ext cx="18261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6A4A"/>
                </a:solidFill>
                <a:latin typeface="Arial"/>
                <a:ea typeface="Microsoft YaHei"/>
                <a:cs typeface="Arial"/>
              </a:rPr>
              <a:t>Top Image + 3-Column Text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382000" y="4552950"/>
            <a:ext cx="57150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704A"/>
              </a:gs>
              <a:gs pos="100000">
                <a:srgbClr val="D4A96A"/>
              </a:gs>
            </a:gsLst>
            <a:lin ang="0" scaled="1"/>
          </a:gra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65808" y="4662964"/>
            <a:ext cx="13358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3A20"/>
                </a:solidFill>
                <a:latin typeface="Arial"/>
                <a:ea typeface="Microsoft YaHei"/>
                <a:cs typeface="Arial"/>
              </a:rPr>
              <a:t>全幅图像占上方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5808" y="4872514"/>
            <a:ext cx="119622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3A20"/>
                </a:solidFill>
                <a:latin typeface="Arial"/>
                <a:ea typeface="Microsoft YaHei"/>
                <a:cs typeface="Arial"/>
              </a:rPr>
              <a:t>约 53% 画面，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65808" y="5082064"/>
            <a:ext cx="17083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3A20"/>
                </a:solidFill>
                <a:latin typeface="Arial"/>
                <a:ea typeface="Microsoft YaHei"/>
                <a:cs typeface="Arial"/>
              </a:rPr>
              <a:t>下方三列等宽注释。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67712" y="54602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A6A4A"/>
                </a:solidFill>
                <a:latin typeface="Arial"/>
                <a:ea typeface="Microsoft YaHei"/>
                <a:cs typeface="Arial"/>
              </a:rPr>
              <a:t>图像如页眉，文字如脚注，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67712" y="565070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A6A4A"/>
                </a:solidFill>
                <a:latin typeface="Arial"/>
                <a:ea typeface="Microsoft YaHei"/>
                <a:cs typeface="Arial"/>
              </a:rPr>
              <a:t>逻辑自上而下流动。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1479" y="6562249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A6A4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DF8F2"/>
              </a:gs>
              <a:gs pos="100000">
                <a:srgbClr val="F5EDE0"/>
              </a:gs>
            </a:gsLst>
            <a:lin ang="54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16912" r="0" b="16912"/>
          <a:stretch>
            <a:fillRect/>
          </a:stretch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3429000"/>
            <a:ext cx="12192000" cy="1143000"/>
          </a:xfrm>
          <a:prstGeom prst="rect">
            <a:avLst/>
          </a:prstGeom>
          <a:gradFill>
            <a:gsLst>
              <a:gs pos="0">
                <a:srgbClr val="FDF8F2"/>
              </a:gs>
              <a:gs pos="25000">
                <a:srgbClr val="FDF8F2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B8A9E0"/>
              </a:gs>
              <a:gs pos="50000">
                <a:srgbClr val="A8D8C0"/>
              </a:gs>
              <a:gs pos="100000">
                <a:srgbClr val="F5C5A3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044107" y="275749"/>
            <a:ext cx="21037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P06 · sketch-notes × macaron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46142" y="563880"/>
            <a:ext cx="2299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3A2A4A"/>
                </a:solidFill>
                <a:latin typeface="Georgia"/>
                <a:ea typeface="Microsoft YaHei"/>
                <a:cs typeface="Georgia"/>
              </a:rPr>
              <a:t>底图浮文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93753" y="1092518"/>
            <a:ext cx="28044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A7A9A"/>
                </a:solidFill>
                <a:latin typeface="Arial"/>
                <a:ea typeface="Microsoft YaHei"/>
                <a:cs typeface="Arial"/>
              </a:rPr>
              <a:t>Bottom Image · Floating Text</a:t>
            </a:r>
          </a:p>
        </p:txBody>
      </p:sp>
      <p:sp>
        <p:nvSpPr>
          <p:cNvPr id="9" name="Ellipse 9"/>
          <p:cNvSpPr/>
          <p:nvPr/>
        </p:nvSpPr>
        <p:spPr>
          <a:xfrm>
            <a:off x="4724400" y="1085850"/>
            <a:ext cx="76200" cy="76200"/>
          </a:xfrm>
          <a:prstGeom prst="ellipse">
            <a:avLst/>
          </a:prstGeom>
          <a:solidFill>
            <a:srgbClr val="B8A9E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7391400" y="1085850"/>
            <a:ext cx="76200" cy="76200"/>
          </a:xfrm>
          <a:prstGeom prst="ellipse">
            <a:avLst/>
          </a:prstGeom>
          <a:solidFill>
            <a:srgbClr val="A8D8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995738" y="1628775"/>
            <a:ext cx="42005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A3A5A"/>
                </a:solidFill>
                <a:latin typeface="Arial"/>
                <a:ea typeface="Microsoft YaHei"/>
                <a:cs typeface="Arial"/>
              </a:rPr>
              <a:t>手绘速写风格，图像在底部如同舞台布景，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81575" y="1895475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A3A5A"/>
                </a:solidFill>
                <a:latin typeface="Arial"/>
                <a:ea typeface="Microsoft YaHei"/>
                <a:cs typeface="Arial"/>
              </a:rPr>
              <a:t>文字在上方温暖飘浮。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295650" y="234315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B8A9E0">
              <a:alpha val="30000"/>
            </a:srgbClr>
          </a:solidFill>
          <a:ln w="9525">
            <a:solidFill>
              <a:srgbClr val="B8A9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571875" y="24312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A5A8A"/>
                </a:solidFill>
                <a:latin typeface="Arial"/>
                <a:ea typeface="Microsoft YaHei"/>
                <a:cs typeface="Arial"/>
              </a:rPr>
              <a:t>手绘质感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724400" y="234315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A8D8C0">
              <a:alpha val="30000"/>
            </a:srgbClr>
          </a:solidFill>
          <a:ln w="9525">
            <a:solidFill>
              <a:srgbClr val="A8D8C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000625" y="24312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A7A6A"/>
                </a:solidFill>
                <a:latin typeface="Arial"/>
                <a:ea typeface="Microsoft YaHei"/>
                <a:cs typeface="Arial"/>
              </a:rPr>
              <a:t>粉彩色调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153150" y="234315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F5C5A3">
              <a:alpha val="30000"/>
            </a:srgbClr>
          </a:solidFill>
          <a:ln w="9525">
            <a:solidFill>
              <a:srgbClr val="F5C5A3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347222" y="2431256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A5A3A"/>
                </a:solidFill>
                <a:latin typeface="Arial"/>
                <a:ea typeface="Microsoft YaHei"/>
                <a:cs typeface="Arial"/>
              </a:rPr>
              <a:t>温馨教学感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48140" y="6069806"/>
            <a:ext cx="2895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A5A4A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图像 ↓ 作为页面底座 · 文字 ↑ 向上生长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70760" y="17754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8A9E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✦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18320" y="1522095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8D8C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04975" y="27765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5C5A3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◆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86975" y="268128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B8A9E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41979" y="6562249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0A14"/>
              </a:gs>
              <a:gs pos="100000">
                <a:srgbClr val="0C0E1A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571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7C6FF7">
                <a:alpha val="5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7C6FF7">
                <a:alpha val="5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7C6FF7">
                <a:alpha val="5000"/>
              </a:srgbClr>
            </a:solidFill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>
            <a:gsLst>
              <a:gs pos="0">
                <a:srgbClr val="7C6FF7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524351" y="180499"/>
            <a:ext cx="31432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P07 · 3d-isometric × tech-neon · Z型蛇形叙事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495300"/>
            <a:ext cx="12192000" cy="1866900"/>
          </a:xfrm>
          <a:prstGeom prst="rect">
            <a:avLst/>
          </a:prstGeom>
          <a:solidFill>
            <a:srgbClr val="0F1117"/>
          </a:solidFill>
          <a:ln>
            <a:noFill/>
          </a:ln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rcRect l="0" t="8824" r="0" b="8824"/>
          <a:stretch>
            <a:fillRect/>
          </a:stretch>
        </p:blipFill>
        <p:spPr>
          <a:xfrm>
            <a:off x="0" y="495300"/>
            <a:ext cx="5334000" cy="186690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0" y="495300"/>
            <a:ext cx="5334000" cy="1866900"/>
          </a:xfrm>
          <a:prstGeom prst="rect">
            <a:avLst/>
          </a:prstGeom>
          <a:gradFill>
            <a:gsLst>
              <a:gs pos="0">
                <a:srgbClr val="080A14">
                  <a:alpha val="0"/>
                </a:srgbClr>
              </a:gs>
              <a:gs pos="100000">
                <a:srgbClr val="080A14">
                  <a:alpha val="80000"/>
                </a:srgbClr>
              </a:gs>
            </a:gsLst>
            <a:lin ang="10800000" scaled="1"/>
          </a:gra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524500" y="495300"/>
            <a:ext cx="28575" cy="1866900"/>
          </a:xfrm>
          <a:prstGeom prst="rect">
            <a:avLst/>
          </a:prstGeom>
          <a:gradFill>
            <a:gsLst>
              <a:gs pos="0">
                <a:srgbClr val="7C6FF7">
                  <a:alpha val="50000"/>
                </a:srgbClr>
              </a:gs>
              <a:gs pos="100000">
                <a:srgbClr val="4ECDC4">
                  <a:alpha val="5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702618" y="799624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C6FF7"/>
                </a:solidFill>
                <a:latin typeface="Arial"/>
                <a:ea typeface="Microsoft YaHei"/>
                <a:cs typeface="Arial"/>
              </a:rPr>
              <a:t>01 STEP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90235" y="1027748"/>
            <a:ext cx="281562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8E8F0"/>
                </a:solidFill>
                <a:latin typeface="Georgia"/>
                <a:ea typeface="Microsoft YaHei"/>
                <a:cs typeface="Georgia"/>
              </a:rPr>
              <a:t>等距3D — 科技服务器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98808" y="1405414"/>
            <a:ext cx="30769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30°/30°/30° 标准等距视角，模块化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98808" y="1614964"/>
            <a:ext cx="2639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几何体堆叠，霓虹指示灯点缀。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02618" y="2028349"/>
            <a:ext cx="715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5A623"/>
                </a:solidFill>
                <a:latin typeface="Arial"/>
                <a:ea typeface="Microsoft YaHei"/>
                <a:cs typeface="Arial"/>
              </a:rPr>
              <a:t>→ 图左文右</a:t>
            </a:r>
          </a:p>
        </p:txBody>
      </p:sp>
      <p:sp>
        <p:nvSpPr>
          <p:cNvPr id="17" name="Rectangle 17"/>
          <p:cNvSpPr/>
          <p:nvPr/>
        </p:nvSpPr>
        <p:spPr>
          <a:xfrm>
            <a:off x="0" y="2438400"/>
            <a:ext cx="12192000" cy="1866900"/>
          </a:xfrm>
          <a:prstGeom prst="rect">
            <a:avLst/>
          </a:prstGeom>
          <a:solidFill>
            <a:srgbClr val="12141E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0" y="2438400"/>
            <a:ext cx="57150" cy="1866900"/>
          </a:xfrm>
          <a:prstGeom prst="rect">
            <a:avLst/>
          </a:prstGeom>
          <a:gradFill>
            <a:gsLst>
              <a:gs pos="0">
                <a:srgbClr val="F5A623"/>
              </a:gs>
              <a:gs pos="100000">
                <a:srgbClr val="FF6B35"/>
              </a:gs>
            </a:gsLst>
            <a:lin ang="0" scaled="1"/>
          </a:gra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68618" y="2752249"/>
            <a:ext cx="6940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5A623"/>
                </a:solidFill>
                <a:latin typeface="Arial"/>
                <a:ea typeface="Microsoft YaHei"/>
                <a:cs typeface="Arial"/>
              </a:rPr>
              <a:t>02 Z-TURN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6235" y="2970848"/>
            <a:ext cx="230726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8E8F0"/>
                </a:solidFill>
                <a:latin typeface="Georgia"/>
                <a:ea typeface="Microsoft YaHei"/>
                <a:cs typeface="Georgia"/>
              </a:rPr>
              <a:t>Z型视线引导原理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4808" y="3348514"/>
            <a:ext cx="303973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人眼自然从左上向右下呈 Z 形扫视，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4808" y="3558064"/>
            <a:ext cx="2639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交替排布的图文随之顺势流动。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8618" y="39714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ECDC4"/>
                </a:solidFill>
                <a:latin typeface="Arial"/>
                <a:ea typeface="Microsoft YaHei"/>
                <a:cs typeface="Arial"/>
              </a:rPr>
              <a:t>← 文左 → 视线到图右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858000" y="2628900"/>
            <a:ext cx="4953000" cy="1485900"/>
          </a:xfrm>
          <a:prstGeom prst="roundRect">
            <a:avLst>
              <a:gd name="adj" fmla="val 5128"/>
            </a:avLst>
          </a:prstGeom>
          <a:solidFill>
            <a:srgbClr val="0F1117"/>
          </a:solidFill>
          <a:ln w="9525">
            <a:solidFill>
              <a:srgbClr val="7C6FF7">
                <a:alpha val="20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7239000" y="2952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9525">
            <a:solidFill>
              <a:srgbClr val="7C6FF7">
                <a:alpha val="40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8191500" y="295275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7C6FF7">
                <a:alpha val="40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8191500" y="36195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9525">
            <a:solidFill>
              <a:srgbClr val="7C6FF7">
                <a:alpha val="40000"/>
              </a:srgbClr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53400" y="2914650"/>
            <a:ext cx="76200" cy="76200"/>
          </a:xfrm>
          <a:prstGeom prst="ellipse">
            <a:avLst/>
          </a:prstGeom>
          <a:solidFill>
            <a:srgbClr val="7C6FF7">
              <a:alpha val="60000"/>
            </a:srgbClr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8153400" y="3581400"/>
            <a:ext cx="76200" cy="76200"/>
          </a:xfrm>
          <a:prstGeom prst="ellipse">
            <a:avLst/>
          </a:prstGeom>
          <a:solidFill>
            <a:srgbClr val="4ECDC4">
              <a:alpha val="6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322118" y="3133249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A0"/>
                </a:solidFill>
                <a:latin typeface="Consolas"/>
                <a:ea typeface="Microsoft YaHei"/>
                <a:cs typeface="Consolas"/>
              </a:rPr>
              <a:t>eye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22118" y="332374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A0"/>
                </a:solidFill>
                <a:latin typeface="Consolas"/>
                <a:ea typeface="Microsoft YaHei"/>
                <a:cs typeface="Consolas"/>
              </a:rPr>
              <a:t>path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43210" y="3375660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7C6FF7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Z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4381500"/>
            <a:ext cx="12192000" cy="1866900"/>
          </a:xfrm>
          <a:prstGeom prst="rect">
            <a:avLst/>
          </a:prstGeom>
          <a:solidFill>
            <a:srgbClr val="0F1117"/>
          </a:solidFill>
          <a:ln>
            <a:noFill/>
          </a:ln>
        </p:spPr>
      </p:sp>
      <p:pic>
        <p:nvPicPr>
          <p:cNvPr id="34" name="Image 34"/>
          <p:cNvPicPr>
            <a:picLocks noChangeAspect="1"/>
          </p:cNvPicPr>
          <p:nvPr/>
        </p:nvPicPr>
        <p:blipFill>
          <a:blip r:embed="rId3"/>
          <a:srcRect l="0" t="8824" r="0" b="8824"/>
          <a:stretch>
            <a:fillRect/>
          </a:stretch>
        </p:blipFill>
        <p:spPr>
          <a:xfrm>
            <a:off x="0" y="4381500"/>
            <a:ext cx="5334000" cy="1866900"/>
          </a:xfrm>
          <a:prstGeom prst="rect">
            <a:avLst/>
          </a:prstGeom>
        </p:spPr>
      </p:pic>
      <p:sp>
        <p:nvSpPr>
          <p:cNvPr id="35" name="Rectangle 35"/>
          <p:cNvSpPr/>
          <p:nvPr/>
        </p:nvSpPr>
        <p:spPr>
          <a:xfrm>
            <a:off x="0" y="4381500"/>
            <a:ext cx="5334000" cy="1866900"/>
          </a:xfrm>
          <a:prstGeom prst="rect">
            <a:avLst/>
          </a:prstGeom>
          <a:gradFill>
            <a:gsLst>
              <a:gs pos="0">
                <a:srgbClr val="080A14">
                  <a:alpha val="0"/>
                </a:srgbClr>
              </a:gs>
              <a:gs pos="100000">
                <a:srgbClr val="080A14">
                  <a:alpha val="80000"/>
                </a:srgbClr>
              </a:gs>
            </a:gsLst>
            <a:lin ang="10800000" scaled="1"/>
          </a:gra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5524500" y="4381500"/>
            <a:ext cx="28575" cy="1866900"/>
          </a:xfrm>
          <a:prstGeom prst="rect">
            <a:avLst/>
          </a:prstGeom>
          <a:gradFill>
            <a:gsLst>
              <a:gs pos="0">
                <a:srgbClr val="7C6FF7">
                  <a:alpha val="50000"/>
                </a:srgbClr>
              </a:gs>
              <a:gs pos="100000">
                <a:srgbClr val="4ECDC4">
                  <a:alpha val="5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702618" y="4685824"/>
            <a:ext cx="8293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ECDC4"/>
                </a:solidFill>
                <a:latin typeface="Arial"/>
                <a:ea typeface="Microsoft YaHei"/>
                <a:cs typeface="Arial"/>
              </a:rPr>
              <a:t>03 NETWORK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90235" y="4913948"/>
            <a:ext cx="251658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8E8F0"/>
                </a:solidFill>
                <a:latin typeface="Georgia"/>
                <a:ea typeface="Microsoft YaHei"/>
                <a:cs typeface="Georgia"/>
              </a:rPr>
              <a:t>等距3D — 网络节点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98808" y="5291614"/>
            <a:ext cx="24531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相同等距视角的网络连接图，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98808" y="5501164"/>
            <a:ext cx="24531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两张图视角统一，视觉连贯。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702618" y="5914549"/>
            <a:ext cx="13846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5A623"/>
                </a:solidFill>
                <a:latin typeface="Arial"/>
                <a:ea typeface="Microsoft YaHei"/>
                <a:cs typeface="Arial"/>
              </a:rPr>
              <a:t>→ 图左文右 · Z字完成</a:t>
            </a:r>
          </a:p>
        </p:txBody>
      </p:sp>
      <p:sp>
        <p:nvSpPr>
          <p:cNvPr id="42" name="Rectangle 4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gradFill>
            <a:gsLst>
              <a:gs pos="0">
                <a:srgbClr val="7C6FF7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1641979" y="6657499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0D1E36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571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114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0" y="2857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0" y="4000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0" y="571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0" y="6286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571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1143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3619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4191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8001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8572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11049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11620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4A7FC4">
                <a:alpha val="4000"/>
              </a:srgb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D1E36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0" y="476250"/>
            <a:ext cx="12192000" cy="19050"/>
          </a:xfrm>
          <a:prstGeom prst="rect">
            <a:avLst/>
          </a:prstGeom>
          <a:solidFill>
            <a:srgbClr val="4A7FC4">
              <a:alpha val="4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59118" y="209074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7FC4"/>
                </a:solidFill>
                <a:latin typeface="Consolas"/>
                <a:ea typeface="Microsoft YaHei"/>
                <a:cs typeface="Consolas"/>
              </a:rPr>
              <a:t>P08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0118" y="209074"/>
            <a:ext cx="19756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A9AC4"/>
                </a:solidFill>
                <a:latin typeface="Consolas"/>
                <a:ea typeface="Microsoft YaHei"/>
                <a:cs typeface="Consolas"/>
              </a:rPr>
              <a:t>blueprint × editorial-classic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06641" y="192881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8E8F0"/>
                </a:solidFill>
                <a:latin typeface="Consolas"/>
                <a:ea typeface="Microsoft YaHei"/>
                <a:cs typeface="Consolas"/>
              </a:rPr>
              <a:t>九宫格图文混排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1479" y="209074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4A7FC4"/>
                </a:solidFill>
                <a:latin typeface="Consolas"/>
                <a:ea typeface="Microsoft YaHei"/>
                <a:cs typeface="Consolas"/>
              </a:rPr>
              <a:t>08</a:t>
            </a:r>
          </a:p>
        </p:txBody>
      </p:sp>
      <p:sp>
        <p:nvSpPr>
          <p:cNvPr id="30" name="Rectangle 30"/>
          <p:cNvSpPr/>
          <p:nvPr/>
        </p:nvSpPr>
        <p:spPr>
          <a:xfrm>
            <a:off x="0" y="514350"/>
            <a:ext cx="4000500" cy="2076450"/>
          </a:xfrm>
          <a:prstGeom prst="rect">
            <a:avLst/>
          </a:prstGeom>
          <a:solidFill>
            <a:srgbClr val="0A1628"/>
          </a:solidFill>
          <a:ln w="9525">
            <a:solidFill>
              <a:srgbClr val="4A7FC4">
                <a:alpha val="25000"/>
              </a:srgbClr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80022" y="749141"/>
            <a:ext cx="8583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7FC4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[01] RENDERING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7640" y="929640"/>
            <a:ext cx="5977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8D4F0"/>
                </a:solidFill>
                <a:latin typeface="Georgia"/>
                <a:ea typeface="Microsoft YaHei"/>
                <a:cs typeface="Georgia"/>
              </a:rPr>
              <a:t>蓝图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7640" y="11582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8D4F0"/>
                </a:solidFill>
                <a:latin typeface="Georgia"/>
                <a:ea typeface="Microsoft YaHei"/>
                <a:cs typeface="Georgia"/>
              </a:rPr>
              <a:t>技术风格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6212" y="149780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A9AC4"/>
                </a:solidFill>
                <a:latin typeface="Arial"/>
                <a:ea typeface="Microsoft YaHei"/>
                <a:cs typeface="Arial"/>
              </a:rPr>
              <a:t>精确线条，工程图感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6212" y="170735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A9AC4"/>
                </a:solidFill>
                <a:latin typeface="Arial"/>
                <a:ea typeface="Microsoft YaHei"/>
                <a:cs typeface="Arial"/>
              </a:rPr>
              <a:t>分析与系统设计场景</a:t>
            </a:r>
          </a:p>
        </p:txBody>
      </p:sp>
      <p:sp>
        <p:nvSpPr>
          <p:cNvPr id="36" name="Line 36"/>
          <p:cNvSpPr/>
          <p:nvPr/>
        </p:nvSpPr>
        <p:spPr>
          <a:xfrm>
            <a:off x="0" y="571500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9525">
            <a:solidFill>
              <a:srgbClr val="4A7FC4">
                <a:alpha val="50000"/>
              </a:srgbClr>
            </a:solidFill>
          </a:ln>
        </p:spPr>
      </p:sp>
      <p:sp>
        <p:nvSpPr>
          <p:cNvPr id="37" name="Line 37"/>
          <p:cNvSpPr/>
          <p:nvPr/>
        </p:nvSpPr>
        <p:spPr>
          <a:xfrm>
            <a:off x="57150" y="51435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4A7FC4">
                <a:alpha val="50000"/>
              </a:srgbClr>
            </a:solidFill>
          </a:ln>
        </p:spPr>
      </p:sp>
      <p:sp>
        <p:nvSpPr>
          <p:cNvPr id="38" name="Line 38"/>
          <p:cNvSpPr/>
          <p:nvPr/>
        </p:nvSpPr>
        <p:spPr>
          <a:xfrm>
            <a:off x="3886200" y="571500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9525">
            <a:solidFill>
              <a:srgbClr val="4A7FC4">
                <a:alpha val="50000"/>
              </a:srgbClr>
            </a:solidFill>
          </a:ln>
        </p:spPr>
      </p:sp>
      <p:sp>
        <p:nvSpPr>
          <p:cNvPr id="39" name="Line 39"/>
          <p:cNvSpPr/>
          <p:nvPr/>
        </p:nvSpPr>
        <p:spPr>
          <a:xfrm>
            <a:off x="3943350" y="51435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4A7FC4">
                <a:alpha val="50000"/>
              </a:srgbClr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4038600" y="514350"/>
            <a:ext cx="4000500" cy="2076450"/>
          </a:xfrm>
          <a:prstGeom prst="rect">
            <a:avLst/>
          </a:prstGeom>
          <a:solidFill>
            <a:srgbClr val="0A1628"/>
          </a:solidFill>
          <a:ln w="19050">
            <a:solidFill>
              <a:srgbClr val="4A7FC4">
                <a:alpha val="40000"/>
              </a:srgbClr>
            </a:solidFill>
          </a:ln>
        </p:spPr>
      </p:sp>
      <p:pic>
        <p:nvPicPr>
          <p:cNvPr id="41" name="Image 41"/>
          <p:cNvPicPr>
            <a:picLocks noChangeAspect="1"/>
          </p:cNvPicPr>
          <p:nvPr/>
        </p:nvPicPr>
        <p:blipFill>
          <a:blip r:embed="rId2"/>
          <a:srcRect l="0" t="24048" r="0" b="24048"/>
          <a:stretch>
            <a:fillRect/>
          </a:stretch>
        </p:blipFill>
        <p:spPr>
          <a:xfrm>
            <a:off x="4038600" y="514350"/>
            <a:ext cx="4000500" cy="2076450"/>
          </a:xfrm>
          <a:prstGeom prst="rect">
            <a:avLst/>
          </a:prstGeom>
        </p:spPr>
      </p:pic>
      <p:sp>
        <p:nvSpPr>
          <p:cNvPr id="42" name="Rectangle 42"/>
          <p:cNvSpPr/>
          <p:nvPr/>
        </p:nvSpPr>
        <p:spPr>
          <a:xfrm>
            <a:off x="4038600" y="2190750"/>
            <a:ext cx="4000500" cy="400050"/>
          </a:xfrm>
          <a:prstGeom prst="rect">
            <a:avLst/>
          </a:prstGeom>
          <a:solidFill>
            <a:srgbClr val="0A1628">
              <a:alpha val="85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597616" y="2349341"/>
            <a:ext cx="882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7FC4"/>
                </a:solidFill>
                <a:latin typeface="Consolas"/>
                <a:ea typeface="Microsoft YaHei"/>
                <a:cs typeface="Consolas"/>
              </a:rPr>
              <a:t>CENTER · IMAGE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77200" y="514350"/>
            <a:ext cx="4114800" cy="2076450"/>
          </a:xfrm>
          <a:prstGeom prst="rect">
            <a:avLst/>
          </a:prstGeom>
          <a:solidFill>
            <a:srgbClr val="0A1628"/>
          </a:solidFill>
          <a:ln w="9525">
            <a:solidFill>
              <a:srgbClr val="4A7FC4">
                <a:alpha val="25000"/>
              </a:srgbClr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257222" y="749141"/>
            <a:ext cx="7860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7FC4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[03] PALETTE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244840" y="929640"/>
            <a:ext cx="5977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8D4F0"/>
                </a:solidFill>
                <a:latin typeface="Georgia"/>
                <a:ea typeface="Microsoft YaHei"/>
                <a:cs typeface="Georgia"/>
              </a:rPr>
              <a:t>编辑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44840" y="11582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8D4F0"/>
                </a:solidFill>
                <a:latin typeface="Georgia"/>
                <a:ea typeface="Microsoft YaHei"/>
                <a:cs typeface="Georgia"/>
              </a:rPr>
              <a:t>经典调色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253412" y="149780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A9AC4"/>
                </a:solidFill>
                <a:latin typeface="Arial"/>
                <a:ea typeface="Microsoft YaHei"/>
                <a:cs typeface="Arial"/>
              </a:rPr>
              <a:t>克制配色，杂志气质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253412" y="1707356"/>
            <a:ext cx="13594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A9AC4"/>
                </a:solidFill>
                <a:latin typeface="Arial"/>
                <a:ea typeface="Microsoft YaHei"/>
                <a:cs typeface="Arial"/>
              </a:rPr>
              <a:t>财经/新闻/分析类</a:t>
            </a:r>
          </a:p>
        </p:txBody>
      </p:sp>
      <p:sp>
        <p:nvSpPr>
          <p:cNvPr id="50" name="Ellipse 50"/>
          <p:cNvSpPr/>
          <p:nvPr/>
        </p:nvSpPr>
        <p:spPr>
          <a:xfrm>
            <a:off x="11849100" y="590550"/>
            <a:ext cx="76200" cy="76200"/>
          </a:xfrm>
          <a:prstGeom prst="ellipse">
            <a:avLst/>
          </a:prstGeom>
          <a:solidFill>
            <a:srgbClr val="F5A623">
              <a:alpha val="50000"/>
            </a:srgbClr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0" y="2628900"/>
            <a:ext cx="4000500" cy="2076450"/>
          </a:xfrm>
          <a:prstGeom prst="rect">
            <a:avLst/>
          </a:prstGeom>
          <a:solidFill>
            <a:srgbClr val="0D1E36"/>
          </a:solidFill>
          <a:ln w="9525">
            <a:solidFill>
              <a:srgbClr val="4A7FC4">
                <a:alpha val="25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80022" y="28636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7FC4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[04] LAYOUT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73355" y="3111818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3×3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73355" y="334041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九宫格网格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76212" y="36885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A9AC4"/>
                </a:solidFill>
                <a:latin typeface="Arial"/>
                <a:ea typeface="Microsoft YaHei"/>
                <a:cs typeface="Arial"/>
              </a:rPr>
              <a:t>中心格放图，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76212" y="3879056"/>
            <a:ext cx="1104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A9AC4"/>
                </a:solidFill>
                <a:latin typeface="Arial"/>
                <a:ea typeface="Microsoft YaHei"/>
                <a:cs typeface="Arial"/>
              </a:rPr>
              <a:t>周围8格排文字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76212" y="41838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A9AC4"/>
                </a:solidFill>
                <a:latin typeface="Arial"/>
                <a:ea typeface="Microsoft YaHei"/>
                <a:cs typeface="Arial"/>
              </a:rPr>
              <a:t>或色块信息。</a:t>
            </a:r>
          </a:p>
        </p:txBody>
      </p:sp>
      <p:sp>
        <p:nvSpPr>
          <p:cNvPr id="58" name="Rectangle 58"/>
          <p:cNvSpPr/>
          <p:nvPr/>
        </p:nvSpPr>
        <p:spPr>
          <a:xfrm>
            <a:off x="4038600" y="2628900"/>
            <a:ext cx="4000500" cy="2076450"/>
          </a:xfrm>
          <a:prstGeom prst="rect">
            <a:avLst/>
          </a:prstGeom>
          <a:solidFill>
            <a:srgbClr val="132040"/>
          </a:solidFill>
          <a:ln w="9525">
            <a:solidFill>
              <a:srgbClr val="7C6FF7">
                <a:alpha val="30000"/>
              </a:srgbClr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5800725" y="3219450"/>
            <a:ext cx="476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B8D4F0"/>
                </a:solidFill>
                <a:latin typeface="Georgia"/>
                <a:ea typeface="Microsoft YaHei"/>
                <a:cs typeface="Georgia"/>
              </a:rPr>
              <a:t>图文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581650" y="348615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B8D4F0"/>
                </a:solidFill>
                <a:latin typeface="Georgia"/>
                <a:ea typeface="Microsoft YaHei"/>
                <a:cs typeface="Georgia"/>
              </a:rPr>
              <a:t>并置对话</a:t>
            </a:r>
          </a:p>
        </p:txBody>
      </p:sp>
      <p:sp>
        <p:nvSpPr>
          <p:cNvPr id="61" name="Rectangle 61"/>
          <p:cNvSpPr/>
          <p:nvPr/>
        </p:nvSpPr>
        <p:spPr>
          <a:xfrm>
            <a:off x="4895850" y="3905250"/>
            <a:ext cx="285750" cy="285750"/>
          </a:xfrm>
          <a:prstGeom prst="rect">
            <a:avLst/>
          </a:prstGeom>
          <a:noFill/>
          <a:ln w="9525">
            <a:solidFill>
              <a:srgbClr val="4A7FC4">
                <a:alpha val="40000"/>
              </a:srgbClr>
            </a:solidFill>
          </a:ln>
        </p:spPr>
      </p:sp>
      <p:sp>
        <p:nvSpPr>
          <p:cNvPr id="62" name="Rectangle 62"/>
          <p:cNvSpPr/>
          <p:nvPr/>
        </p:nvSpPr>
        <p:spPr>
          <a:xfrm>
            <a:off x="5200650" y="3905250"/>
            <a:ext cx="285750" cy="285750"/>
          </a:xfrm>
          <a:prstGeom prst="rect">
            <a:avLst/>
          </a:prstGeom>
          <a:solidFill>
            <a:srgbClr val="4A7FC4">
              <a:alpha val="30000"/>
            </a:srgbClr>
          </a:solidFill>
          <a:ln w="9525">
            <a:solidFill>
              <a:srgbClr val="4A7FC4">
                <a:alpha val="40000"/>
              </a:srgbClr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5505450" y="3905250"/>
            <a:ext cx="285750" cy="285750"/>
          </a:xfrm>
          <a:prstGeom prst="rect">
            <a:avLst/>
          </a:prstGeom>
          <a:noFill/>
          <a:ln w="9525">
            <a:solidFill>
              <a:srgbClr val="4A7FC4">
                <a:alpha val="40000"/>
              </a:srgbClr>
            </a:solidFill>
          </a:ln>
        </p:spPr>
      </p:sp>
      <p:sp>
        <p:nvSpPr>
          <p:cNvPr id="64" name="Rectangle 64"/>
          <p:cNvSpPr/>
          <p:nvPr/>
        </p:nvSpPr>
        <p:spPr>
          <a:xfrm>
            <a:off x="4895850" y="4210050"/>
            <a:ext cx="285750" cy="285750"/>
          </a:xfrm>
          <a:prstGeom prst="rect">
            <a:avLst/>
          </a:prstGeom>
          <a:noFill/>
          <a:ln w="9525">
            <a:solidFill>
              <a:srgbClr val="4A7FC4">
                <a:alpha val="40000"/>
              </a:srgbClr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5200650" y="4210050"/>
            <a:ext cx="285750" cy="285750"/>
          </a:xfrm>
          <a:prstGeom prst="rect">
            <a:avLst/>
          </a:prstGeom>
          <a:solidFill>
            <a:srgbClr val="7C6FF7">
              <a:alpha val="30000"/>
            </a:srgbClr>
          </a:solidFill>
          <a:ln w="9525">
            <a:solidFill>
              <a:srgbClr val="7C6FF7">
                <a:alpha val="50000"/>
              </a:srgbClr>
            </a:solidFill>
          </a:ln>
        </p:spPr>
      </p:sp>
      <p:sp>
        <p:nvSpPr>
          <p:cNvPr id="66" name="Rectangle 66"/>
          <p:cNvSpPr/>
          <p:nvPr/>
        </p:nvSpPr>
        <p:spPr>
          <a:xfrm>
            <a:off x="5505450" y="4210050"/>
            <a:ext cx="285750" cy="285750"/>
          </a:xfrm>
          <a:prstGeom prst="rect">
            <a:avLst/>
          </a:prstGeom>
          <a:noFill/>
          <a:ln w="9525">
            <a:solidFill>
              <a:srgbClr val="4A7FC4">
                <a:alpha val="40000"/>
              </a:srgbClr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5615690" y="4578191"/>
            <a:ext cx="8463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7FC4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middle = image</a:t>
            </a:r>
          </a:p>
        </p:txBody>
      </p:sp>
      <p:sp>
        <p:nvSpPr>
          <p:cNvPr id="68" name="Rectangle 68"/>
          <p:cNvSpPr/>
          <p:nvPr/>
        </p:nvSpPr>
        <p:spPr>
          <a:xfrm>
            <a:off x="8077200" y="2628900"/>
            <a:ext cx="4114800" cy="2076450"/>
          </a:xfrm>
          <a:prstGeom prst="rect">
            <a:avLst/>
          </a:prstGeom>
          <a:solidFill>
            <a:srgbClr val="0D1E36"/>
          </a:solidFill>
          <a:ln w="9525">
            <a:solidFill>
              <a:srgbClr val="4A7FC4">
                <a:alpha val="25000"/>
              </a:srgbClr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8257222" y="2863691"/>
            <a:ext cx="1002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7FC4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[06] ANNOTATION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250555" y="311181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技术标注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250555" y="334041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风格语言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253412" y="3688556"/>
            <a:ext cx="14169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A9AC4"/>
                </a:solidFill>
                <a:latin typeface="Arial"/>
                <a:ea typeface="Microsoft YaHei"/>
                <a:cs typeface="Arial"/>
              </a:rPr>
              <a:t>等宽字体 Consolas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253412" y="3879056"/>
            <a:ext cx="13676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A9AC4"/>
                </a:solidFill>
                <a:latin typeface="Arial"/>
                <a:ea typeface="Microsoft YaHei"/>
                <a:cs typeface="Arial"/>
              </a:rPr>
              <a:t>辅助线 + 十字标记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253412" y="418385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A9AC4"/>
                </a:solidFill>
                <a:latin typeface="Arial"/>
                <a:ea typeface="Microsoft YaHei"/>
                <a:cs typeface="Arial"/>
              </a:rPr>
              <a:t>工程图纸美学。</a:t>
            </a:r>
          </a:p>
        </p:txBody>
      </p:sp>
      <p:sp>
        <p:nvSpPr>
          <p:cNvPr id="75" name="Rectangle 75"/>
          <p:cNvSpPr/>
          <p:nvPr/>
        </p:nvSpPr>
        <p:spPr>
          <a:xfrm>
            <a:off x="0" y="4743450"/>
            <a:ext cx="4000500" cy="2114550"/>
          </a:xfrm>
          <a:prstGeom prst="rect">
            <a:avLst/>
          </a:prstGeom>
          <a:solidFill>
            <a:srgbClr val="0A1628"/>
          </a:solidFill>
          <a:ln w="9525">
            <a:solidFill>
              <a:srgbClr val="4A7FC4">
                <a:alpha val="25000"/>
              </a:srgbClr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180022" y="4997291"/>
            <a:ext cx="8222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7FC4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[07] USE CASE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73355" y="524541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适用场景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76212" y="5593556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A9AC4"/>
                </a:solidFill>
                <a:latin typeface="Arial"/>
                <a:ea typeface="Microsoft YaHei"/>
                <a:cs typeface="Arial"/>
              </a:rPr>
              <a:t>· 系统架构展示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76212" y="5803106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A9AC4"/>
                </a:solidFill>
                <a:latin typeface="Arial"/>
                <a:ea typeface="Microsoft YaHei"/>
                <a:cs typeface="Arial"/>
              </a:rPr>
              <a:t>· 工程技术报告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76212" y="6012656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A9AC4"/>
                </a:solidFill>
                <a:latin typeface="Arial"/>
                <a:ea typeface="Microsoft YaHei"/>
                <a:cs typeface="Arial"/>
              </a:rPr>
              <a:t>· 设计规范文档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76212" y="6222206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A9AC4"/>
                </a:solidFill>
                <a:latin typeface="Arial"/>
                <a:ea typeface="Microsoft YaHei"/>
                <a:cs typeface="Arial"/>
              </a:rPr>
              <a:t>· 信息密集型页</a:t>
            </a:r>
          </a:p>
        </p:txBody>
      </p:sp>
      <p:sp>
        <p:nvSpPr>
          <p:cNvPr id="82" name="Rectangle 82"/>
          <p:cNvSpPr/>
          <p:nvPr/>
        </p:nvSpPr>
        <p:spPr>
          <a:xfrm>
            <a:off x="4038600" y="4743450"/>
            <a:ext cx="4000500" cy="2114550"/>
          </a:xfrm>
          <a:prstGeom prst="rect">
            <a:avLst/>
          </a:prstGeom>
          <a:solidFill>
            <a:srgbClr val="0A1628"/>
          </a:solidFill>
          <a:ln w="9525">
            <a:solidFill>
              <a:srgbClr val="4A7FC4">
                <a:alpha val="25000"/>
              </a:srgbClr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4218622" y="4997291"/>
            <a:ext cx="1002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7FC4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[08] COLOR SPEC</a:t>
            </a:r>
          </a:p>
        </p:txBody>
      </p:sp>
      <p:sp>
        <p:nvSpPr>
          <p:cNvPr id="84" name="Rectangle 84"/>
          <p:cNvSpPr/>
          <p:nvPr/>
        </p:nvSpPr>
        <p:spPr>
          <a:xfrm>
            <a:off x="4229100" y="5219700"/>
            <a:ext cx="571500" cy="190500"/>
          </a:xfrm>
          <a:prstGeom prst="roundRect">
            <a:avLst>
              <a:gd name="adj" fmla="val 10000"/>
            </a:avLst>
          </a:prstGeom>
          <a:solidFill>
            <a:srgbClr val="0A4A8A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4884420" y="5265420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A9AC4"/>
                </a:solidFill>
                <a:latin typeface="Consolas"/>
                <a:ea typeface="Microsoft YaHei"/>
                <a:cs typeface="Consolas"/>
              </a:rPr>
              <a:t>#0A4A8A bg</a:t>
            </a:r>
          </a:p>
        </p:txBody>
      </p:sp>
      <p:sp>
        <p:nvSpPr>
          <p:cNvPr id="86" name="Rectangle 86"/>
          <p:cNvSpPr/>
          <p:nvPr/>
        </p:nvSpPr>
        <p:spPr>
          <a:xfrm>
            <a:off x="4229100" y="5505450"/>
            <a:ext cx="571500" cy="190500"/>
          </a:xfrm>
          <a:prstGeom prst="roundRect">
            <a:avLst>
              <a:gd name="adj" fmla="val 10000"/>
            </a:avLst>
          </a:prstGeom>
          <a:solidFill>
            <a:srgbClr val="4A7FC4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4884420" y="5551170"/>
            <a:ext cx="7918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A9AC4"/>
                </a:solidFill>
                <a:latin typeface="Consolas"/>
                <a:ea typeface="Microsoft YaHei"/>
                <a:cs typeface="Consolas"/>
              </a:rPr>
              <a:t>#4A7FC4 line</a:t>
            </a:r>
          </a:p>
        </p:txBody>
      </p:sp>
      <p:sp>
        <p:nvSpPr>
          <p:cNvPr id="88" name="Rectangle 88"/>
          <p:cNvSpPr/>
          <p:nvPr/>
        </p:nvSpPr>
        <p:spPr>
          <a:xfrm>
            <a:off x="4229100" y="5791200"/>
            <a:ext cx="571500" cy="190500"/>
          </a:xfrm>
          <a:prstGeom prst="roundRect">
            <a:avLst>
              <a:gd name="adj" fmla="val 10000"/>
            </a:avLst>
          </a:prstGeom>
          <a:solidFill>
            <a:srgbClr val="B8D4F0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4884420" y="5836920"/>
            <a:ext cx="8575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A9AC4"/>
                </a:solidFill>
                <a:latin typeface="Consolas"/>
                <a:ea typeface="Microsoft YaHei"/>
                <a:cs typeface="Consolas"/>
              </a:rPr>
              <a:t>#B8D4F0 text</a:t>
            </a:r>
          </a:p>
        </p:txBody>
      </p:sp>
      <p:sp>
        <p:nvSpPr>
          <p:cNvPr id="90" name="Rectangle 90"/>
          <p:cNvSpPr/>
          <p:nvPr/>
        </p:nvSpPr>
        <p:spPr>
          <a:xfrm>
            <a:off x="4229100" y="6076950"/>
            <a:ext cx="571500" cy="19050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4884420" y="6122670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A9AC4"/>
                </a:solidFill>
                <a:latin typeface="Consolas"/>
                <a:ea typeface="Microsoft YaHei"/>
                <a:cs typeface="Consolas"/>
              </a:rPr>
              <a:t>#F5A623 accent</a:t>
            </a:r>
          </a:p>
        </p:txBody>
      </p:sp>
      <p:sp>
        <p:nvSpPr>
          <p:cNvPr id="92" name="Rectangle 92"/>
          <p:cNvSpPr/>
          <p:nvPr/>
        </p:nvSpPr>
        <p:spPr>
          <a:xfrm>
            <a:off x="4229100" y="6362700"/>
            <a:ext cx="571500" cy="190500"/>
          </a:xfrm>
          <a:prstGeom prst="roundRect">
            <a:avLst>
              <a:gd name="adj" fmla="val 10000"/>
            </a:avLst>
          </a:prstGeom>
          <a:solidFill>
            <a:srgbClr val="7C6FF7"/>
          </a:solidFill>
          <a:ln>
            <a:noFill/>
          </a:ln>
        </p:spPr>
      </p:sp>
      <p:sp>
        <p:nvSpPr>
          <p:cNvPr id="93" name="TextBox 93"/>
          <p:cNvSpPr txBox="1"/>
          <p:nvPr/>
        </p:nvSpPr>
        <p:spPr>
          <a:xfrm>
            <a:off x="4884420" y="6408420"/>
            <a:ext cx="10678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A9AC4"/>
                </a:solidFill>
                <a:latin typeface="Consolas"/>
                <a:ea typeface="Microsoft YaHei"/>
                <a:cs typeface="Consolas"/>
              </a:rPr>
              <a:t>#7C6FF7 primary</a:t>
            </a:r>
          </a:p>
        </p:txBody>
      </p:sp>
      <p:sp>
        <p:nvSpPr>
          <p:cNvPr id="94" name="Rectangle 94"/>
          <p:cNvSpPr/>
          <p:nvPr/>
        </p:nvSpPr>
        <p:spPr>
          <a:xfrm>
            <a:off x="8077200" y="4743450"/>
            <a:ext cx="4114800" cy="2114550"/>
          </a:xfrm>
          <a:prstGeom prst="rect">
            <a:avLst/>
          </a:prstGeom>
          <a:solidFill>
            <a:srgbClr val="0D1E36"/>
          </a:solidFill>
          <a:ln w="9525">
            <a:solidFill>
              <a:srgbClr val="4A7FC4">
                <a:alpha val="25000"/>
              </a:srgbClr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8257222" y="4997291"/>
            <a:ext cx="8583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7FC4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[09] GRID SPEC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250555" y="524541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网格规格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255318" y="5590699"/>
            <a:ext cx="10571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A9AC4"/>
                </a:solidFill>
                <a:latin typeface="Consolas"/>
                <a:ea typeface="Microsoft YaHei"/>
                <a:cs typeface="Consolas"/>
              </a:rPr>
              <a:t>cols: 3 × 420px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8255318" y="5800249"/>
            <a:ext cx="108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A9AC4"/>
                </a:solidFill>
                <a:latin typeface="Consolas"/>
                <a:ea typeface="Microsoft YaHei"/>
                <a:cs typeface="Consolas"/>
              </a:rPr>
              <a:t>rows: 3 × 218px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8255318" y="600979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A9AC4"/>
                </a:solidFill>
                <a:latin typeface="Consolas"/>
                <a:ea typeface="Microsoft YaHei"/>
                <a:cs typeface="Consolas"/>
              </a:rPr>
              <a:t>gap: 4px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255318" y="621934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A9AC4"/>
                </a:solidFill>
                <a:latin typeface="Consolas"/>
                <a:ea typeface="Microsoft YaHei"/>
                <a:cs typeface="Consolas"/>
              </a:rPr>
              <a:t>center: image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8255318" y="6428899"/>
            <a:ext cx="9005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A9AC4"/>
                </a:solidFill>
                <a:latin typeface="Consolas"/>
                <a:ea typeface="Microsoft YaHei"/>
                <a:cs typeface="Consolas"/>
              </a:rPr>
              <a:t>8 cells: text</a:t>
            </a:r>
          </a:p>
        </p:txBody>
      </p:sp>
      <p:sp>
        <p:nvSpPr>
          <p:cNvPr id="102" name="Line 102"/>
          <p:cNvSpPr/>
          <p:nvPr/>
        </p:nvSpPr>
        <p:spPr>
          <a:xfrm>
            <a:off x="12077700" y="6781800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9525">
            <a:solidFill>
              <a:srgbClr val="4A7FC4">
                <a:alpha val="50000"/>
              </a:srgbClr>
            </a:solidFill>
          </a:ln>
        </p:spPr>
      </p:sp>
      <p:sp>
        <p:nvSpPr>
          <p:cNvPr id="103" name="Line 103"/>
          <p:cNvSpPr/>
          <p:nvPr/>
        </p:nvSpPr>
        <p:spPr>
          <a:xfrm>
            <a:off x="12134850" y="6724650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4A7FC4">
                <a:alpha val="50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C6FF7">
                  <a:alpha val="8000"/>
                </a:srgbClr>
              </a:gs>
              <a:gs pos="100000">
                <a:srgbClr val="7C6F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880348" y="199549"/>
            <a:ext cx="24313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090A0"/>
                </a:solidFill>
                <a:latin typeface="Consolas"/>
                <a:ea typeface="Microsoft YaHei"/>
                <a:cs typeface="Consolas"/>
              </a:rPr>
              <a:t>P09 · digital-dashboard × mono-ink</a:t>
            </a:r>
          </a:p>
        </p:txBody>
      </p:sp>
      <p:sp>
        <p:nvSpPr>
          <p:cNvPr id="5" name="Line 5"/>
          <p:cNvSpPr/>
          <p:nvPr/>
        </p:nvSpPr>
        <p:spPr>
          <a:xfrm>
            <a:off x="1905000" y="41910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solidFill>
              <a:srgbClr val="111111">
                <a:alpha val="8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3962400" y="1295400"/>
            <a:ext cx="4267200" cy="4267200"/>
          </a:xfrm>
          <a:prstGeom prst="ellipse">
            <a:avLst/>
          </a:prstGeom>
          <a:noFill/>
          <a:ln w="9525">
            <a:solidFill>
              <a:srgbClr val="111111">
                <a:alpha val="12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3981450" y="1314450"/>
            <a:ext cx="4229100" cy="4229100"/>
          </a:xfrm>
          <a:prstGeom prst="ellipse">
            <a:avLst/>
          </a:prstGeom>
          <a:noFill/>
          <a:ln w="19050">
            <a:solidFill>
              <a:srgbClr val="7C6FF7">
                <a:alpha val="15000"/>
              </a:srgbClr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333500"/>
            <a:ext cx="4191000" cy="4191000"/>
          </a:xfrm>
          <a:prstGeom prst="ellipse">
            <a:avLst/>
          </a:prstGeom>
        </p:spPr>
      </p:pic>
      <p:sp>
        <p:nvSpPr>
          <p:cNvPr id="9" name="Ellipse 9"/>
          <p:cNvSpPr/>
          <p:nvPr/>
        </p:nvSpPr>
        <p:spPr>
          <a:xfrm>
            <a:off x="4000500" y="1333500"/>
            <a:ext cx="4191000" cy="4191000"/>
          </a:xfrm>
          <a:prstGeom prst="ellipse">
            <a:avLst/>
          </a:prstGeom>
          <a:noFill/>
          <a:ln w="9525">
            <a:solidFill>
              <a:srgbClr val="111111">
                <a:alpha val="18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3619500" y="1524000"/>
            <a:ext cx="933450" cy="447675"/>
          </a:xfrm>
          <a:custGeom>
            <a:avLst/>
            <a:gdLst/>
            <a:ahLst/>
            <a:cxnLst/>
            <a:rect l="l" t="t" r="r" b="b"/>
            <a:pathLst>
              <a:path w="933450" h="447675">
                <a:moveTo>
                  <a:pt x="933450" y="4476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111111">
                <a:alpha val="2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4524375" y="1943100"/>
            <a:ext cx="57150" cy="57150"/>
          </a:xfrm>
          <a:prstGeom prst="ellipse">
            <a:avLst/>
          </a:prstGeom>
          <a:solidFill>
            <a:srgbClr val="111111">
              <a:alpha val="3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952387" y="104108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650" b="1" dirty="0">
                <a:solidFill>
                  <a:srgbClr val="111111"/>
                </a:solidFill>
                <a:latin typeface="Georgia"/>
                <a:ea typeface="Microsoft YaHei"/>
                <a:cs typeface="Georgia"/>
              </a:rPr>
              <a:t>数字仪表盘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11179" y="1326356"/>
            <a:ext cx="14416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digital-dashboard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34408" y="1516856"/>
            <a:ext cx="13183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UI数据可视化美学</a:t>
            </a:r>
          </a:p>
        </p:txBody>
      </p:sp>
      <p:sp>
        <p:nvSpPr>
          <p:cNvPr id="15" name="Line 15"/>
          <p:cNvSpPr/>
          <p:nvPr/>
        </p:nvSpPr>
        <p:spPr>
          <a:xfrm>
            <a:off x="7639050" y="1524000"/>
            <a:ext cx="933450" cy="447675"/>
          </a:xfrm>
          <a:custGeom>
            <a:avLst/>
            <a:gdLst/>
            <a:ahLst/>
            <a:cxnLst/>
            <a:rect l="l" t="t" r="r" b="b"/>
            <a:pathLst>
              <a:path w="933450" h="447675">
                <a:moveTo>
                  <a:pt x="0" y="447675"/>
                </a:moveTo>
                <a:lnTo>
                  <a:pt x="933450" y="0"/>
                </a:lnTo>
              </a:path>
            </a:pathLst>
          </a:custGeom>
          <a:noFill/>
          <a:ln w="9525">
            <a:solidFill>
              <a:srgbClr val="111111">
                <a:alpha val="20000"/>
              </a:srgbClr>
            </a:solidFill>
          </a:ln>
        </p:spPr>
      </p:sp>
      <p:sp>
        <p:nvSpPr>
          <p:cNvPr id="16" name="Ellipse 16"/>
          <p:cNvSpPr/>
          <p:nvPr/>
        </p:nvSpPr>
        <p:spPr>
          <a:xfrm>
            <a:off x="7610475" y="1943100"/>
            <a:ext cx="57150" cy="57150"/>
          </a:xfrm>
          <a:prstGeom prst="ellipse">
            <a:avLst/>
          </a:prstGeom>
          <a:solidFill>
            <a:srgbClr val="111111">
              <a:alpha val="3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742045" y="10410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111"/>
                </a:solidFill>
                <a:latin typeface="Georgia"/>
                <a:ea typeface="Microsoft YaHei"/>
                <a:cs typeface="Georgia"/>
              </a:rPr>
              <a:t>墨黑单色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48712" y="1326356"/>
            <a:ext cx="7433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mono-ink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48712" y="1516856"/>
            <a:ext cx="12033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黑白 + 单点强调</a:t>
            </a:r>
          </a:p>
        </p:txBody>
      </p:sp>
      <p:sp>
        <p:nvSpPr>
          <p:cNvPr id="20" name="Line 20"/>
          <p:cNvSpPr/>
          <p:nvPr/>
        </p:nvSpPr>
        <p:spPr>
          <a:xfrm>
            <a:off x="3619500" y="4886325"/>
            <a:ext cx="933450" cy="447675"/>
          </a:xfrm>
          <a:custGeom>
            <a:avLst/>
            <a:gdLst/>
            <a:ahLst/>
            <a:cxnLst/>
            <a:rect l="l" t="t" r="r" b="b"/>
            <a:pathLst>
              <a:path w="933450" h="447675">
                <a:moveTo>
                  <a:pt x="933450" y="0"/>
                </a:moveTo>
                <a:lnTo>
                  <a:pt x="0" y="447675"/>
                </a:lnTo>
              </a:path>
            </a:pathLst>
          </a:custGeom>
          <a:noFill/>
          <a:ln w="9525">
            <a:solidFill>
              <a:srgbClr val="111111">
                <a:alpha val="20000"/>
              </a:srgbClr>
            </a:solidFill>
          </a:ln>
        </p:spPr>
      </p:sp>
      <p:sp>
        <p:nvSpPr>
          <p:cNvPr id="21" name="Ellipse 21"/>
          <p:cNvSpPr/>
          <p:nvPr/>
        </p:nvSpPr>
        <p:spPr>
          <a:xfrm>
            <a:off x="4524375" y="4857750"/>
            <a:ext cx="57150" cy="57150"/>
          </a:xfrm>
          <a:prstGeom prst="ellipse">
            <a:avLst/>
          </a:prstGeom>
          <a:solidFill>
            <a:srgbClr val="111111">
              <a:alpha val="3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205418" y="51177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650" b="1" dirty="0">
                <a:solidFill>
                  <a:srgbClr val="111111"/>
                </a:solidFill>
                <a:latin typeface="Georgia"/>
                <a:ea typeface="Microsoft YaHei"/>
                <a:cs typeface="Georgia"/>
              </a:rPr>
              <a:t>圆形裁切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74069" y="538400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clipPath circle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74069" y="557450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非矩形图像容器</a:t>
            </a:r>
          </a:p>
        </p:txBody>
      </p:sp>
      <p:sp>
        <p:nvSpPr>
          <p:cNvPr id="25" name="Line 25"/>
          <p:cNvSpPr/>
          <p:nvPr/>
        </p:nvSpPr>
        <p:spPr>
          <a:xfrm>
            <a:off x="7639050" y="4886325"/>
            <a:ext cx="933450" cy="447675"/>
          </a:xfrm>
          <a:custGeom>
            <a:avLst/>
            <a:gdLst/>
            <a:ahLst/>
            <a:cxnLst/>
            <a:rect l="l" t="t" r="r" b="b"/>
            <a:pathLst>
              <a:path w="933450" h="447675">
                <a:moveTo>
                  <a:pt x="0" y="0"/>
                </a:moveTo>
                <a:lnTo>
                  <a:pt x="933450" y="447675"/>
                </a:lnTo>
              </a:path>
            </a:pathLst>
          </a:custGeom>
          <a:noFill/>
          <a:ln w="9525">
            <a:solidFill>
              <a:srgbClr val="111111">
                <a:alpha val="20000"/>
              </a:srgbClr>
            </a:solidFill>
          </a:ln>
        </p:spPr>
      </p:sp>
      <p:sp>
        <p:nvSpPr>
          <p:cNvPr id="26" name="Ellipse 26"/>
          <p:cNvSpPr/>
          <p:nvPr/>
        </p:nvSpPr>
        <p:spPr>
          <a:xfrm>
            <a:off x="7610475" y="4857750"/>
            <a:ext cx="57150" cy="57150"/>
          </a:xfrm>
          <a:prstGeom prst="ellipse">
            <a:avLst/>
          </a:prstGeom>
          <a:solidFill>
            <a:srgbClr val="111111">
              <a:alpha val="3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742045" y="51177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111"/>
                </a:solidFill>
                <a:latin typeface="Georgia"/>
                <a:ea typeface="Microsoft YaHei"/>
                <a:cs typeface="Georgia"/>
              </a:rPr>
              <a:t>放射标注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48712" y="5384006"/>
            <a:ext cx="14005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radial annotation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48712" y="557450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图像向外辐射信息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06923" y="6498431"/>
            <a:ext cx="23781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圆心图像 · 四角文字 · 向心张力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641979" y="6562249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117">
                  <a:alpha val="55000"/>
                </a:srgbClr>
              </a:gs>
              <a:gs pos="100000">
                <a:srgbClr val="0F1117">
                  <a:alpha val="7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720149" y="237649"/>
            <a:ext cx="27517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8F0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P10 · pixel-art × vivid-launch · 底纹密铺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571500"/>
            <a:ext cx="5143500" cy="2667000"/>
          </a:xfrm>
          <a:prstGeom prst="roundRect">
            <a:avLst>
              <a:gd name="adj" fmla="val 1429"/>
            </a:avLst>
          </a:prstGeom>
          <a:gradFill>
            <a:gsLst>
              <a:gs pos="0">
                <a:srgbClr val="7C6FF7">
                  <a:alpha val="85000"/>
                </a:srgbClr>
              </a:gs>
              <a:gs pos="100000">
                <a:srgbClr val="5A4FCC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571500"/>
            <a:ext cx="5143500" cy="38100"/>
          </a:xfrm>
          <a:prstGeom prst="rect">
            <a:avLst/>
          </a:prstGeom>
          <a:solidFill>
            <a:srgbClr val="E8E8F0">
              <a:alpha val="3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9618" y="847249"/>
            <a:ext cx="850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8F0">
                    <a:alphaMod val="70000"/>
                  </a:srgbClr>
                </a:solidFill>
                <a:latin typeface="Consolas"/>
                <a:ea typeface="Microsoft YaHei"/>
                <a:cs typeface="Consolas"/>
              </a:rPr>
              <a:t>[RENDERING]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9615" y="1058228"/>
            <a:ext cx="162896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像素复古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5808" y="1481614"/>
            <a:ext cx="8610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8E8F0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pixel-art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5808" y="1824514"/>
            <a:ext cx="241592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8E8F0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8-bit 像素网格，严格对齐，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5808" y="2034064"/>
            <a:ext cx="22669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8E8F0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无抗锯齿，色彩鲜明饱和。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7712" y="2450306"/>
            <a:ext cx="22138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E8F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游戏 / 复古科技 / 怀旧感场景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72000" y="666750"/>
            <a:ext cx="114300" cy="1143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705350" y="666750"/>
            <a:ext cx="114300" cy="1143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838700" y="666750"/>
            <a:ext cx="114300" cy="114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905500" y="571500"/>
            <a:ext cx="5715000" cy="2667000"/>
          </a:xfrm>
          <a:prstGeom prst="roundRect">
            <a:avLst>
              <a:gd name="adj" fmla="val 1429"/>
            </a:avLst>
          </a:prstGeom>
          <a:gradFill>
            <a:gsLst>
              <a:gs pos="0">
                <a:srgbClr val="F5A623">
                  <a:alpha val="85000"/>
                </a:srgbClr>
              </a:gs>
              <a:gs pos="100000">
                <a:srgbClr val="CC7A0A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905500" y="571500"/>
            <a:ext cx="5715000" cy="38100"/>
          </a:xfrm>
          <a:prstGeom prst="rect">
            <a:avLst/>
          </a:prstGeom>
          <a:solidFill>
            <a:srgbClr val="E8E8F0">
              <a:alpha val="3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083618" y="847249"/>
            <a:ext cx="7296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A2010">
                    <a:alphaMod val="90000"/>
                  </a:srgbClr>
                </a:solidFill>
                <a:latin typeface="Consolas"/>
                <a:ea typeface="Microsoft YaHei"/>
                <a:cs typeface="Consolas"/>
              </a:rPr>
              <a:t>[PALETTE]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63615" y="1058228"/>
            <a:ext cx="162896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3A1A00"/>
                </a:solidFill>
                <a:latin typeface="Georgia"/>
                <a:ea typeface="Microsoft YaHei"/>
                <a:cs typeface="Georgia"/>
              </a:rPr>
              <a:t>活力发射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79808" y="1481614"/>
            <a:ext cx="112173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A2010"/>
                </a:solidFill>
                <a:latin typeface="Arial"/>
                <a:ea typeface="Microsoft YaHei"/>
                <a:cs typeface="Arial"/>
              </a:rPr>
              <a:t>vivid-launch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79808" y="1824514"/>
            <a:ext cx="22669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A2010"/>
                </a:solidFill>
                <a:latin typeface="Arial"/>
                <a:ea typeface="Microsoft YaHei"/>
                <a:cs typeface="Arial"/>
              </a:rPr>
              <a:t>高饱和度色彩，抓人眼球，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79808" y="2034064"/>
            <a:ext cx="22669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A2010"/>
                </a:solidFill>
                <a:latin typeface="Arial"/>
                <a:ea typeface="Microsoft YaHei"/>
                <a:cs typeface="Arial"/>
              </a:rPr>
              <a:t>产品发布、营销活动首选。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81712" y="2450306"/>
            <a:ext cx="17209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A2010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大胆 / 饱和 / 引人注目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429000"/>
            <a:ext cx="5143500" cy="2857500"/>
          </a:xfrm>
          <a:prstGeom prst="roundRect">
            <a:avLst>
              <a:gd name="adj" fmla="val 1333"/>
            </a:avLst>
          </a:prstGeom>
          <a:gradFill>
            <a:gsLst>
              <a:gs pos="0">
                <a:srgbClr val="4ECDC4">
                  <a:alpha val="85000"/>
                </a:srgbClr>
              </a:gs>
              <a:gs pos="100000">
                <a:srgbClr val="2AA89E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3429000"/>
            <a:ext cx="5143500" cy="38100"/>
          </a:xfrm>
          <a:prstGeom prst="rect">
            <a:avLst/>
          </a:prstGeom>
          <a:solidFill>
            <a:srgbClr val="E8E8F0">
              <a:alpha val="3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49618" y="3704749"/>
            <a:ext cx="679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A3A38">
                    <a:alphaMod val="90000"/>
                  </a:srgbClr>
                </a:solidFill>
                <a:latin typeface="Consolas"/>
                <a:ea typeface="Microsoft YaHei"/>
                <a:cs typeface="Consolas"/>
              </a:rPr>
              <a:t>[LAYOUT]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9615" y="3915728"/>
            <a:ext cx="162896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A2A28"/>
                </a:solidFill>
                <a:latin typeface="Georgia"/>
                <a:ea typeface="Microsoft YaHei"/>
                <a:cs typeface="Georgia"/>
              </a:rPr>
              <a:t>底纹密铺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5808" y="4339114"/>
            <a:ext cx="1149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0A3A38"/>
                </a:solidFill>
                <a:latin typeface="Arial"/>
                <a:ea typeface="Microsoft YaHei"/>
                <a:cs typeface="Arial"/>
              </a:rPr>
              <a:t>图作全幅底纹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5808" y="4682014"/>
            <a:ext cx="17083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0A3A38"/>
                </a:solidFill>
                <a:latin typeface="Arial"/>
                <a:ea typeface="Microsoft YaHei"/>
                <a:cs typeface="Arial"/>
              </a:rPr>
              <a:t>信息卡片覆盖其上，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5808" y="4891564"/>
            <a:ext cx="18945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0A3A38"/>
                </a:solidFill>
                <a:latin typeface="Arial"/>
                <a:ea typeface="Microsoft YaHei"/>
                <a:cs typeface="Arial"/>
              </a:rPr>
              <a:t>图像与信息融为一体。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7712" y="5307806"/>
            <a:ext cx="2238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A3A38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图 → 氛围载体 · 文 → 信息主体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7712" y="587930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A3A38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遮罩层控制透明度确保可读性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905500" y="3429000"/>
            <a:ext cx="5715000" cy="2857500"/>
          </a:xfrm>
          <a:prstGeom prst="roundRect">
            <a:avLst>
              <a:gd name="adj" fmla="val 1333"/>
            </a:avLst>
          </a:prstGeom>
          <a:gradFill>
            <a:gsLst>
              <a:gs pos="0">
                <a:srgbClr val="1A1D2E">
                  <a:alpha val="90000"/>
                </a:srgbClr>
              </a:gs>
              <a:gs pos="100000">
                <a:srgbClr val="0F1117">
                  <a:alpha val="95000"/>
                </a:srgbClr>
              </a:gs>
            </a:gsLst>
            <a:lin ang="2700000" scaled="1"/>
          </a:gradFill>
          <a:ln w="9525">
            <a:solidFill>
              <a:srgbClr val="7C6FF7">
                <a:alpha val="40000"/>
              </a:srgbClr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905500" y="3429000"/>
            <a:ext cx="5715000" cy="38100"/>
          </a:xfrm>
          <a:prstGeom prst="rect">
            <a:avLst/>
          </a:prstGeom>
          <a:solidFill>
            <a:srgbClr val="7C6FF7">
              <a:alpha val="50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083618" y="3704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C6FF7"/>
                </a:solidFill>
                <a:latin typeface="Consolas"/>
                <a:ea typeface="Microsoft YaHei"/>
                <a:cs typeface="Consolas"/>
              </a:rPr>
              <a:t>[TECHNIQUE]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63615" y="3915728"/>
            <a:ext cx="162896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E8E8F0"/>
                </a:solidFill>
                <a:latin typeface="Georgia"/>
                <a:ea typeface="Microsoft YaHei"/>
                <a:cs typeface="Georgia"/>
              </a:rPr>
              <a:t>技术要点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079808" y="4434364"/>
            <a:ext cx="23041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· 全出血图像 (hero_page)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79808" y="4682014"/>
            <a:ext cx="149416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· 暗色遮罩叠加层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079808" y="4929664"/>
            <a:ext cx="1680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· 高对比度信息卡片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079808" y="5177314"/>
            <a:ext cx="22390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· 强调色标题确保视觉层次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0" y="5905500"/>
            <a:ext cx="1524000" cy="266700"/>
          </a:xfrm>
          <a:prstGeom prst="roundRect">
            <a:avLst>
              <a:gd name="adj" fmla="val 7143"/>
            </a:avLst>
          </a:prstGeom>
          <a:solidFill>
            <a:srgbClr val="7C6FF7">
              <a:alpha val="20000"/>
            </a:srgbClr>
          </a:solidFill>
          <a:ln w="9525">
            <a:solidFill>
              <a:srgbClr val="7C6FF7">
                <a:alpha val="40000"/>
              </a:srgbClr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396668" y="5989320"/>
            <a:ext cx="7326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C6FF7"/>
                </a:solidFill>
                <a:latin typeface="Consolas"/>
                <a:ea typeface="Microsoft YaHei"/>
                <a:cs typeface="Consolas"/>
              </a:rPr>
              <a:t>8-BIT MODE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677579" y="656224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E8E8F0">
                    <a:alphaMod val="50000"/>
                  </a:srgbClr>
                </a:solidFill>
                <a:latin typeface="Consolas"/>
                <a:ea typeface="Microsoft YaHei"/>
                <a:cs typeface="Consola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EDE0"/>
              </a:gs>
              <a:gs pos="100000">
                <a:srgbClr val="E8D8C4"/>
              </a:gs>
            </a:gsLst>
            <a:lin ang="54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D5A27">
              <a:alpha val="60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588431" y="180499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F5E0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P11 · paper-cut × nature-organic · 剪纸分层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952500"/>
            <a:ext cx="2857500" cy="1905000"/>
          </a:xfrm>
          <a:prstGeom prst="rect">
            <a:avLst/>
          </a:prstGeom>
          <a:gradFill>
            <a:gsLst>
              <a:gs pos="0">
                <a:srgbClr val="F5EDE0">
                  <a:alpha val="95000"/>
                </a:srgbClr>
              </a:gs>
              <a:gs pos="100000">
                <a:srgbClr val="F5EDE0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54330" y="1087755"/>
            <a:ext cx="6974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5A27"/>
                </a:solidFill>
                <a:latin typeface="Georgia"/>
                <a:ea typeface="Microsoft YaHei"/>
                <a:cs typeface="Georgia"/>
              </a:rPr>
              <a:t>剪纸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4330" y="13735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5A27"/>
                </a:solidFill>
                <a:latin typeface="Georgia"/>
                <a:ea typeface="Microsoft YaHei"/>
                <a:cs typeface="Georgia"/>
              </a:rPr>
              <a:t>艺术风格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6712" y="1783556"/>
            <a:ext cx="8418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A6A30"/>
                </a:solidFill>
                <a:latin typeface="Arial"/>
                <a:ea typeface="Microsoft YaHei"/>
                <a:cs typeface="Arial"/>
              </a:rPr>
              <a:t>paper-cut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6712" y="201215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A6A30"/>
                </a:solidFill>
                <a:latin typeface="Arial"/>
                <a:ea typeface="Microsoft YaHei"/>
                <a:cs typeface="Arial"/>
              </a:rPr>
              <a:t>分层叠叠，触感质感，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6712" y="220265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A6A30"/>
                </a:solidFill>
                <a:latin typeface="Arial"/>
                <a:ea typeface="Microsoft YaHei"/>
                <a:cs typeface="Arial"/>
              </a:rPr>
              <a:t>剪刀感不规则边缘。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334500" y="952500"/>
            <a:ext cx="2857500" cy="1905000"/>
          </a:xfrm>
          <a:prstGeom prst="rect">
            <a:avLst/>
          </a:prstGeom>
          <a:gradFill>
            <a:gsLst>
              <a:gs pos="0">
                <a:srgbClr val="F5EDE0">
                  <a:alpha val="95000"/>
                </a:srgbClr>
              </a:gs>
              <a:gs pos="100000">
                <a:srgbClr val="F5EDE0">
                  <a:alpha val="0"/>
                </a:srgbClr>
              </a:gs>
            </a:gsLst>
            <a:lin ang="10800000" scaled="1"/>
          </a:gra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498330" y="1087755"/>
            <a:ext cx="6974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5A27"/>
                </a:solidFill>
                <a:latin typeface="Georgia"/>
                <a:ea typeface="Microsoft YaHei"/>
                <a:cs typeface="Georgia"/>
              </a:rPr>
              <a:t>自然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8330" y="13735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5A27"/>
                </a:solidFill>
                <a:latin typeface="Georgia"/>
                <a:ea typeface="Microsoft YaHei"/>
                <a:cs typeface="Georgia"/>
              </a:rPr>
              <a:t>有机调色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10712" y="1783556"/>
            <a:ext cx="12526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A6A30"/>
                </a:solidFill>
                <a:latin typeface="Arial"/>
                <a:ea typeface="Microsoft YaHei"/>
                <a:cs typeface="Arial"/>
              </a:rPr>
              <a:t>nature-organic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10712" y="201215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A6A30"/>
                </a:solidFill>
                <a:latin typeface="Arial"/>
                <a:ea typeface="Microsoft YaHei"/>
                <a:cs typeface="Arial"/>
              </a:rPr>
              <a:t>森绿、草青、暖米，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10712" y="220265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A6A30"/>
                </a:solidFill>
                <a:latin typeface="Arial"/>
                <a:ea typeface="Microsoft YaHei"/>
                <a:cs typeface="Arial"/>
              </a:rPr>
              <a:t>自然生态气息浓郁。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238500" y="5715000"/>
            <a:ext cx="5715000" cy="762000"/>
          </a:xfrm>
          <a:prstGeom prst="roundRect">
            <a:avLst>
              <a:gd name="adj" fmla="val 5000"/>
            </a:avLst>
          </a:prstGeom>
          <a:solidFill>
            <a:srgbClr val="2D5A27">
              <a:alpha val="7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062918" y="589883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F5E0"/>
                </a:solidFill>
                <a:latin typeface="Georgia"/>
                <a:ea typeface="Microsoft YaHei"/>
                <a:cs typeface="Georgia"/>
              </a:rPr>
              <a:t>文字嵌入各景深层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06923" y="6203156"/>
            <a:ext cx="23781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8D8A0"/>
                </a:solidFill>
                <a:latin typeface="Arial"/>
                <a:ea typeface="Microsoft YaHei"/>
                <a:cs typeface="Arial"/>
              </a:rPr>
              <a:t>前景文字 · 中景文字 · 天空文字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334000" y="3238500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6A9E6A">
              <a:alpha val="8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727621" y="33046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F5E0"/>
                </a:solidFill>
                <a:latin typeface="Arial"/>
                <a:ea typeface="Microsoft YaHei"/>
                <a:cs typeface="Arial"/>
              </a:rPr>
              <a:t>中景：山脊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381500" y="4381500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2D5A27">
              <a:alpha val="85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775121" y="44476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F5E0"/>
                </a:solidFill>
                <a:latin typeface="Arial"/>
                <a:ea typeface="Microsoft YaHei"/>
                <a:cs typeface="Arial"/>
              </a:rPr>
              <a:t>前景：松林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86500" y="4381500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1A3A18">
              <a:alpha val="9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751320" y="44476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F5E0"/>
                </a:solidFill>
                <a:latin typeface="Arial"/>
                <a:ea typeface="Microsoft YaHei"/>
                <a:cs typeface="Arial"/>
              </a:rPr>
              <a:t>最深景深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713178" y="6562249"/>
            <a:ext cx="1102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3A6A30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E8C0"/>
              </a:gs>
              <a:gs pos="100000">
                <a:srgbClr val="EDD8A0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2857500" y="0"/>
            <a:ext cx="9334500" cy="9334500"/>
          </a:xfrm>
          <a:custGeom>
            <a:avLst/>
            <a:gdLst/>
            <a:ahLst/>
            <a:cxnLst/>
            <a:rect l="l" t="t" r="r" b="b"/>
            <a:pathLst>
              <a:path w="9334500" h="9334500">
                <a:moveTo>
                  <a:pt x="0" y="0"/>
                </a:moveTo>
                <a:lnTo>
                  <a:pt x="9334500" y="9334500"/>
                </a:lnTo>
              </a:path>
            </a:pathLst>
          </a:custGeom>
          <a:noFill/>
          <a:ln w="28575">
            <a:solidFill>
              <a:srgbClr val="3A1F6B">
                <a:alpha val="3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3619500" y="0"/>
            <a:ext cx="8572500" cy="8572500"/>
          </a:xfrm>
          <a:custGeom>
            <a:avLst/>
            <a:gdLst/>
            <a:ahLst/>
            <a:cxnLst/>
            <a:rect l="l" t="t" r="r" b="b"/>
            <a:pathLst>
              <a:path w="8572500" h="8572500">
                <a:moveTo>
                  <a:pt x="0" y="0"/>
                </a:moveTo>
                <a:lnTo>
                  <a:pt x="8572500" y="8572500"/>
                </a:lnTo>
              </a:path>
            </a:pathLst>
          </a:custGeom>
          <a:noFill/>
          <a:ln w="28575">
            <a:solidFill>
              <a:srgbClr val="3A1F6B">
                <a:alpha val="3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4381500" y="0"/>
            <a:ext cx="7810500" cy="7810500"/>
          </a:xfrm>
          <a:custGeom>
            <a:avLst/>
            <a:gdLst/>
            <a:ahLst/>
            <a:cxnLst/>
            <a:rect l="l" t="t" r="r" b="b"/>
            <a:pathLst>
              <a:path w="7810500" h="7810500">
                <a:moveTo>
                  <a:pt x="0" y="0"/>
                </a:moveTo>
                <a:lnTo>
                  <a:pt x="7810500" y="7810500"/>
                </a:lnTo>
              </a:path>
            </a:pathLst>
          </a:custGeom>
          <a:noFill/>
          <a:ln w="28575">
            <a:solidFill>
              <a:srgbClr val="3A1F6B">
                <a:alpha val="3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5143500" y="0"/>
            <a:ext cx="7048500" cy="7048500"/>
          </a:xfrm>
          <a:custGeom>
            <a:avLst/>
            <a:gdLst/>
            <a:ahLst/>
            <a:cxnLst/>
            <a:rect l="l" t="t" r="r" b="b"/>
            <a:pathLst>
              <a:path w="7048500" h="7048500">
                <a:moveTo>
                  <a:pt x="0" y="0"/>
                </a:moveTo>
                <a:lnTo>
                  <a:pt x="7048500" y="7048500"/>
                </a:lnTo>
              </a:path>
            </a:pathLst>
          </a:custGeom>
          <a:noFill/>
          <a:ln w="28575">
            <a:solidFill>
              <a:srgbClr val="3A1F6B">
                <a:alpha val="3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5905500" y="0"/>
            <a:ext cx="6286500" cy="6286500"/>
          </a:xfrm>
          <a:custGeom>
            <a:avLst/>
            <a:gdLst/>
            <a:ahLst/>
            <a:cxnLst/>
            <a:rect l="l" t="t" r="r" b="b"/>
            <a:pathLst>
              <a:path w="6286500" h="6286500">
                <a:moveTo>
                  <a:pt x="0" y="0"/>
                </a:moveTo>
                <a:lnTo>
                  <a:pt x="6286500" y="6286500"/>
                </a:lnTo>
              </a:path>
            </a:pathLst>
          </a:custGeom>
          <a:noFill/>
          <a:ln w="28575">
            <a:solidFill>
              <a:srgbClr val="3A1F6B">
                <a:alpha val="3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6667500" y="0"/>
            <a:ext cx="5524500" cy="5524500"/>
          </a:xfrm>
          <a:custGeom>
            <a:avLst/>
            <a:gdLst/>
            <a:ahLst/>
            <a:cxnLst/>
            <a:rect l="l" t="t" r="r" b="b"/>
            <a:pathLst>
              <a:path w="5524500" h="5524500">
                <a:moveTo>
                  <a:pt x="0" y="0"/>
                </a:moveTo>
                <a:lnTo>
                  <a:pt x="5524500" y="5524500"/>
                </a:lnTo>
              </a:path>
            </a:pathLst>
          </a:custGeom>
          <a:noFill/>
          <a:ln w="28575">
            <a:solidFill>
              <a:srgbClr val="3A1F6B">
                <a:alpha val="3000"/>
              </a:srgbClr>
            </a:solidFill>
          </a:ln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rcRect l="20833" t="0" r="20833" b="0"/>
          <a:stretch>
            <a:fillRect/>
          </a:stretch>
        </p:blipFill>
        <p:spPr>
          <a:xfrm>
            <a:off x="0" y="0"/>
            <a:ext cx="2667000" cy="685800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2667000" y="0"/>
            <a:ext cx="76200" cy="6858000"/>
          </a:xfrm>
          <a:prstGeom prst="rect">
            <a:avLst/>
          </a:prstGeom>
          <a:gradFill>
            <a:gsLst>
              <a:gs pos="0">
                <a:srgbClr val="3A1F6B"/>
              </a:gs>
              <a:gs pos="100000">
                <a:srgbClr val="2A1050"/>
              </a:gs>
            </a:gsLst>
            <a:lin ang="5400000" scaled="1"/>
          </a:gra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997518" y="3900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A1F6B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P12 · vintage-poster × duotone</a:t>
            </a:r>
          </a:p>
        </p:txBody>
      </p:sp>
      <p:sp>
        <p:nvSpPr>
          <p:cNvPr id="12" name="Line 12"/>
          <p:cNvSpPr/>
          <p:nvPr/>
        </p:nvSpPr>
        <p:spPr>
          <a:xfrm>
            <a:off x="3009900" y="590550"/>
            <a:ext cx="8610600" cy="9525"/>
          </a:xfrm>
          <a:custGeom>
            <a:avLst/>
            <a:gdLst/>
            <a:ahLst/>
            <a:cxnLst/>
            <a:rect l="l" t="t" r="r" b="b"/>
            <a:pathLst>
              <a:path w="8610600" h="9525">
                <a:moveTo>
                  <a:pt x="0" y="0"/>
                </a:moveTo>
                <a:lnTo>
                  <a:pt x="8610600" y="0"/>
                </a:lnTo>
              </a:path>
            </a:pathLst>
          </a:custGeom>
          <a:noFill/>
          <a:ln w="9525">
            <a:solidFill>
              <a:srgbClr val="3A1F6B">
                <a:alpha val="15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933700" y="876300"/>
            <a:ext cx="199263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3A1F6B"/>
                </a:solidFill>
                <a:latin typeface="Georgia"/>
                <a:ea typeface="SimSun"/>
                <a:cs typeface="Georgia"/>
              </a:rPr>
              <a:t>复古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33700" y="1733550"/>
            <a:ext cx="199263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3A1F6B"/>
                </a:solidFill>
                <a:latin typeface="Georgia"/>
                <a:ea typeface="SimSun"/>
                <a:cs typeface="Georgia"/>
              </a:rPr>
              <a:t>海报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009900" y="2571750"/>
            <a:ext cx="6667500" cy="28575"/>
          </a:xfrm>
          <a:prstGeom prst="rect">
            <a:avLst/>
          </a:prstGeom>
          <a:solidFill>
            <a:srgbClr val="3A1F6B">
              <a:alpha val="3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990850" y="2714625"/>
            <a:ext cx="28422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A1F6B"/>
                </a:solidFill>
                <a:latin typeface="Arial"/>
                <a:ea typeface="Microsoft YaHei"/>
                <a:cs typeface="Arial"/>
              </a:rPr>
              <a:t>VINTAGE POSTER × DUOTONE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90850" y="3190875"/>
            <a:ext cx="35980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A1F6B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窄竖图仅占左侧 22% 画面，如同书脊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90850" y="3438525"/>
            <a:ext cx="3324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A1F6B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或杂志封面侧边装饰带，右侧大字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90850" y="3686175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A1F6B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横排铺展，形成极简杂志美学。</a:t>
            </a:r>
          </a:p>
        </p:txBody>
      </p:sp>
      <p:sp>
        <p:nvSpPr>
          <p:cNvPr id="20" name="Line 20"/>
          <p:cNvSpPr/>
          <p:nvPr/>
        </p:nvSpPr>
        <p:spPr>
          <a:xfrm>
            <a:off x="3009900" y="4191000"/>
            <a:ext cx="1371600" cy="9525"/>
          </a:xfrm>
          <a:custGeom>
            <a:avLst/>
            <a:gdLst/>
            <a:ahLst/>
            <a:cxnLst/>
            <a:rect l="l" t="t" r="r" b="b"/>
            <a:pathLst>
              <a:path w="1371600" h="9525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9525">
            <a:solidFill>
              <a:srgbClr val="3A1F6B">
                <a:alpha val="20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2993708" y="4320064"/>
            <a:ext cx="28255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A1F6B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· 仅两色调：深紫墨蓝 × 米黄暖金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93708" y="4586764"/>
            <a:ext cx="27976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A1F6B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· 网点半调纹理叠加，增加印刷感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93708" y="4853464"/>
            <a:ext cx="20528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A1F6B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· 粗规则线分割图文区域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93708" y="5120164"/>
            <a:ext cx="323526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A1F6B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· 50年代 Knoll / 60年代 Olivetti 风格</a:t>
            </a:r>
          </a:p>
        </p:txBody>
      </p:sp>
      <p:sp>
        <p:nvSpPr>
          <p:cNvPr id="25" name="Rectangle 25"/>
          <p:cNvSpPr/>
          <p:nvPr/>
        </p:nvSpPr>
        <p:spPr>
          <a:xfrm>
            <a:off x="3009900" y="5810250"/>
            <a:ext cx="6667500" cy="762000"/>
          </a:xfrm>
          <a:prstGeom prst="rect">
            <a:avLst/>
          </a:prstGeom>
          <a:solidFill>
            <a:srgbClr val="3A1F6B">
              <a:alpha val="8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181350" y="6010275"/>
            <a:ext cx="2612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A1F6B"/>
                </a:solidFill>
                <a:latin typeface="Georgia"/>
                <a:ea typeface="Microsoft YaHei"/>
                <a:cs typeface="Georgia"/>
              </a:rPr>
              <a:t>窄图 如脊柱 · 宽字 如展翅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186112" y="62793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A1F6B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图的比例越小，字的力量越大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77579" y="656224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3A1F6B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0A2E"/>
              </a:gs>
              <a:gs pos="50000">
                <a:srgbClr val="2E1A0A"/>
              </a:gs>
              <a:gs pos="100000">
                <a:srgbClr val="0A1A2E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1A">
                  <a:alpha val="0"/>
                </a:srgbClr>
              </a:gs>
              <a:gs pos="45000">
                <a:srgbClr val="0A0A1A">
                  <a:alpha val="0"/>
                </a:srgbClr>
              </a:gs>
              <a:gs pos="65000">
                <a:srgbClr val="0A0A1A">
                  <a:alpha val="75000"/>
                </a:srgbClr>
              </a:gs>
              <a:gs pos="100000">
                <a:srgbClr val="0A0A1A">
                  <a:alpha val="90000"/>
                </a:srgbClr>
              </a:gs>
            </a:gsLst>
            <a:lin ang="18900000" scaled="1"/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6858000"/>
                </a:lnTo>
              </a:path>
            </a:pathLst>
          </a:custGeom>
          <a:noFill/>
          <a:ln w="23812">
            <a:gradFill>
              <a:gsLst>
                <a:gs pos="0">
                  <a:srgbClr val="F5A623">
                    <a:alpha val="85000"/>
                  </a:srgbClr>
                </a:gs>
                <a:gs pos="40000">
                  <a:srgbClr val="CC4A2A">
                    <a:alpha val="85000"/>
                  </a:srgbClr>
                </a:gs>
                <a:gs pos="100000">
                  <a:srgbClr val="7C3A7A">
                    <a:alpha val="85000"/>
                  </a:srgbClr>
                </a:gs>
              </a:gsLst>
              <a:lin ang="2700000" scaled="1"/>
            </a:gradFill>
          </a:ln>
        </p:spPr>
      </p:sp>
      <p:sp>
        <p:nvSpPr>
          <p:cNvPr id="6" name="Line 6"/>
          <p:cNvSpPr/>
          <p:nvPr/>
        </p:nvSpPr>
        <p:spPr>
          <a:xfrm>
            <a:off x="0" y="28575"/>
            <a:ext cx="12163425" cy="6858000"/>
          </a:xfrm>
          <a:custGeom>
            <a:avLst/>
            <a:gdLst/>
            <a:ahLst/>
            <a:cxnLst/>
            <a:rect l="l" t="t" r="r" b="b"/>
            <a:pathLst>
              <a:path w="12163425" h="6858000">
                <a:moveTo>
                  <a:pt x="0" y="0"/>
                </a:moveTo>
                <a:lnTo>
                  <a:pt x="12163425" y="6858000"/>
                </a:lnTo>
              </a:path>
            </a:pathLst>
          </a:custGeom>
          <a:noFill/>
          <a:ln w="9525">
            <a:solidFill>
              <a:srgbClr val="F5A623">
                <a:alpha val="25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28575" y="0"/>
            <a:ext cx="12192000" cy="6829425"/>
          </a:xfrm>
          <a:custGeom>
            <a:avLst/>
            <a:gdLst/>
            <a:ahLst/>
            <a:cxnLst/>
            <a:rect l="l" t="t" r="r" b="b"/>
            <a:pathLst>
              <a:path w="12192000" h="6829425">
                <a:moveTo>
                  <a:pt x="0" y="0"/>
                </a:moveTo>
                <a:lnTo>
                  <a:pt x="12192000" y="6829425"/>
                </a:lnTo>
              </a:path>
            </a:pathLst>
          </a:custGeom>
          <a:noFill/>
          <a:ln w="9525">
            <a:solidFill>
              <a:srgbClr val="7C3A7A">
                <a:alpha val="25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61070" y="321945"/>
            <a:ext cx="27503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A623">
                    <a:alphaMod val="65000"/>
                  </a:srgbClr>
                </a:solidFill>
                <a:latin typeface="Arial"/>
                <a:ea typeface="Microsoft YaHei"/>
                <a:cs typeface="Arial"/>
              </a:rPr>
              <a:t>P13 · fantasy-animation × sunset-gradient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16090" y="748665"/>
            <a:ext cx="261413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E8E8F0"/>
                </a:solidFill>
                <a:latin typeface="Georgia"/>
                <a:ea typeface="Microsoft YaHei"/>
                <a:cs typeface="Georgia"/>
              </a:rPr>
              <a:t>对角线分割</a:t>
            </a:r>
          </a:p>
        </p:txBody>
      </p:sp>
      <p:sp>
        <p:nvSpPr>
          <p:cNvPr id="10" name="Line 10"/>
          <p:cNvSpPr/>
          <p:nvPr/>
        </p:nvSpPr>
        <p:spPr>
          <a:xfrm>
            <a:off x="6858000" y="1257300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14288">
            <a:gradFill>
              <a:gsLst>
                <a:gs pos="0">
                  <a:srgbClr val="F5A623">
                    <a:alpha val="50000"/>
                  </a:srgbClr>
                </a:gs>
                <a:gs pos="40000">
                  <a:srgbClr val="CC4A2A">
                    <a:alpha val="50000"/>
                  </a:srgbClr>
                </a:gs>
                <a:gs pos="100000">
                  <a:srgbClr val="7C3A7A">
                    <a:alpha val="50000"/>
                  </a:srgbClr>
                </a:gs>
              </a:gsLst>
              <a:lin ang="2700000" scaled="1"/>
            </a:gradFill>
          </a:ln>
        </p:spPr>
      </p:sp>
      <p:sp>
        <p:nvSpPr>
          <p:cNvPr id="11" name="TextBox 11"/>
          <p:cNvSpPr txBox="1"/>
          <p:nvPr/>
        </p:nvSpPr>
        <p:spPr>
          <a:xfrm>
            <a:off x="6841808" y="1462564"/>
            <a:ext cx="17176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5A623"/>
                </a:solidFill>
                <a:latin typeface="Arial"/>
                <a:ea typeface="Microsoft YaHei"/>
                <a:cs typeface="Arial"/>
              </a:rPr>
              <a:t>fantasy-animation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43712" y="17073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0C0C8"/>
                </a:solidFill>
                <a:latin typeface="Arial"/>
                <a:ea typeface="Microsoft YaHei"/>
                <a:cs typeface="Arial"/>
              </a:rPr>
              <a:t>吉卜力风梦幻动画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1808" y="2034064"/>
            <a:ext cx="152209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CC7A4A"/>
                </a:solidFill>
                <a:latin typeface="Arial"/>
                <a:ea typeface="Microsoft YaHei"/>
                <a:cs typeface="Arial"/>
              </a:rPr>
              <a:t>sunset-gradient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3712" y="22788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0C0C8"/>
                </a:solidFill>
                <a:latin typeface="Arial"/>
                <a:ea typeface="Microsoft YaHei"/>
                <a:cs typeface="Arial"/>
              </a:rPr>
              <a:t>暖调落日渐变色板</a:t>
            </a:r>
          </a:p>
        </p:txBody>
      </p:sp>
      <p:sp>
        <p:nvSpPr>
          <p:cNvPr id="15" name="Line 15"/>
          <p:cNvSpPr/>
          <p:nvPr/>
        </p:nvSpPr>
        <p:spPr>
          <a:xfrm>
            <a:off x="6858000" y="2609850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9525">
            <a:solidFill>
              <a:srgbClr val="E8E8F0">
                <a:alpha val="1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841808" y="2777014"/>
            <a:ext cx="22669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对角线从左上贯穿至右下，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43712" y="30408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0C0C8"/>
                </a:solidFill>
                <a:latin typeface="Arial"/>
                <a:ea typeface="Microsoft YaHei"/>
                <a:cs typeface="Arial"/>
              </a:rPr>
              <a:t>将画面一切为二：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43712" y="3288506"/>
            <a:ext cx="1762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0C0C8"/>
                </a:solidFill>
                <a:latin typeface="Arial"/>
                <a:ea typeface="Microsoft YaHei"/>
                <a:cs typeface="Arial"/>
              </a:rPr>
              <a:t>· 左下三角 ── 图像叙事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43712" y="3517106"/>
            <a:ext cx="1762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0C0C8"/>
                </a:solidFill>
                <a:latin typeface="Arial"/>
                <a:ea typeface="Microsoft YaHei"/>
                <a:cs typeface="Arial"/>
              </a:rPr>
              <a:t>· 右上三角 ── 文字解析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43712" y="382190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对角张力赋予页面动感与节奏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57200" y="5791200"/>
            <a:ext cx="2190750" cy="571500"/>
          </a:xfrm>
          <a:prstGeom prst="roundRect">
            <a:avLst>
              <a:gd name="adj" fmla="val 5000"/>
            </a:avLst>
          </a:prstGeom>
          <a:solidFill>
            <a:srgbClr val="0F1117">
              <a:alpha val="7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17220" y="5932170"/>
            <a:ext cx="14030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A623"/>
                </a:solidFill>
                <a:latin typeface="Consolas"/>
                <a:ea typeface="Microsoft YaHei"/>
                <a:cs typeface="Consolas"/>
              </a:rPr>
              <a:t>IMAGE · LEFT-BOTTOM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5315" y="61064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奇幻动画森林场景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77579" y="656224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4EE"/>
              </a:gs>
              <a:gs pos="100000">
                <a:srgbClr val="EDE4D4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4EE">
                  <a:alpha val="50000"/>
                </a:srgbClr>
              </a:gs>
              <a:gs pos="100000">
                <a:srgbClr val="F8F4EE">
                  <a:alpha val="6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98732" y="37909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6A4A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P14 · ink-notes × earthy-dusty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60909" y="2252662"/>
            <a:ext cx="5270182" cy="167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0" b="1" dirty="0">
                <a:solidFill>
                  <a:srgbClr val="2A1A0A">
                    <a:alphaMod val="85000"/>
                  </a:srgbClr>
                </a:solidFill>
                <a:latin typeface="Georgia"/>
                <a:ea typeface="Microsoft YaHei"/>
                <a:cs typeface="Georgia"/>
              </a:rPr>
              <a:t>褪色叠字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1891" y="3741420"/>
            <a:ext cx="326821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8B6A4A">
                    <a:alphaMod val="75000"/>
                  </a:srgbClr>
                </a:solidFill>
                <a:latin typeface="Georgia"/>
                <a:ea typeface="Microsoft YaHei"/>
                <a:cs typeface="Georgia"/>
              </a:rPr>
              <a:t>图为肌理 · 字为主角</a:t>
            </a:r>
          </a:p>
        </p:txBody>
      </p:sp>
      <p:sp>
        <p:nvSpPr>
          <p:cNvPr id="8" name="Line 8"/>
          <p:cNvSpPr/>
          <p:nvPr/>
        </p:nvSpPr>
        <p:spPr>
          <a:xfrm>
            <a:off x="3238500" y="41719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8B6A4A">
                <a:alpha val="2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683204" y="4815364"/>
            <a:ext cx="28255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A4A2A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水墨笔记风格图像降饱和度至极低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03884" y="5063014"/>
            <a:ext cx="3384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A4A2A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退为画面底色与纹理，超大字体覆压其上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0" y="5715000"/>
            <a:ext cx="4572000" cy="571500"/>
          </a:xfrm>
          <a:prstGeom prst="rect">
            <a:avLst/>
          </a:prstGeom>
          <a:solidFill>
            <a:srgbClr val="8B6A4A">
              <a:alpha val="6000"/>
            </a:srgbClr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3810000" y="57150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8B6A4A">
                <a:alpha val="30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485192" y="5866924"/>
            <a:ext cx="32216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6A4A">
                    <a:alphaMod val="70000"/>
                  </a:srgbClr>
                </a:solidFill>
                <a:latin typeface="Consolas"/>
                <a:ea typeface="Microsoft YaHei"/>
                <a:cs typeface="Consolas"/>
              </a:rPr>
              <a:t>rendering: ink-notes · palette: earthy-dusty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53794" y="6066949"/>
            <a:ext cx="36844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6A4A">
                    <a:alphaMod val="70000"/>
                  </a:srgbClr>
                </a:solidFill>
                <a:latin typeface="Consolas"/>
                <a:ea typeface="Microsoft YaHei"/>
                <a:cs typeface="Consolas"/>
              </a:rPr>
              <a:t>hero_page + white-wash overlay + giant overlay text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77579" y="656224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B6A4A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A2E"/>
              </a:gs>
              <a:gs pos="100000">
                <a:srgbClr val="1A0A2E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44428" y="23764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P15 · flat × jewel-tone · 上文下图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50320" y="531495"/>
            <a:ext cx="249135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E8E8F0"/>
                </a:solidFill>
                <a:latin typeface="Georgia"/>
                <a:ea typeface="Microsoft YaHei"/>
                <a:cs typeface="Georgia"/>
              </a:rPr>
              <a:t>上文下图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20289" y="1152525"/>
            <a:ext cx="37514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Top Text · Bottom Image · 对等对话</a:t>
            </a:r>
          </a:p>
        </p:txBody>
      </p:sp>
      <p:sp>
        <p:nvSpPr>
          <p:cNvPr id="6" name="Rectangle 6"/>
          <p:cNvSpPr/>
          <p:nvPr/>
        </p:nvSpPr>
        <p:spPr>
          <a:xfrm>
            <a:off x="2286000" y="1466850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6B4A"/>
              </a:gs>
              <a:gs pos="100000">
                <a:srgbClr val="0A8A6A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4267200" y="1466850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3A6B"/>
              </a:gs>
              <a:gs pos="100000">
                <a:srgbClr val="0A4A8A"/>
              </a:gs>
            </a:gsLst>
            <a:lin ang="0" scaled="1"/>
          </a:gra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6248400" y="1466850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4A016"/>
              </a:gs>
              <a:gs pos="100000">
                <a:srgbClr val="F5C040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543425" y="1743075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扁平设计风格图像置于下半幅，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14812" y="2009775"/>
            <a:ext cx="3762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文字在上方独立呼吸，图文各占一半，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62500" y="2276475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形成对等的视觉对话关系。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086100" y="2781300"/>
            <a:ext cx="381000" cy="228600"/>
          </a:xfrm>
          <a:prstGeom prst="roundRect">
            <a:avLst>
              <a:gd name="adj" fmla="val 12500"/>
            </a:avLst>
          </a:prstGeom>
          <a:solidFill>
            <a:srgbClr val="1A6B4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49015" y="2829878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A9A7A"/>
                </a:solidFill>
                <a:latin typeface="Arial"/>
                <a:ea typeface="Microsoft YaHei"/>
                <a:cs typeface="Arial"/>
              </a:rPr>
              <a:t>祖母绿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610100" y="2781300"/>
            <a:ext cx="381000" cy="228600"/>
          </a:xfrm>
          <a:prstGeom prst="roundRect">
            <a:avLst>
              <a:gd name="adj" fmla="val 12500"/>
            </a:avLst>
          </a:prstGeom>
          <a:solidFill>
            <a:srgbClr val="1A3A6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073015" y="2829878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A8AAA"/>
                </a:solidFill>
                <a:latin typeface="Arial"/>
                <a:ea typeface="Microsoft YaHei"/>
                <a:cs typeface="Arial"/>
              </a:rPr>
              <a:t>蓝宝石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34100" y="2781300"/>
            <a:ext cx="381000" cy="228600"/>
          </a:xfrm>
          <a:prstGeom prst="roundRect">
            <a:avLst>
              <a:gd name="adj" fmla="val 12500"/>
            </a:avLst>
          </a:prstGeom>
          <a:solidFill>
            <a:srgbClr val="D4A01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597015" y="2829878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6A"/>
                </a:solidFill>
                <a:latin typeface="Arial"/>
                <a:ea typeface="Microsoft YaHei"/>
                <a:cs typeface="Arial"/>
              </a:rPr>
              <a:t>黄金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58100" y="2781300"/>
            <a:ext cx="381000" cy="228600"/>
          </a:xfrm>
          <a:prstGeom prst="roundRect">
            <a:avLst>
              <a:gd name="adj" fmla="val 12500"/>
            </a:avLst>
          </a:prstGeom>
          <a:solidFill>
            <a:srgbClr val="7C3A7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21015" y="2829878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7AAA"/>
                </a:solidFill>
                <a:latin typeface="Arial"/>
                <a:ea typeface="Microsoft YaHei"/>
                <a:cs typeface="Arial"/>
              </a:rPr>
              <a:t>紫晶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0" y="3238500"/>
            <a:ext cx="12192000" cy="38100"/>
          </a:xfrm>
          <a:prstGeom prst="rect">
            <a:avLst/>
          </a:prstGeom>
          <a:gradFill>
            <a:gsLst>
              <a:gs pos="0">
                <a:srgbClr val="1A6B4A"/>
              </a:gs>
              <a:gs pos="33000">
                <a:srgbClr val="1A3A6B"/>
              </a:gs>
              <a:gs pos="66000">
                <a:srgbClr val="D4A016"/>
              </a:gs>
              <a:gs pos="100000">
                <a:srgbClr val="7C3A7A"/>
              </a:gs>
            </a:gsLst>
            <a:lin ang="0" scaled="1"/>
          </a:gradFill>
          <a:ln>
            <a:noFill/>
          </a:ln>
        </p:spPr>
      </p:sp>
      <p:pic>
        <p:nvPicPr>
          <p:cNvPr id="21" name="Image 21"/>
          <p:cNvPicPr>
            <a:picLocks noChangeAspect="1"/>
          </p:cNvPicPr>
          <p:nvPr/>
        </p:nvPicPr>
        <p:blipFill>
          <a:blip r:embed="rId2"/>
          <a:srcRect l="0" t="15441" r="0" b="15441"/>
          <a:stretch>
            <a:fillRect/>
          </a:stretch>
        </p:blipFill>
        <p:spPr>
          <a:xfrm>
            <a:off x="0" y="3276600"/>
            <a:ext cx="12192000" cy="3581400"/>
          </a:xfrm>
          <a:prstGeom prst="rect">
            <a:avLst/>
          </a:prstGeom>
        </p:spPr>
      </p:pic>
      <p:sp>
        <p:nvSpPr>
          <p:cNvPr id="22" name="Rectangle 22"/>
          <p:cNvSpPr/>
          <p:nvPr/>
        </p:nvSpPr>
        <p:spPr>
          <a:xfrm>
            <a:off x="0" y="3276600"/>
            <a:ext cx="12192000" cy="381000"/>
          </a:xfrm>
          <a:prstGeom prst="rect">
            <a:avLst/>
          </a:prstGeom>
          <a:gradFill>
            <a:gsLst>
              <a:gs pos="0">
                <a:srgbClr val="0A1A2E">
                  <a:alpha val="40000"/>
                </a:srgbClr>
              </a:gs>
              <a:gs pos="100000">
                <a:srgbClr val="1A0A2E">
                  <a:alpha val="4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0A1A2E">
              <a:alpha val="70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283774" y="6646545"/>
            <a:ext cx="36244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090A0"/>
                </a:solidFill>
                <a:latin typeface="Consolas"/>
                <a:ea typeface="Microsoft YaHei"/>
                <a:cs typeface="Consolas"/>
              </a:rPr>
              <a:t>flat design · bird's-eye workspace · jewel-tone palette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77579" y="663844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AFA"/>
              </a:gs>
              <a:gs pos="100000">
                <a:srgbClr val="F4F4F4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11111">
                <a:alpha val="4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11111">
                <a:alpha val="4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773406" y="207645"/>
            <a:ext cx="26451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090A0"/>
                </a:solidFill>
                <a:latin typeface="Consolas"/>
                <a:ea typeface="Microsoft YaHei"/>
                <a:cs typeface="Consolas"/>
              </a:rPr>
              <a:t>P16 · minimalist-swiss × editorial-classic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419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11111">
                <a:alpha val="8000"/>
              </a:srgbClr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619500" y="857250"/>
            <a:ext cx="4953000" cy="495300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>
                <a:alpha val="10000"/>
              </a:srgbClr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857250"/>
            <a:ext cx="4953000" cy="4953000"/>
          </a:xfrm>
          <a:prstGeom prst="rect">
            <a:avLst/>
          </a:prstGeom>
        </p:spPr>
      </p:pic>
      <p:sp>
        <p:nvSpPr>
          <p:cNvPr id="9" name="Rectangle 9"/>
          <p:cNvSpPr/>
          <p:nvPr/>
        </p:nvSpPr>
        <p:spPr>
          <a:xfrm>
            <a:off x="3619500" y="857250"/>
            <a:ext cx="4953000" cy="19050"/>
          </a:xfrm>
          <a:prstGeom prst="rect">
            <a:avLst/>
          </a:prstGeom>
          <a:solidFill>
            <a:srgbClr val="111111">
              <a:alpha val="80000"/>
            </a:srgbClr>
          </a:solidFill>
          <a:ln>
            <a:noFill/>
          </a:ln>
        </p:spPr>
      </p:sp>
      <p:sp>
        <p:nvSpPr>
          <p:cNvPr id="10" name="Line 10"/>
          <p:cNvSpPr/>
          <p:nvPr/>
        </p:nvSpPr>
        <p:spPr>
          <a:xfrm>
            <a:off x="6096000" y="5715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111111">
                <a:alpha val="25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6067425" y="828675"/>
            <a:ext cx="57150" cy="57150"/>
          </a:xfrm>
          <a:prstGeom prst="ellipse">
            <a:avLst/>
          </a:prstGeom>
          <a:solidFill>
            <a:srgbClr val="111111">
              <a:alpha val="4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564148" y="39290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11111"/>
                </a:solidFill>
                <a:latin typeface="Arial"/>
                <a:ea typeface="Microsoft YaHei"/>
                <a:cs typeface="Arial"/>
              </a:rPr>
              <a:t>极简瑞士风格</a:t>
            </a:r>
          </a:p>
        </p:txBody>
      </p:sp>
      <p:sp>
        <p:nvSpPr>
          <p:cNvPr id="13" name="Line 13"/>
          <p:cNvSpPr/>
          <p:nvPr/>
        </p:nvSpPr>
        <p:spPr>
          <a:xfrm>
            <a:off x="6096000" y="581025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9525">
            <a:solidFill>
              <a:srgbClr val="111111">
                <a:alpha val="25000"/>
              </a:srgbClr>
            </a:solidFill>
          </a:ln>
        </p:spPr>
      </p:sp>
      <p:sp>
        <p:nvSpPr>
          <p:cNvPr id="14" name="Ellipse 14"/>
          <p:cNvSpPr/>
          <p:nvPr/>
        </p:nvSpPr>
        <p:spPr>
          <a:xfrm>
            <a:off x="6067425" y="5781675"/>
            <a:ext cx="57150" cy="57150"/>
          </a:xfrm>
          <a:prstGeom prst="ellipse">
            <a:avLst/>
          </a:prstGeom>
          <a:solidFill>
            <a:srgbClr val="111111">
              <a:alpha val="4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750832" y="6317456"/>
            <a:ext cx="26903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11111"/>
                </a:solidFill>
                <a:latin typeface="Arial"/>
                <a:ea typeface="Microsoft YaHei"/>
                <a:cs typeface="Arial"/>
              </a:rPr>
              <a:t>minimalist-swiss · grid-anchored</a:t>
            </a:r>
          </a:p>
        </p:txBody>
      </p:sp>
      <p:sp>
        <p:nvSpPr>
          <p:cNvPr id="16" name="Line 16"/>
          <p:cNvSpPr/>
          <p:nvPr/>
        </p:nvSpPr>
        <p:spPr>
          <a:xfrm>
            <a:off x="2857500" y="1905000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762000" y="3810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111111">
                <a:alpha val="25000"/>
              </a:srgbClr>
            </a:solidFill>
          </a:ln>
        </p:spPr>
      </p:sp>
      <p:sp>
        <p:nvSpPr>
          <p:cNvPr id="17" name="Ellipse 17"/>
          <p:cNvSpPr/>
          <p:nvPr/>
        </p:nvSpPr>
        <p:spPr>
          <a:xfrm>
            <a:off x="3590925" y="2257425"/>
            <a:ext cx="57150" cy="57150"/>
          </a:xfrm>
          <a:prstGeom prst="ellipse">
            <a:avLst/>
          </a:prstGeom>
          <a:solidFill>
            <a:srgbClr val="111111">
              <a:alpha val="4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885355" y="166925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111111"/>
                </a:solidFill>
                <a:latin typeface="Arial"/>
                <a:ea typeface="Microsoft YaHei"/>
                <a:cs typeface="Arial"/>
              </a:rPr>
              <a:t>激进负空间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95475" y="18949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负空间即内容</a:t>
            </a:r>
          </a:p>
        </p:txBody>
      </p:sp>
      <p:sp>
        <p:nvSpPr>
          <p:cNvPr id="20" name="Line 20"/>
          <p:cNvSpPr/>
          <p:nvPr/>
        </p:nvSpPr>
        <p:spPr>
          <a:xfrm>
            <a:off x="2857500" y="4381500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76200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111111">
                <a:alpha val="25000"/>
              </a:srgbClr>
            </a:solidFill>
          </a:ln>
        </p:spPr>
      </p:sp>
      <p:sp>
        <p:nvSpPr>
          <p:cNvPr id="21" name="Ellipse 21"/>
          <p:cNvSpPr/>
          <p:nvPr/>
        </p:nvSpPr>
        <p:spPr>
          <a:xfrm>
            <a:off x="3590925" y="4352925"/>
            <a:ext cx="57150" cy="57150"/>
          </a:xfrm>
          <a:prstGeom prst="ellipse">
            <a:avLst/>
          </a:prstGeom>
          <a:solidFill>
            <a:srgbClr val="111111">
              <a:alpha val="4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057876" y="46220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111111"/>
                </a:solidFill>
                <a:latin typeface="Arial"/>
                <a:ea typeface="Microsoft YaHei"/>
                <a:cs typeface="Arial"/>
              </a:rPr>
              <a:t>几何简约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67958" y="4847749"/>
            <a:ext cx="1206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圆形 · 矩形 · 线条</a:t>
            </a:r>
          </a:p>
        </p:txBody>
      </p:sp>
      <p:sp>
        <p:nvSpPr>
          <p:cNvPr id="24" name="Line 24"/>
          <p:cNvSpPr/>
          <p:nvPr/>
        </p:nvSpPr>
        <p:spPr>
          <a:xfrm>
            <a:off x="8572500" y="1905000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381000"/>
                </a:moveTo>
                <a:lnTo>
                  <a:pt x="762000" y="0"/>
                </a:lnTo>
              </a:path>
            </a:pathLst>
          </a:custGeom>
          <a:noFill/>
          <a:ln w="9525">
            <a:solidFill>
              <a:srgbClr val="111111">
                <a:alpha val="25000"/>
              </a:srgbClr>
            </a:solidFill>
          </a:ln>
        </p:spPr>
      </p:sp>
      <p:sp>
        <p:nvSpPr>
          <p:cNvPr id="25" name="Ellipse 25"/>
          <p:cNvSpPr/>
          <p:nvPr/>
        </p:nvSpPr>
        <p:spPr>
          <a:xfrm>
            <a:off x="8543925" y="2257425"/>
            <a:ext cx="57150" cy="57150"/>
          </a:xfrm>
          <a:prstGeom prst="ellipse">
            <a:avLst/>
          </a:prstGeom>
          <a:solidFill>
            <a:srgbClr val="111111">
              <a:alpha val="4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15462" y="16692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11111"/>
                </a:solidFill>
                <a:latin typeface="Arial"/>
                <a:ea typeface="Microsoft YaHei"/>
                <a:cs typeface="Arial"/>
              </a:rPr>
              <a:t>编辑经典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17368" y="1894999"/>
            <a:ext cx="11781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editorial-classic</a:t>
            </a:r>
          </a:p>
        </p:txBody>
      </p:sp>
      <p:sp>
        <p:nvSpPr>
          <p:cNvPr id="28" name="Line 28"/>
          <p:cNvSpPr/>
          <p:nvPr/>
        </p:nvSpPr>
        <p:spPr>
          <a:xfrm>
            <a:off x="8572500" y="4381500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0"/>
                </a:moveTo>
                <a:lnTo>
                  <a:pt x="762000" y="381000"/>
                </a:lnTo>
              </a:path>
            </a:pathLst>
          </a:custGeom>
          <a:noFill/>
          <a:ln w="9525">
            <a:solidFill>
              <a:srgbClr val="111111">
                <a:alpha val="25000"/>
              </a:srgbClr>
            </a:solidFill>
          </a:ln>
        </p:spPr>
      </p:sp>
      <p:sp>
        <p:nvSpPr>
          <p:cNvPr id="29" name="Ellipse 29"/>
          <p:cNvSpPr/>
          <p:nvPr/>
        </p:nvSpPr>
        <p:spPr>
          <a:xfrm>
            <a:off x="8543925" y="4352925"/>
            <a:ext cx="57150" cy="57150"/>
          </a:xfrm>
          <a:prstGeom prst="ellipse">
            <a:avLst/>
          </a:prstGeom>
          <a:solidFill>
            <a:srgbClr val="111111">
              <a:alpha val="4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415462" y="462200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11111"/>
                </a:solidFill>
                <a:latin typeface="Arial"/>
                <a:ea typeface="Microsoft YaHei"/>
                <a:cs typeface="Arial"/>
              </a:rPr>
              <a:t>中心放射标注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17368" y="4847749"/>
            <a:ext cx="12137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radial annotation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6477000"/>
            <a:ext cx="1905000" cy="19050"/>
          </a:xfrm>
          <a:prstGeom prst="rect">
            <a:avLst/>
          </a:prstGeom>
          <a:solidFill>
            <a:srgbClr val="7C6FF7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59118" y="6609874"/>
            <a:ext cx="22034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图如产品 · 线如解析 · 字如说明书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77579" y="656224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14"/>
              </a:gs>
              <a:gs pos="100000">
                <a:srgbClr val="14060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584871" y="351949"/>
            <a:ext cx="30222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P17 · screen-print × vivid-launch · 横条贯穿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50320" y="626745"/>
            <a:ext cx="249135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E8E8F0"/>
                </a:solidFill>
                <a:latin typeface="Georgia"/>
                <a:ea typeface="Microsoft YaHei"/>
                <a:cs typeface="Georgia"/>
              </a:rPr>
              <a:t>横条贯穿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35304" y="1266825"/>
            <a:ext cx="35213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Horizontal Strip Divides the Page</a:t>
            </a:r>
          </a:p>
        </p:txBody>
      </p:sp>
      <p:sp>
        <p:nvSpPr>
          <p:cNvPr id="6" name="Rectangle 6"/>
          <p:cNvSpPr/>
          <p:nvPr/>
        </p:nvSpPr>
        <p:spPr>
          <a:xfrm>
            <a:off x="4191000" y="1600200"/>
            <a:ext cx="381000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C6FF7"/>
              </a:gs>
              <a:gs pos="50000">
                <a:srgbClr val="F5A623"/>
              </a:gs>
              <a:gs pos="100000">
                <a:srgbClr val="7C6FF7"/>
              </a:gs>
            </a:gsLst>
            <a:lin ang="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07180" y="177831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F0"/>
                </a:solidFill>
                <a:latin typeface="Arial"/>
                <a:ea typeface="Microsoft YaHei"/>
                <a:cs typeface="Arial"/>
              </a:rPr>
              <a:t>丝网印刷风格的水平窄条图像横贯页面中腰，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04348" y="2025968"/>
            <a:ext cx="3583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将上下两段文字切割为独立的叙事节点。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0" y="2362200"/>
            <a:ext cx="12192000" cy="28575"/>
          </a:xfrm>
          <a:prstGeom prst="rect">
            <a:avLst/>
          </a:prstGeom>
          <a:gradFill>
            <a:gsLst>
              <a:gs pos="0">
                <a:srgbClr val="7C6FF7"/>
              </a:gs>
              <a:gs pos="50000">
                <a:srgbClr val="F5A623"/>
              </a:gs>
              <a:gs pos="100000">
                <a:srgbClr val="7C6FF7"/>
              </a:gs>
            </a:gsLst>
            <a:lin ang="0" scaled="1"/>
          </a:gra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rcRect l="0" t="28493" r="0" b="28493"/>
          <a:stretch>
            <a:fillRect/>
          </a:stretch>
        </p:blipFill>
        <p:spPr>
          <a:xfrm>
            <a:off x="0" y="2390775"/>
            <a:ext cx="12192000" cy="222885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0" y="2390775"/>
            <a:ext cx="952500" cy="2228850"/>
          </a:xfrm>
          <a:prstGeom prst="rect">
            <a:avLst/>
          </a:prstGeom>
          <a:gradFill>
            <a:gsLst>
              <a:gs pos="0">
                <a:srgbClr val="0A0A14"/>
              </a:gs>
              <a:gs pos="10000">
                <a:srgbClr val="0A0A14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11239500" y="2390775"/>
            <a:ext cx="952500" cy="2228850"/>
          </a:xfrm>
          <a:prstGeom prst="rect">
            <a:avLst/>
          </a:prstGeom>
          <a:gradFill>
            <a:gsLst>
              <a:gs pos="0">
                <a:srgbClr val="0A0A14"/>
              </a:gs>
              <a:gs pos="10000">
                <a:srgbClr val="0A0A14">
                  <a:alpha val="0"/>
                </a:srgbClr>
              </a:gs>
            </a:gsLst>
            <a:lin ang="10800000" scaled="1"/>
          </a:gra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4619625"/>
            <a:ext cx="12192000" cy="28575"/>
          </a:xfrm>
          <a:prstGeom prst="rect">
            <a:avLst/>
          </a:prstGeom>
          <a:gradFill>
            <a:gsLst>
              <a:gs pos="0">
                <a:srgbClr val="7C6FF7"/>
              </a:gs>
              <a:gs pos="50000">
                <a:srgbClr val="F5A623"/>
              </a:gs>
              <a:gs pos="100000">
                <a:srgbClr val="7C6FF7"/>
              </a:gs>
            </a:gsLst>
            <a:lin ang="0" scaled="1"/>
          </a:gra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998738" y="4997768"/>
            <a:ext cx="41945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图像如一道闪光——切断语境，制造节奏感停顿，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00099" y="5245418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下方文字在节奏停顿后重启叙事。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2419350" y="5695950"/>
            <a:ext cx="1905000" cy="304800"/>
          </a:xfrm>
          <a:prstGeom prst="roundRect">
            <a:avLst>
              <a:gd name="adj" fmla="val 12500"/>
            </a:avLst>
          </a:prstGeom>
          <a:solidFill>
            <a:srgbClr val="7C6FF7">
              <a:alpha val="15000"/>
            </a:srgbClr>
          </a:solidFill>
          <a:ln w="9525">
            <a:solidFill>
              <a:srgbClr val="7C6FF7">
                <a:alpha val="30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2898458" y="57731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C6FF7"/>
                </a:solidFill>
                <a:latin typeface="Arial"/>
                <a:ea typeface="Microsoft YaHei"/>
                <a:cs typeface="Arial"/>
              </a:rPr>
              <a:t>丝网印刷质感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514850" y="5695950"/>
            <a:ext cx="1905000" cy="304800"/>
          </a:xfrm>
          <a:prstGeom prst="roundRect">
            <a:avLst>
              <a:gd name="adj" fmla="val 12500"/>
            </a:avLst>
          </a:prstGeom>
          <a:solidFill>
            <a:srgbClr val="F5A623">
              <a:alpha val="15000"/>
            </a:srgbClr>
          </a:solidFill>
          <a:ln w="9525">
            <a:solidFill>
              <a:srgbClr val="F5A623">
                <a:alpha val="3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993958" y="57731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5A623"/>
                </a:solidFill>
                <a:latin typeface="Arial"/>
                <a:ea typeface="Microsoft YaHei"/>
                <a:cs typeface="Arial"/>
              </a:rPr>
              <a:t>活力发射配色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610350" y="5695950"/>
            <a:ext cx="1905000" cy="304800"/>
          </a:xfrm>
          <a:prstGeom prst="roundRect">
            <a:avLst>
              <a:gd name="adj" fmla="val 12500"/>
            </a:avLst>
          </a:prstGeom>
          <a:solidFill>
            <a:srgbClr val="4ECDC4">
              <a:alpha val="15000"/>
            </a:srgbClr>
          </a:solidFill>
          <a:ln w="9525">
            <a:solidFill>
              <a:srgbClr val="4ECDC4">
                <a:alpha val="30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012781" y="57731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ECDC4"/>
                </a:solidFill>
                <a:latin typeface="Arial"/>
                <a:ea typeface="Microsoft YaHei"/>
                <a:cs typeface="Arial"/>
              </a:rPr>
              <a:t>图切割文字节奏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05850" y="5695950"/>
            <a:ext cx="1905000" cy="304800"/>
          </a:xfrm>
          <a:prstGeom prst="roundRect">
            <a:avLst>
              <a:gd name="adj" fmla="val 12500"/>
            </a:avLst>
          </a:prstGeom>
          <a:solidFill>
            <a:srgbClr val="E8E8F0">
              <a:alpha val="8000"/>
            </a:srgbClr>
          </a:solidFill>
          <a:ln w="9525">
            <a:solidFill>
              <a:srgbClr val="E8E8F0">
                <a:alpha val="10000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184958" y="57731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版式对比强烈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48739" y="6339364"/>
            <a:ext cx="18945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7C6FF7">
                    <a:alphaMod val="70000"/>
                  </a:srgbClr>
                </a:solidFill>
                <a:latin typeface="Georgia"/>
                <a:ea typeface="Microsoft YaHei"/>
                <a:cs typeface="Georgia"/>
              </a:rPr>
              <a:t>图是横穿页面的一道光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77579" y="656224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5A5A72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EDE0"/>
              </a:gs>
              <a:gs pos="100000">
                <a:srgbClr val="F0E4D0"/>
              </a:gs>
            </a:gsLst>
            <a:lin ang="2700000" scaled="1"/>
          </a:gra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419100" y="990600"/>
            <a:ext cx="6858000" cy="4953000"/>
          </a:xfrm>
          <a:custGeom>
            <a:avLst/>
            <a:gdLst/>
            <a:ahLst/>
            <a:cxnLst/>
            <a:rect l="l" t="t" r="r" b="b"/>
            <a:pathLst>
              <a:path w="6858000" h="4953000">
                <a:moveTo>
                  <a:pt x="1714500" y="0"/>
                </a:moveTo>
                <a:lnTo>
                  <a:pt x="5143500" y="0"/>
                </a:lnTo>
                <a:lnTo>
                  <a:pt x="6858000" y="2476500"/>
                </a:lnTo>
                <a:lnTo>
                  <a:pt x="5143500" y="4953000"/>
                </a:lnTo>
                <a:lnTo>
                  <a:pt x="1714500" y="4953000"/>
                </a:lnTo>
                <a:lnTo>
                  <a:pt x="0" y="2476500"/>
                </a:lnTo>
                <a:close/>
              </a:path>
            </a:pathLst>
          </a:custGeom>
          <a:solidFill>
            <a:srgbClr val="8B5A2A">
              <a:alpha val="8000"/>
            </a:srgbClr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rcRect l="0" t="1852" r="0" b="1852"/>
          <a:stretch>
            <a:fillRect/>
          </a:stretch>
        </p:blipFill>
        <p:spPr>
          <a:xfrm>
            <a:off x="381000" y="952500"/>
            <a:ext cx="6858000" cy="4953000"/>
          </a:xfrm>
          <a:custGeom>
            <a:avLst/>
            <a:gdLst/>
            <a:ahLst/>
            <a:cxnLst/>
            <a:rect l="l" t="t" r="r" b="b"/>
            <a:pathLst>
              <a:path w="6858000" h="4953000">
                <a:moveTo>
                  <a:pt x="1714500" y="0"/>
                </a:moveTo>
                <a:lnTo>
                  <a:pt x="5143500" y="0"/>
                </a:lnTo>
                <a:lnTo>
                  <a:pt x="6858000" y="2476500"/>
                </a:lnTo>
                <a:lnTo>
                  <a:pt x="5143500" y="4953000"/>
                </a:lnTo>
                <a:lnTo>
                  <a:pt x="1714500" y="4953000"/>
                </a:lnTo>
                <a:lnTo>
                  <a:pt x="0" y="2476500"/>
                </a:lnTo>
                <a:close/>
              </a:path>
            </a:pathLst>
          </a:custGeom>
        </p:spPr>
      </p:pic>
      <p:sp>
        <p:nvSpPr>
          <p:cNvPr id="5" name="Polygon 5"/>
          <p:cNvSpPr/>
          <p:nvPr/>
        </p:nvSpPr>
        <p:spPr>
          <a:xfrm>
            <a:off x="381000" y="952500"/>
            <a:ext cx="6858000" cy="4953000"/>
          </a:xfrm>
          <a:custGeom>
            <a:avLst/>
            <a:gdLst/>
            <a:ahLst/>
            <a:cxnLst/>
            <a:rect l="l" t="t" r="r" b="b"/>
            <a:pathLst>
              <a:path w="6858000" h="4953000">
                <a:moveTo>
                  <a:pt x="1714500" y="0"/>
                </a:moveTo>
                <a:lnTo>
                  <a:pt x="5143500" y="0"/>
                </a:lnTo>
                <a:lnTo>
                  <a:pt x="6858000" y="2476500"/>
                </a:lnTo>
                <a:lnTo>
                  <a:pt x="5143500" y="4953000"/>
                </a:lnTo>
                <a:lnTo>
                  <a:pt x="1714500" y="4953000"/>
                </a:lnTo>
                <a:lnTo>
                  <a:pt x="0" y="2476500"/>
                </a:lnTo>
                <a:close/>
              </a:path>
            </a:pathLst>
          </a:custGeom>
          <a:noFill/>
          <a:ln w="19050">
            <a:solidFill>
              <a:srgbClr val="8B5A2A">
                <a:alpha val="3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765732" y="28384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5A2A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P18 · nature × sunset-gradient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4305" y="835342"/>
            <a:ext cx="1383554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3A2010"/>
                </a:solidFill>
                <a:latin typeface="Georgia"/>
                <a:ea typeface="Microsoft YaHei"/>
                <a:cs typeface="Georgia"/>
              </a:rPr>
              <a:t>多边形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4305" y="1254442"/>
            <a:ext cx="182060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3A2010"/>
                </a:solidFill>
                <a:latin typeface="Georgia"/>
                <a:ea typeface="Microsoft YaHei"/>
                <a:cs typeface="Georgia"/>
              </a:rPr>
              <a:t>裁切填缝</a:t>
            </a:r>
          </a:p>
        </p:txBody>
      </p:sp>
      <p:sp>
        <p:nvSpPr>
          <p:cNvPr id="9" name="Rectangle 9"/>
          <p:cNvSpPr/>
          <p:nvPr/>
        </p:nvSpPr>
        <p:spPr>
          <a:xfrm>
            <a:off x="7810500" y="169545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5A623"/>
              </a:gs>
              <a:gs pos="100000">
                <a:srgbClr val="CC4A2A"/>
              </a:gs>
            </a:gsLst>
            <a:lin ang="2700000" scaled="1"/>
          </a:gra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793355" y="1911668"/>
            <a:ext cx="24988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3A20"/>
                </a:solidFill>
                <a:latin typeface="Arial"/>
                <a:ea typeface="Microsoft YaHei"/>
                <a:cs typeface="Arial"/>
              </a:rPr>
              <a:t>六边形 clipPath 裁切图像，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93355" y="215931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3A20"/>
                </a:solidFill>
                <a:latin typeface="Arial"/>
                <a:ea typeface="Microsoft YaHei"/>
                <a:cs typeface="Arial"/>
              </a:rPr>
              <a:t>文字自由填充图形外的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93355" y="240696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3A20"/>
                </a:solidFill>
                <a:latin typeface="Arial"/>
                <a:ea typeface="Microsoft YaHei"/>
                <a:cs typeface="Arial"/>
              </a:rPr>
              <a:t>负空间与角落区域。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96212" y="28694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5A2A"/>
                </a:solidFill>
                <a:latin typeface="Arial"/>
                <a:ea typeface="Microsoft YaHei"/>
                <a:cs typeface="Arial"/>
              </a:rPr>
              <a:t>非矩形容器打破传统构图，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96212" y="309800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5A2A"/>
                </a:solidFill>
                <a:latin typeface="Arial"/>
                <a:ea typeface="Microsoft YaHei"/>
                <a:cs typeface="Arial"/>
              </a:rPr>
              <a:t>制造有机流动感。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810500" y="3524250"/>
            <a:ext cx="1524000" cy="285750"/>
          </a:xfrm>
          <a:prstGeom prst="roundRect">
            <a:avLst>
              <a:gd name="adj" fmla="val 13333"/>
            </a:avLst>
          </a:prstGeom>
          <a:solidFill>
            <a:srgbClr val="8B5A2A">
              <a:alpha val="1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099108" y="3601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A3A20"/>
                </a:solidFill>
                <a:latin typeface="Arial"/>
                <a:ea typeface="Microsoft YaHei"/>
                <a:cs typeface="Arial"/>
              </a:rPr>
              <a:t>自然插画风格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810500" y="3905250"/>
            <a:ext cx="1524000" cy="285750"/>
          </a:xfrm>
          <a:prstGeom prst="roundRect">
            <a:avLst>
              <a:gd name="adj" fmla="val 13333"/>
            </a:avLst>
          </a:prstGeom>
          <a:solidFill>
            <a:srgbClr val="F5A623">
              <a:alpha val="15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099108" y="3982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5A20"/>
                </a:solidFill>
                <a:latin typeface="Arial"/>
                <a:ea typeface="Microsoft YaHei"/>
                <a:cs typeface="Arial"/>
              </a:rPr>
              <a:t>落日渐变调色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810500" y="4286250"/>
            <a:ext cx="1524000" cy="285750"/>
          </a:xfrm>
          <a:prstGeom prst="roundRect">
            <a:avLst>
              <a:gd name="adj" fmla="val 13333"/>
            </a:avLst>
          </a:prstGeom>
          <a:solidFill>
            <a:srgbClr val="2A5A30">
              <a:alpha val="1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099108" y="4363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A5A30"/>
                </a:solidFill>
                <a:latin typeface="Arial"/>
                <a:ea typeface="Microsoft YaHei"/>
                <a:cs typeface="Arial"/>
              </a:rPr>
              <a:t>热带植物主题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96212" y="5022056"/>
            <a:ext cx="521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5A2A"/>
                </a:solidFill>
                <a:latin typeface="Arial"/>
                <a:ea typeface="Microsoft YaHei"/>
                <a:cs typeface="Arial"/>
              </a:rPr>
              <a:t>技术：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98118" y="5266849"/>
            <a:ext cx="15697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3A20"/>
                </a:solidFill>
                <a:latin typeface="Consolas"/>
                <a:ea typeface="Microsoft YaHei"/>
                <a:cs typeface="Consolas"/>
              </a:rPr>
              <a:t>&lt;clipPath&gt; + &lt;polygon&gt;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98118" y="54954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3A20"/>
                </a:solidFill>
                <a:latin typeface="Consolas"/>
                <a:ea typeface="Microsoft YaHei"/>
                <a:cs typeface="Consolas"/>
              </a:rPr>
              <a:t>六顶点六边形路径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98118" y="57240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3A20"/>
                </a:solidFill>
                <a:latin typeface="Consolas"/>
                <a:ea typeface="Microsoft YaHei"/>
                <a:cs typeface="Consolas"/>
              </a:rPr>
              <a:t>preserveAspectRatio=slice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66702" y="103774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B5A2A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nature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24770" y="6431756"/>
            <a:ext cx="2542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B5A2A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非矩形图 · 文字填缝 · 有机流动感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677579" y="656224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B5A2A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0A0F"/>
              </a:gs>
              <a:gs pos="100000">
                <a:srgbClr val="0A080F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28167" t="0" r="28167" b="0"/>
          <a:stretch>
            <a:fillRect/>
          </a:stretch>
        </p:blipFill>
        <p:spPr>
          <a:xfrm>
            <a:off x="0" y="0"/>
            <a:ext cx="3743325" cy="68580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rcRect l="28222" t="0" r="28222" b="0"/>
          <a:stretch>
            <a:fillRect/>
          </a:stretch>
        </p:blipFill>
        <p:spPr>
          <a:xfrm>
            <a:off x="3762375" y="0"/>
            <a:ext cx="3733800" cy="6858000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4"/>
          <a:srcRect l="30820" t="0" r="30820" b="0"/>
          <a:stretch>
            <a:fillRect/>
          </a:stretch>
        </p:blipFill>
        <p:spPr>
          <a:xfrm>
            <a:off x="7515225" y="0"/>
            <a:ext cx="4676775" cy="685800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3743325" y="0"/>
            <a:ext cx="19050" cy="6858000"/>
          </a:xfrm>
          <a:prstGeom prst="rect">
            <a:avLst/>
          </a:prstGeom>
          <a:solidFill>
            <a:srgbClr val="080A0F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496175" y="0"/>
            <a:ext cx="19050" cy="6858000"/>
          </a:xfrm>
          <a:prstGeom prst="rect">
            <a:avLst/>
          </a:prstGeom>
          <a:solidFill>
            <a:srgbClr val="080A0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A0F">
              <a:alpha val="4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2552700"/>
            <a:ext cx="12192000" cy="1752600"/>
          </a:xfrm>
          <a:prstGeom prst="rect">
            <a:avLst/>
          </a:prstGeom>
          <a:solidFill>
            <a:srgbClr val="080A0F">
              <a:alpha val="55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7680" y="2764155"/>
            <a:ext cx="3204020" cy="1341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0" b="1" dirty="0">
                <a:solidFill>
                  <a:srgbClr val="E8E8F0"/>
                </a:solidFill>
                <a:latin typeface="Georgia"/>
                <a:ea typeface="Microsoft YaHei"/>
                <a:cs typeface="Georgia"/>
              </a:rPr>
              <a:t>蒙太奇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31180" y="2764155"/>
            <a:ext cx="3204020" cy="1341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0" b="1" dirty="0">
                <a:solidFill>
                  <a:srgbClr val="E8E8F0">
                    <a:alphaMod val="15000"/>
                  </a:srgbClr>
                </a:solidFill>
                <a:latin typeface="Georgia"/>
                <a:ea typeface="SimSun"/>
                <a:cs typeface="Georgia"/>
              </a:rPr>
              <a:t>蒙太奇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0545" y="3822382"/>
            <a:ext cx="211435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MONTAGE COLLAGE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4152900"/>
            <a:ext cx="7620000" cy="9525"/>
          </a:xfrm>
          <a:prstGeom prst="rect">
            <a:avLst/>
          </a:prstGeom>
          <a:solidFill>
            <a:srgbClr val="7C6FF7">
              <a:alpha val="40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60070" y="245745"/>
            <a:ext cx="31052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5A72"/>
                </a:solidFill>
                <a:latin typeface="Consolas"/>
                <a:ea typeface="Microsoft YaHei"/>
                <a:cs typeface="Consolas"/>
              </a:rPr>
              <a:t>P19 · editorial × dark-cinematic · 多图拼贴蒙太奇</a:t>
            </a:r>
          </a:p>
        </p:txBody>
      </p:sp>
      <p:sp>
        <p:nvSpPr>
          <p:cNvPr id="15" name="Rectangle 15"/>
          <p:cNvSpPr/>
          <p:nvPr/>
        </p:nvSpPr>
        <p:spPr>
          <a:xfrm>
            <a:off x="0" y="6286500"/>
            <a:ext cx="3743325" cy="571500"/>
          </a:xfrm>
          <a:prstGeom prst="rect">
            <a:avLst/>
          </a:prstGeom>
          <a:solidFill>
            <a:srgbClr val="080A0F">
              <a:alpha val="7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75272" y="6416516"/>
            <a:ext cx="9246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5A623"/>
                </a:solidFill>
                <a:latin typeface="Consolas"/>
                <a:ea typeface="Microsoft YaHei"/>
                <a:cs typeface="Consolas"/>
              </a:rPr>
              <a:t>01 architecture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3368" y="6562249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都市建筑 · 戏剧阴影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762375" y="6286500"/>
            <a:ext cx="3733800" cy="571500"/>
          </a:xfrm>
          <a:prstGeom prst="rect">
            <a:avLst/>
          </a:prstGeom>
          <a:solidFill>
            <a:srgbClr val="080A0F">
              <a:alpha val="7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037648" y="641651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ECDC4"/>
                </a:solidFill>
                <a:latin typeface="Consolas"/>
                <a:ea typeface="Microsoft YaHei"/>
                <a:cs typeface="Consolas"/>
              </a:rPr>
              <a:t>02 texture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35742" y="6562249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材质特写 · 抽象纹理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515225" y="6286500"/>
            <a:ext cx="4676775" cy="571500"/>
          </a:xfrm>
          <a:prstGeom prst="rect">
            <a:avLst/>
          </a:prstGeom>
          <a:solidFill>
            <a:srgbClr val="080A0F">
              <a:alpha val="7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790498" y="6416516"/>
            <a:ext cx="5812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C6FF7"/>
                </a:solidFill>
                <a:latin typeface="Consolas"/>
                <a:ea typeface="Microsoft YaHei"/>
                <a:cs typeface="Consolas"/>
              </a:rPr>
              <a:t>03 motion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88592" y="6562249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90A0"/>
                </a:solidFill>
                <a:latin typeface="Arial"/>
                <a:ea typeface="Microsoft YaHei"/>
                <a:cs typeface="Arial"/>
              </a:rPr>
              <a:t>运动模糊 · 光轨夜景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39488" y="23550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E8E8F0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三图并置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39488" y="25836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E8E8F0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大字横压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3A1A"/>
              </a:gs>
              <a:gs pos="100000">
                <a:srgbClr val="142A14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A14">
              <a:alpha val="35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855559" y="398145"/>
            <a:ext cx="24808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E8E0">
                    <a:alphaMod val="35000"/>
                  </a:srgbClr>
                </a:solidFill>
                <a:latin typeface="Consolas"/>
                <a:ea typeface="Microsoft YaHei"/>
                <a:cs typeface="Consolas"/>
              </a:rPr>
              <a:t>P20 · chalkboard × mono-ink · 黑板收场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54499" y="2499360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E8E8E0">
                    <a:alphaMod val="92000"/>
                  </a:srgbClr>
                </a:solidFill>
                <a:latin typeface="Georgia"/>
                <a:ea typeface="Microsoft YaHei"/>
                <a:cs typeface="Georgia"/>
              </a:rPr>
              <a:t>每种组合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10418" y="3185160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E8E8E0">
                    <a:alphaMod val="92000"/>
                  </a:srgbClr>
                </a:solidFill>
                <a:latin typeface="Georgia"/>
                <a:ea typeface="Microsoft YaHei"/>
                <a:cs typeface="Georgia"/>
              </a:rPr>
              <a:t>都是一种语言</a:t>
            </a:r>
          </a:p>
        </p:txBody>
      </p:sp>
      <p:sp>
        <p:nvSpPr>
          <p:cNvPr id="8" name="Line 8"/>
          <p:cNvSpPr/>
          <p:nvPr/>
        </p:nvSpPr>
        <p:spPr>
          <a:xfrm>
            <a:off x="2667000" y="3790950"/>
            <a:ext cx="6858000" cy="9525"/>
          </a:xfrm>
          <a:custGeom>
            <a:avLst/>
            <a:gdLst/>
            <a:ahLst/>
            <a:cxnLst/>
            <a:rect l="l" t="t" r="r" b="b"/>
            <a:pathLst>
              <a:path w="6858000" h="9525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/>
          <a:ln w="19050">
            <a:solidFill>
              <a:srgbClr val="E8E8E0">
                <a:alpha val="2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603671" y="4219575"/>
            <a:ext cx="29846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8E8E0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图 + 文 · 无穷组合 · 无穷可能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57063" y="6085999"/>
            <a:ext cx="12778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E8E0">
                    <a:alphaMod val="30000"/>
                  </a:srgbClr>
                </a:solidFill>
                <a:latin typeface="Consolas"/>
                <a:ea typeface="Microsoft YaHei"/>
                <a:cs typeface="Consolas"/>
              </a:rPr>
              <a:t>PPT MASTER · 2026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41979" y="6562249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E8E8E0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